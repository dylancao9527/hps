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92357E-F921-493E-8ABB-D59FCD3FBE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77F361-186E-4FC1-A2B5-74B26F5CB2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3E99EE3-1CD4-4C5C-822E-753F1B13B1B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ccent-left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accent-bottom"/>
          <p:cNvSpPr/>
          <p:nvPr/>
        </p:nvSpPr>
        <p:spPr>
          <a:xfrm>
            <a:off x="201240" y="6355080"/>
            <a:ext cx="11990160" cy="5025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main-title"/>
          <p:cNvSpPr/>
          <p:nvPr/>
        </p:nvSpPr>
        <p:spPr>
          <a:xfrm>
            <a:off x="822960" y="1051560"/>
            <a:ext cx="89607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2960" rIns="18360" bIns="12960" anchor="t">
            <a:noAutofit/>
          </a:bodyPr>
          <a:p>
            <a:r>
              <a:rPr lang="zh-CN" sz="35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基于 </a:t>
            </a:r>
            <a:r>
              <a:rPr lang="en-US" sz="35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Prophet </a:t>
            </a:r>
            <a:r>
              <a:rPr lang="zh-CN" sz="35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与 </a:t>
            </a:r>
            <a:r>
              <a:rPr lang="en-US" sz="35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LightGBM </a:t>
            </a:r>
            <a:r>
              <a:rPr lang="zh-CN" sz="35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的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35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高血压风险预测系统设计与实现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main-subtitle"/>
          <p:cNvSpPr/>
          <p:nvPr/>
        </p:nvSpPr>
        <p:spPr>
          <a:xfrm>
            <a:off x="868680" y="2514600"/>
            <a:ext cx="7131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700" b="0" u="none" strike="noStrike">
                <a:solidFill>
                  <a:srgbClr val="CBD5E1"/>
                </a:solidFill>
                <a:effectLst/>
                <a:uFillTx/>
                <a:latin typeface="Microsoft YaHei"/>
                <a:ea typeface="Microsoft YaHei"/>
              </a:rPr>
              <a:t>本科毕业设计答辩 </a:t>
            </a: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Microsoft YaHei"/>
                <a:ea typeface="Microsoft YaHei"/>
              </a:rPr>
              <a:t>| </a:t>
            </a:r>
            <a:r>
              <a:rPr lang="zh-CN" sz="1700" b="0" u="none" strike="noStrike">
                <a:solidFill>
                  <a:srgbClr val="CBD5E1"/>
                </a:solidFill>
                <a:effectLst/>
                <a:uFillTx/>
                <a:latin typeface="Microsoft YaHei"/>
                <a:ea typeface="Microsoft YaHei"/>
              </a:rPr>
              <a:t>重点：双模型算法与实验结论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card-bg-6"/>
          <p:cNvSpPr/>
          <p:nvPr/>
        </p:nvSpPr>
        <p:spPr>
          <a:xfrm>
            <a:off x="868680" y="3703320"/>
            <a:ext cx="2834280" cy="109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card-accent-6"/>
          <p:cNvSpPr/>
          <p:nvPr/>
        </p:nvSpPr>
        <p:spPr>
          <a:xfrm>
            <a:off x="868680" y="3703320"/>
            <a:ext cx="109440" cy="109692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card-title-6"/>
          <p:cNvSpPr/>
          <p:nvPr/>
        </p:nvSpPr>
        <p:spPr>
          <a:xfrm>
            <a:off x="1097280" y="3867840"/>
            <a:ext cx="2514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研究对象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card-body-6"/>
          <p:cNvSpPr/>
          <p:nvPr/>
        </p:nvSpPr>
        <p:spPr>
          <a:xfrm>
            <a:off x="1097280" y="4233600"/>
            <a:ext cx="2514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家庭血压记录与个人风险因素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card-bg-10"/>
          <p:cNvSpPr/>
          <p:nvPr/>
        </p:nvSpPr>
        <p:spPr>
          <a:xfrm>
            <a:off x="3977640" y="3703320"/>
            <a:ext cx="2834280" cy="109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card-accent-10"/>
          <p:cNvSpPr/>
          <p:nvPr/>
        </p:nvSpPr>
        <p:spPr>
          <a:xfrm>
            <a:off x="3977640" y="3703320"/>
            <a:ext cx="109440" cy="109692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card-title-10"/>
          <p:cNvSpPr/>
          <p:nvPr/>
        </p:nvSpPr>
        <p:spPr>
          <a:xfrm>
            <a:off x="4206240" y="3867840"/>
            <a:ext cx="2514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核心方法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card-body-10"/>
          <p:cNvSpPr/>
          <p:nvPr/>
        </p:nvSpPr>
        <p:spPr>
          <a:xfrm>
            <a:off x="4206240" y="4233600"/>
            <a:ext cx="2514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Prophet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趋势预测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+ LightGBM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风险分类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card-bg-14"/>
          <p:cNvSpPr/>
          <p:nvPr/>
        </p:nvSpPr>
        <p:spPr>
          <a:xfrm>
            <a:off x="7086600" y="3703320"/>
            <a:ext cx="2834280" cy="109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card-accent-14"/>
          <p:cNvSpPr/>
          <p:nvPr/>
        </p:nvSpPr>
        <p:spPr>
          <a:xfrm>
            <a:off x="7086600" y="3703320"/>
            <a:ext cx="109440" cy="109692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card-title-14"/>
          <p:cNvSpPr/>
          <p:nvPr/>
        </p:nvSpPr>
        <p:spPr>
          <a:xfrm>
            <a:off x="7315200" y="3867840"/>
            <a:ext cx="2514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应用边界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card-body-14"/>
          <p:cNvSpPr/>
          <p:nvPr/>
        </p:nvSpPr>
        <p:spPr>
          <a:xfrm>
            <a:off x="7315200" y="4233600"/>
            <a:ext cx="2514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健康管理辅助提醒，不替代临床诊断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footer"/>
          <p:cNvSpPr/>
          <p:nvPr/>
        </p:nvSpPr>
        <p:spPr>
          <a:xfrm>
            <a:off x="868680" y="6364080"/>
            <a:ext cx="5668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200" b="0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汇报时长：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5-10 </a:t>
            </a:r>
            <a:r>
              <a:rPr lang="zh-CN" sz="1200" b="0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分钟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op-band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lide-title"/>
          <p:cNvSpPr/>
          <p:nvPr/>
        </p:nvSpPr>
        <p:spPr>
          <a:xfrm>
            <a:off x="502920" y="329040"/>
            <a:ext cx="8595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研究背景与问题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age-no"/>
          <p:cNvSpPr/>
          <p:nvPr/>
        </p:nvSpPr>
        <p:spPr>
          <a:xfrm>
            <a:off x="10972800" y="3474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lide-subtitle"/>
          <p:cNvSpPr/>
          <p:nvPr/>
        </p:nvSpPr>
        <p:spPr>
          <a:xfrm>
            <a:off x="511920" y="786240"/>
            <a:ext cx="8960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连续血压记录需要从“保存查询”转向“趋势理解与风险提醒”。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ection"/>
          <p:cNvSpPr/>
          <p:nvPr/>
        </p:nvSpPr>
        <p:spPr>
          <a:xfrm>
            <a:off x="9601200" y="3474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050" b="0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问题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card-bg-10"/>
          <p:cNvSpPr/>
          <p:nvPr/>
        </p:nvSpPr>
        <p:spPr>
          <a:xfrm>
            <a:off x="594360" y="1325880"/>
            <a:ext cx="329148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card-accent-10"/>
          <p:cNvSpPr/>
          <p:nvPr/>
        </p:nvSpPr>
        <p:spPr>
          <a:xfrm>
            <a:off x="594360" y="1325880"/>
            <a:ext cx="109440" cy="123408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card-title-10"/>
          <p:cNvSpPr/>
          <p:nvPr/>
        </p:nvSpPr>
        <p:spPr>
          <a:xfrm>
            <a:off x="822960" y="1490400"/>
            <a:ext cx="2971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现实问题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card-body-10"/>
          <p:cNvSpPr/>
          <p:nvPr/>
        </p:nvSpPr>
        <p:spPr>
          <a:xfrm>
            <a:off x="822960" y="1856160"/>
            <a:ext cx="2971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家庭血压计沉淀了大量记录，但多数系统只完成录入、查询和历史展示。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card-bg-14"/>
          <p:cNvSpPr/>
          <p:nvPr/>
        </p:nvSpPr>
        <p:spPr>
          <a:xfrm>
            <a:off x="4251960" y="1325880"/>
            <a:ext cx="329148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card-accent-14"/>
          <p:cNvSpPr/>
          <p:nvPr/>
        </p:nvSpPr>
        <p:spPr>
          <a:xfrm>
            <a:off x="4251960" y="1325880"/>
            <a:ext cx="109440" cy="123408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card-title-14"/>
          <p:cNvSpPr/>
          <p:nvPr/>
        </p:nvSpPr>
        <p:spPr>
          <a:xfrm>
            <a:off x="4480560" y="1490400"/>
            <a:ext cx="2971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模型缺口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card-body-14"/>
          <p:cNvSpPr/>
          <p:nvPr/>
        </p:nvSpPr>
        <p:spPr>
          <a:xfrm>
            <a:off x="4480560" y="1856160"/>
            <a:ext cx="2971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只看最近一次血压会丢失趋势，只画趋势曲线又难以转化为风险结论。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card-bg-18"/>
          <p:cNvSpPr/>
          <p:nvPr/>
        </p:nvSpPr>
        <p:spPr>
          <a:xfrm>
            <a:off x="7909560" y="1325880"/>
            <a:ext cx="329148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card-accent-18"/>
          <p:cNvSpPr/>
          <p:nvPr/>
        </p:nvSpPr>
        <p:spPr>
          <a:xfrm>
            <a:off x="7909560" y="1325880"/>
            <a:ext cx="109440" cy="123408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card-title-18"/>
          <p:cNvSpPr/>
          <p:nvPr/>
        </p:nvSpPr>
        <p:spPr>
          <a:xfrm>
            <a:off x="8138160" y="1490400"/>
            <a:ext cx="2971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本文目标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card-body-18"/>
          <p:cNvSpPr/>
          <p:nvPr/>
        </p:nvSpPr>
        <p:spPr>
          <a:xfrm>
            <a:off x="8138160" y="1856160"/>
            <a:ext cx="2971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把短期血压走势、个人风险因素和结果解释连接为一条预测流程。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big-question"/>
          <p:cNvSpPr/>
          <p:nvPr/>
        </p:nvSpPr>
        <p:spPr>
          <a:xfrm>
            <a:off x="914400" y="3337560"/>
            <a:ext cx="10240920" cy="658080"/>
          </a:xfrm>
          <a:prstGeom prst="rect">
            <a:avLst/>
          </a:prstGeom>
          <a:solidFill>
            <a:srgbClr val="ECFDF5"/>
          </a:solidFill>
          <a:ln w="0">
            <a:solidFill>
              <a:srgbClr val="99F6E4"/>
            </a:solidFill>
          </a:ln>
        </p:spPr>
        <p:style>
          <a:lnRef idx="0"/>
          <a:fillRef idx="0"/>
          <a:effectRef idx="0"/>
          <a:fontRef idx="minor"/>
        </p:style>
        <p:txBody>
          <a:bodyPr lIns="73080" tIns="52200" rIns="73080" bIns="52200" anchor="t">
            <a:noAutofit/>
          </a:bodyPr>
          <a:p>
            <a:pPr>
              <a:lnSpc>
                <a:spcPct val="100000"/>
              </a:lnSpc>
            </a:pPr>
            <a:r>
              <a:rPr lang="zh-CN" sz="25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核心问题：未来 </a:t>
            </a:r>
            <a:r>
              <a:rPr lang="en-US" sz="25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7 </a:t>
            </a:r>
            <a:r>
              <a:rPr lang="zh-CN" sz="25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天血压趋势如何参与高血压风险判断？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oints"/>
          <p:cNvSpPr/>
          <p:nvPr/>
        </p:nvSpPr>
        <p:spPr>
          <a:xfrm>
            <a:off x="1005840" y="4343400"/>
            <a:ext cx="9875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18360" rIns="36720" bIns="1836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思路一：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用 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Prophet 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从个人血压序列中提取短期趋势。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思路二：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用 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LightGBM 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将预测期血压均值和风险因素合并分类。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思路三：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用趋势融合对概率做小幅、可追溯修正。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op-band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lide-title"/>
          <p:cNvSpPr/>
          <p:nvPr/>
        </p:nvSpPr>
        <p:spPr>
          <a:xfrm>
            <a:off x="502920" y="329040"/>
            <a:ext cx="8595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系统总体架构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age-no"/>
          <p:cNvSpPr/>
          <p:nvPr/>
        </p:nvSpPr>
        <p:spPr>
          <a:xfrm>
            <a:off x="10972800" y="3474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lide-subtitle"/>
          <p:cNvSpPr/>
          <p:nvPr/>
        </p:nvSpPr>
        <p:spPr>
          <a:xfrm>
            <a:off x="511920" y="786240"/>
            <a:ext cx="8960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系统采用前后端分离，算法链路集中在后端预测模块。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ection"/>
          <p:cNvSpPr/>
          <p:nvPr/>
        </p:nvSpPr>
        <p:spPr>
          <a:xfrm>
            <a:off x="9601200" y="3474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050" b="0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架构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flow-bg"/>
          <p:cNvSpPr/>
          <p:nvPr/>
        </p:nvSpPr>
        <p:spPr>
          <a:xfrm>
            <a:off x="640080" y="1261800"/>
            <a:ext cx="10881000" cy="292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f1"/>
          <p:cNvSpPr/>
          <p:nvPr/>
        </p:nvSpPr>
        <p:spPr>
          <a:xfrm>
            <a:off x="914400" y="2057400"/>
            <a:ext cx="1554120" cy="502560"/>
          </a:xfrm>
          <a:prstGeom prst="rect">
            <a:avLst/>
          </a:prstGeom>
          <a:solidFill>
            <a:srgbClr val="E0F2FE"/>
          </a:solidFill>
          <a:ln w="0">
            <a:solidFill>
              <a:srgbClr val="BAE6FD"/>
            </a:solidFill>
          </a:ln>
        </p:spPr>
        <p:style>
          <a:lnRef idx="0"/>
          <a:fillRef idx="0"/>
          <a:effectRef idx="0"/>
          <a:fontRef idx="minor"/>
        </p:style>
        <p:txBody>
          <a:bodyPr lIns="73080" tIns="52200" rIns="73080" bIns="52200" anchor="t">
            <a:noAutofit/>
          </a:bodyPr>
          <a:p>
            <a:r>
              <a:rPr lang="zh-CN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用户端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React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2" name="l1"/>
          <p:cNvCxnSpPr/>
          <p:nvPr/>
        </p:nvCxnSpPr>
        <p:spPr>
          <a:xfrm>
            <a:off x="2578320" y="2304000"/>
            <a:ext cx="960480" cy="360"/>
          </a:xfrm>
          <a:prstGeom prst="straightConnector1">
            <a:avLst/>
          </a:prstGeom>
          <a:ln w="27940">
            <a:solidFill>
              <a:srgbClr val="0F766E"/>
            </a:solidFill>
            <a:round/>
          </a:ln>
        </p:spPr>
      </p:cxnSp>
      <p:sp>
        <p:nvSpPr>
          <p:cNvPr id="53" name="f2"/>
          <p:cNvSpPr/>
          <p:nvPr/>
        </p:nvSpPr>
        <p:spPr>
          <a:xfrm>
            <a:off x="3611880" y="2057400"/>
            <a:ext cx="1645560" cy="502560"/>
          </a:xfrm>
          <a:prstGeom prst="rect">
            <a:avLst/>
          </a:prstGeom>
          <a:solidFill>
            <a:srgbClr val="ECFDF5"/>
          </a:solidFill>
          <a:ln w="0">
            <a:solidFill>
              <a:srgbClr val="A7F3D0"/>
            </a:solidFill>
          </a:ln>
        </p:spPr>
        <p:style>
          <a:lnRef idx="0"/>
          <a:fillRef idx="0"/>
          <a:effectRef idx="0"/>
          <a:fontRef idx="minor"/>
        </p:style>
        <p:txBody>
          <a:bodyPr lIns="73080" tIns="52200" rIns="73080" bIns="52200" anchor="t">
            <a:noAutofit/>
          </a:bodyPr>
          <a:p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Flask API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业务服务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4" name="l2"/>
          <p:cNvCxnSpPr/>
          <p:nvPr/>
        </p:nvCxnSpPr>
        <p:spPr>
          <a:xfrm>
            <a:off x="5412960" y="2304000"/>
            <a:ext cx="823320" cy="360"/>
          </a:xfrm>
          <a:prstGeom prst="straightConnector1">
            <a:avLst/>
          </a:prstGeom>
          <a:ln w="27940">
            <a:solidFill>
              <a:srgbClr val="0F766E"/>
            </a:solidFill>
            <a:round/>
          </a:ln>
        </p:spPr>
      </p:cxnSp>
      <p:sp>
        <p:nvSpPr>
          <p:cNvPr id="55" name="f3"/>
          <p:cNvSpPr/>
          <p:nvPr/>
        </p:nvSpPr>
        <p:spPr>
          <a:xfrm>
            <a:off x="6309360" y="1572840"/>
            <a:ext cx="1828440" cy="566640"/>
          </a:xfrm>
          <a:prstGeom prst="rect">
            <a:avLst/>
          </a:prstGeom>
          <a:solidFill>
            <a:srgbClr val="FEF3C7"/>
          </a:solidFill>
          <a:ln w="0">
            <a:solidFill>
              <a:srgbClr val="FDE68A"/>
            </a:solidFill>
          </a:ln>
        </p:spPr>
        <p:style>
          <a:lnRef idx="0"/>
          <a:fillRef idx="0"/>
          <a:effectRef idx="0"/>
          <a:fontRef idx="minor"/>
        </p:style>
        <p:txBody>
          <a:bodyPr lIns="73080" tIns="52200" rIns="73080" bIns="52200" anchor="t">
            <a:noAutofit/>
          </a:bodyPr>
          <a:p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Prophet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7</a:t>
            </a:r>
            <a:r>
              <a:rPr lang="zh-CN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天趋势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f4"/>
          <p:cNvSpPr/>
          <p:nvPr/>
        </p:nvSpPr>
        <p:spPr>
          <a:xfrm>
            <a:off x="6309360" y="2743200"/>
            <a:ext cx="1828440" cy="566640"/>
          </a:xfrm>
          <a:prstGeom prst="rect">
            <a:avLst/>
          </a:prstGeom>
          <a:solidFill>
            <a:srgbClr val="DCFCE7"/>
          </a:solidFill>
          <a:ln w="0">
            <a:solidFill>
              <a:srgbClr val="BBF7D0"/>
            </a:solidFill>
          </a:ln>
        </p:spPr>
        <p:style>
          <a:lnRef idx="0"/>
          <a:fillRef idx="0"/>
          <a:effectRef idx="0"/>
          <a:fontRef idx="minor"/>
        </p:style>
        <p:txBody>
          <a:bodyPr lIns="73080" tIns="52200" rIns="73080" bIns="52200" anchor="t">
            <a:noAutofit/>
          </a:bodyPr>
          <a:p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LightGBM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风险分类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7" name="l3"/>
          <p:cNvCxnSpPr/>
          <p:nvPr/>
        </p:nvCxnSpPr>
        <p:spPr>
          <a:xfrm>
            <a:off x="8211240" y="2304000"/>
            <a:ext cx="823320" cy="360"/>
          </a:xfrm>
          <a:prstGeom prst="straightConnector1">
            <a:avLst/>
          </a:prstGeom>
          <a:ln w="27940">
            <a:solidFill>
              <a:srgbClr val="0F766E"/>
            </a:solidFill>
            <a:round/>
          </a:ln>
        </p:spPr>
      </p:cxnSp>
      <p:sp>
        <p:nvSpPr>
          <p:cNvPr id="58" name="f5"/>
          <p:cNvSpPr/>
          <p:nvPr/>
        </p:nvSpPr>
        <p:spPr>
          <a:xfrm>
            <a:off x="9098280" y="2057400"/>
            <a:ext cx="1737000" cy="502560"/>
          </a:xfrm>
          <a:prstGeom prst="rect">
            <a:avLst/>
          </a:prstGeom>
          <a:solidFill>
            <a:srgbClr val="F1F5F9"/>
          </a:solidFill>
          <a:ln w="0">
            <a:solidFill>
              <a:srgbClr val="CBD5E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080" tIns="52200" rIns="73080" bIns="52200" anchor="t">
            <a:noAutofit/>
          </a:bodyPr>
          <a:p>
            <a:r>
              <a:rPr lang="zh-CN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结果展示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建议生成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card-bg-19"/>
          <p:cNvSpPr/>
          <p:nvPr/>
        </p:nvSpPr>
        <p:spPr>
          <a:xfrm>
            <a:off x="960120" y="4572000"/>
            <a:ext cx="301716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card-accent-19"/>
          <p:cNvSpPr/>
          <p:nvPr/>
        </p:nvSpPr>
        <p:spPr>
          <a:xfrm>
            <a:off x="960120" y="4572000"/>
            <a:ext cx="109440" cy="102384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card-title-19"/>
          <p:cNvSpPr/>
          <p:nvPr/>
        </p:nvSpPr>
        <p:spPr>
          <a:xfrm>
            <a:off x="1188720" y="4736520"/>
            <a:ext cx="2697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数据来源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card-body-19"/>
          <p:cNvSpPr/>
          <p:nvPr/>
        </p:nvSpPr>
        <p:spPr>
          <a:xfrm>
            <a:off x="1188720" y="5102280"/>
            <a:ext cx="2697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血压记录、个人档案、公开训练数据集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card-bg-23"/>
          <p:cNvSpPr/>
          <p:nvPr/>
        </p:nvSpPr>
        <p:spPr>
          <a:xfrm>
            <a:off x="4434840" y="4572000"/>
            <a:ext cx="301716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card-accent-23"/>
          <p:cNvSpPr/>
          <p:nvPr/>
        </p:nvSpPr>
        <p:spPr>
          <a:xfrm>
            <a:off x="4434840" y="4572000"/>
            <a:ext cx="109440" cy="102384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card-title-23"/>
          <p:cNvSpPr/>
          <p:nvPr/>
        </p:nvSpPr>
        <p:spPr>
          <a:xfrm>
            <a:off x="4663440" y="4736520"/>
            <a:ext cx="2697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模型产物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card-body-23"/>
          <p:cNvSpPr/>
          <p:nvPr/>
        </p:nvSpPr>
        <p:spPr>
          <a:xfrm>
            <a:off x="4663440" y="5102280"/>
            <a:ext cx="2697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LightGBM txt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模型；用户级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Prophet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模型持久化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card-bg-27"/>
          <p:cNvSpPr/>
          <p:nvPr/>
        </p:nvSpPr>
        <p:spPr>
          <a:xfrm>
            <a:off x="7909560" y="4572000"/>
            <a:ext cx="301716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card-accent-27"/>
          <p:cNvSpPr/>
          <p:nvPr/>
        </p:nvSpPr>
        <p:spPr>
          <a:xfrm>
            <a:off x="7909560" y="4572000"/>
            <a:ext cx="109440" cy="102384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card-title-27"/>
          <p:cNvSpPr/>
          <p:nvPr/>
        </p:nvSpPr>
        <p:spPr>
          <a:xfrm>
            <a:off x="8138160" y="4736520"/>
            <a:ext cx="2697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输出内容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card-body-27"/>
          <p:cNvSpPr/>
          <p:nvPr/>
        </p:nvSpPr>
        <p:spPr>
          <a:xfrm>
            <a:off x="8138160" y="5102280"/>
            <a:ext cx="2697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风险概率、风险等级、未来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7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天曲线、健康建议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op-band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lide-title"/>
          <p:cNvSpPr/>
          <p:nvPr/>
        </p:nvSpPr>
        <p:spPr>
          <a:xfrm>
            <a:off x="502920" y="329040"/>
            <a:ext cx="8595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Prophet</a:t>
            </a:r>
            <a:r>
              <a:rPr lang="zh-CN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：</a:t>
            </a: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7 </a:t>
            </a:r>
            <a:r>
              <a:rPr lang="zh-CN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天血压趋势预测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age-no"/>
          <p:cNvSpPr/>
          <p:nvPr/>
        </p:nvSpPr>
        <p:spPr>
          <a:xfrm>
            <a:off x="10972800" y="3474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lide-subtitle"/>
          <p:cNvSpPr/>
          <p:nvPr/>
        </p:nvSpPr>
        <p:spPr>
          <a:xfrm>
            <a:off x="511920" y="786240"/>
            <a:ext cx="8960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把不规则记录整理为日均序列，再生成未来 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7 </a:t>
            </a: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天收缩压和舒张压趋势。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ection"/>
          <p:cNvSpPr/>
          <p:nvPr/>
        </p:nvSpPr>
        <p:spPr>
          <a:xfrm>
            <a:off x="9601200" y="3474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Prophet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prophet-flow"/>
          <p:cNvPicPr/>
          <p:nvPr/>
        </p:nvPicPr>
        <p:blipFill>
          <a:blip r:embed="rId1"/>
          <a:stretch/>
        </p:blipFill>
        <p:spPr>
          <a:xfrm>
            <a:off x="548640" y="1234440"/>
            <a:ext cx="6674760" cy="324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card-bg-20"/>
          <p:cNvSpPr/>
          <p:nvPr/>
        </p:nvSpPr>
        <p:spPr>
          <a:xfrm>
            <a:off x="7543800" y="1234440"/>
            <a:ext cx="393156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card-accent-20"/>
          <p:cNvSpPr/>
          <p:nvPr/>
        </p:nvSpPr>
        <p:spPr>
          <a:xfrm>
            <a:off x="7543800" y="1234440"/>
            <a:ext cx="109440" cy="9597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card-title-20"/>
          <p:cNvSpPr/>
          <p:nvPr/>
        </p:nvSpPr>
        <p:spPr>
          <a:xfrm>
            <a:off x="7772400" y="1398960"/>
            <a:ext cx="3611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输入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card-body-20"/>
          <p:cNvSpPr/>
          <p:nvPr/>
        </p:nvSpPr>
        <p:spPr>
          <a:xfrm>
            <a:off x="7772400" y="1764720"/>
            <a:ext cx="36115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用户历史血压记录按自然日聚合：收缩压、舒张压日均值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card-bg-24"/>
          <p:cNvSpPr/>
          <p:nvPr/>
        </p:nvSpPr>
        <p:spPr>
          <a:xfrm>
            <a:off x="7543800" y="2423160"/>
            <a:ext cx="393156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card-accent-24"/>
          <p:cNvSpPr/>
          <p:nvPr/>
        </p:nvSpPr>
        <p:spPr>
          <a:xfrm>
            <a:off x="7543800" y="2423160"/>
            <a:ext cx="109440" cy="95976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card-title-24"/>
          <p:cNvSpPr/>
          <p:nvPr/>
        </p:nvSpPr>
        <p:spPr>
          <a:xfrm>
            <a:off x="7772400" y="2587680"/>
            <a:ext cx="3611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预测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card-body-24"/>
          <p:cNvSpPr/>
          <p:nvPr/>
        </p:nvSpPr>
        <p:spPr>
          <a:xfrm>
            <a:off x="7772400" y="2953440"/>
            <a:ext cx="36115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默认使用最近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90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天窗口，生成未来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7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天预测点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card-bg-28"/>
          <p:cNvSpPr/>
          <p:nvPr/>
        </p:nvSpPr>
        <p:spPr>
          <a:xfrm>
            <a:off x="7543800" y="3611880"/>
            <a:ext cx="393156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card-accent-28"/>
          <p:cNvSpPr/>
          <p:nvPr/>
        </p:nvSpPr>
        <p:spPr>
          <a:xfrm>
            <a:off x="7543800" y="3611880"/>
            <a:ext cx="109440" cy="9597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card-title-28"/>
          <p:cNvSpPr/>
          <p:nvPr/>
        </p:nvSpPr>
        <p:spPr>
          <a:xfrm>
            <a:off x="7772400" y="3776400"/>
            <a:ext cx="3611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输出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card-body-28"/>
          <p:cNvSpPr/>
          <p:nvPr/>
        </p:nvSpPr>
        <p:spPr>
          <a:xfrm>
            <a:off x="7772400" y="4142160"/>
            <a:ext cx="36115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预测期均值、峰值、高血压天数、趋势方向与置信度说明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formula"/>
          <p:cNvSpPr/>
          <p:nvPr/>
        </p:nvSpPr>
        <p:spPr>
          <a:xfrm>
            <a:off x="1005840" y="5166360"/>
            <a:ext cx="10058040" cy="438480"/>
          </a:xfrm>
          <a:prstGeom prst="rect">
            <a:avLst/>
          </a:prstGeom>
          <a:solidFill>
            <a:srgbClr val="ECFDF5"/>
          </a:solidFill>
          <a:ln w="0">
            <a:solidFill>
              <a:srgbClr val="99F6E4"/>
            </a:solidFill>
          </a:ln>
        </p:spPr>
        <p:style>
          <a:lnRef idx="0"/>
          <a:fillRef idx="0"/>
          <a:effectRef idx="0"/>
          <a:fontRef idx="minor"/>
        </p:style>
        <p:txBody>
          <a:bodyPr lIns="73080" tIns="52200" rIns="73080" bIns="5220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SBP_future = 1/7 × Σ SBP̂(t+k)</a:t>
            </a:r>
            <a:r>
              <a:rPr lang="zh-CN" sz="18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，</a:t>
            </a: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DBP_future = 1/7 × Σ DBP̂(t+k)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op-band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lide-title"/>
          <p:cNvSpPr/>
          <p:nvPr/>
        </p:nvSpPr>
        <p:spPr>
          <a:xfrm>
            <a:off x="502920" y="329040"/>
            <a:ext cx="8595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LightGBM</a:t>
            </a:r>
            <a:r>
              <a:rPr lang="zh-CN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：风险概率分类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age-no"/>
          <p:cNvSpPr/>
          <p:nvPr/>
        </p:nvSpPr>
        <p:spPr>
          <a:xfrm>
            <a:off x="10972800" y="3474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lide-subtitle"/>
          <p:cNvSpPr/>
          <p:nvPr/>
        </p:nvSpPr>
        <p:spPr>
          <a:xfrm>
            <a:off x="511920" y="786240"/>
            <a:ext cx="8960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将预测期血压特征和个人风险因素合并，输出可分级的风险概率。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ection"/>
          <p:cNvSpPr/>
          <p:nvPr/>
        </p:nvSpPr>
        <p:spPr>
          <a:xfrm>
            <a:off x="9601200" y="3474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LightGBM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lgbm-io"/>
          <p:cNvPicPr/>
          <p:nvPr/>
        </p:nvPicPr>
        <p:blipFill>
          <a:blip r:embed="rId1"/>
          <a:stretch/>
        </p:blipFill>
        <p:spPr>
          <a:xfrm>
            <a:off x="640080" y="1170360"/>
            <a:ext cx="5668920" cy="340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card-bg-20"/>
          <p:cNvSpPr/>
          <p:nvPr/>
        </p:nvSpPr>
        <p:spPr>
          <a:xfrm>
            <a:off x="6720840" y="1234440"/>
            <a:ext cx="443448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card-accent-20"/>
          <p:cNvSpPr/>
          <p:nvPr/>
        </p:nvSpPr>
        <p:spPr>
          <a:xfrm>
            <a:off x="6720840" y="1234440"/>
            <a:ext cx="109440" cy="98712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card-title-20"/>
          <p:cNvSpPr/>
          <p:nvPr/>
        </p:nvSpPr>
        <p:spPr>
          <a:xfrm>
            <a:off x="6949440" y="1398960"/>
            <a:ext cx="4114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12 </a:t>
            </a: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个核心特征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card-body-20"/>
          <p:cNvSpPr/>
          <p:nvPr/>
        </p:nvSpPr>
        <p:spPr>
          <a:xfrm>
            <a:off x="6949440" y="176472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性别、年龄、吸烟、用药、糖尿病、胆固醇、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BMI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、心率、血糖等。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card-bg-24"/>
          <p:cNvSpPr/>
          <p:nvPr/>
        </p:nvSpPr>
        <p:spPr>
          <a:xfrm>
            <a:off x="6720840" y="2487240"/>
            <a:ext cx="443448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card-accent-24"/>
          <p:cNvSpPr/>
          <p:nvPr/>
        </p:nvSpPr>
        <p:spPr>
          <a:xfrm>
            <a:off x="6720840" y="2487240"/>
            <a:ext cx="109440" cy="98712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card-title-24"/>
          <p:cNvSpPr/>
          <p:nvPr/>
        </p:nvSpPr>
        <p:spPr>
          <a:xfrm>
            <a:off x="6949440" y="2651760"/>
            <a:ext cx="4114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动态血压输入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card-body-24"/>
          <p:cNvSpPr/>
          <p:nvPr/>
        </p:nvSpPr>
        <p:spPr>
          <a:xfrm>
            <a:off x="6949440" y="301752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sysBP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与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diaBP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在系统预测时来自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Prophet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的未来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7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天均值。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card-bg-28"/>
          <p:cNvSpPr/>
          <p:nvPr/>
        </p:nvSpPr>
        <p:spPr>
          <a:xfrm>
            <a:off x="6720840" y="3740040"/>
            <a:ext cx="443448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card-accent-28"/>
          <p:cNvSpPr/>
          <p:nvPr/>
        </p:nvSpPr>
        <p:spPr>
          <a:xfrm>
            <a:off x="6720840" y="3740040"/>
            <a:ext cx="109440" cy="98712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card-title-28"/>
          <p:cNvSpPr/>
          <p:nvPr/>
        </p:nvSpPr>
        <p:spPr>
          <a:xfrm>
            <a:off x="6949440" y="3904560"/>
            <a:ext cx="4114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概率输出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card-body-28"/>
          <p:cNvSpPr/>
          <p:nvPr/>
        </p:nvSpPr>
        <p:spPr>
          <a:xfrm>
            <a:off x="6949440" y="427032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LightGBM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分数经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Sigmoid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转为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p_raw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，再映射低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/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中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/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高风险。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hreshold"/>
          <p:cNvSpPr/>
          <p:nvPr/>
        </p:nvSpPr>
        <p:spPr>
          <a:xfrm>
            <a:off x="1005840" y="5257800"/>
            <a:ext cx="10058040" cy="45684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080" tIns="52200" rIns="73080" bIns="5220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分类策略：健康提醒场景采用召回优先，少量误报比漏掉潜在高风险更可接受。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op-band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lide-title"/>
          <p:cNvSpPr/>
          <p:nvPr/>
        </p:nvSpPr>
        <p:spPr>
          <a:xfrm>
            <a:off x="502920" y="329040"/>
            <a:ext cx="8595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双模型衔接与趋势融合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age-no"/>
          <p:cNvSpPr/>
          <p:nvPr/>
        </p:nvSpPr>
        <p:spPr>
          <a:xfrm>
            <a:off x="10972800" y="3474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lide-subtitle"/>
          <p:cNvSpPr/>
          <p:nvPr/>
        </p:nvSpPr>
        <p:spPr>
          <a:xfrm>
            <a:off x="511920" y="786240"/>
            <a:ext cx="8960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Prophet </a:t>
            </a: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不直接给风险结论，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LightGBM </a:t>
            </a: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也不脱离近期趋势单独判断。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ection"/>
          <p:cNvSpPr/>
          <p:nvPr/>
        </p:nvSpPr>
        <p:spPr>
          <a:xfrm>
            <a:off x="9601200" y="3474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050" b="0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双模型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dual-model"/>
          <p:cNvPicPr/>
          <p:nvPr/>
        </p:nvPicPr>
        <p:blipFill>
          <a:blip r:embed="rId1"/>
          <a:stretch/>
        </p:blipFill>
        <p:spPr>
          <a:xfrm>
            <a:off x="640080" y="1143000"/>
            <a:ext cx="6857640" cy="353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card-bg-20"/>
          <p:cNvSpPr/>
          <p:nvPr/>
        </p:nvSpPr>
        <p:spPr>
          <a:xfrm>
            <a:off x="7818120" y="1188720"/>
            <a:ext cx="361152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card-accent-20"/>
          <p:cNvSpPr/>
          <p:nvPr/>
        </p:nvSpPr>
        <p:spPr>
          <a:xfrm>
            <a:off x="7818120" y="1188720"/>
            <a:ext cx="109440" cy="9597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card-title-20"/>
          <p:cNvSpPr/>
          <p:nvPr/>
        </p:nvSpPr>
        <p:spPr>
          <a:xfrm>
            <a:off x="8046720" y="1353240"/>
            <a:ext cx="3291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特征衔接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card-body-20"/>
          <p:cNvSpPr/>
          <p:nvPr/>
        </p:nvSpPr>
        <p:spPr>
          <a:xfrm>
            <a:off x="8046720" y="1719000"/>
            <a:ext cx="32914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未来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7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天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SBP/DBP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均值进入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LightGBM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的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sysBP/diaBP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card-bg-24"/>
          <p:cNvSpPr/>
          <p:nvPr/>
        </p:nvSpPr>
        <p:spPr>
          <a:xfrm>
            <a:off x="7818120" y="2395800"/>
            <a:ext cx="361152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card-accent-24"/>
          <p:cNvSpPr/>
          <p:nvPr/>
        </p:nvSpPr>
        <p:spPr>
          <a:xfrm>
            <a:off x="7818120" y="2395800"/>
            <a:ext cx="109440" cy="95976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card-title-24"/>
          <p:cNvSpPr/>
          <p:nvPr/>
        </p:nvSpPr>
        <p:spPr>
          <a:xfrm>
            <a:off x="8046720" y="2560320"/>
            <a:ext cx="3291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趋势信号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card-body-24"/>
          <p:cNvSpPr/>
          <p:nvPr/>
        </p:nvSpPr>
        <p:spPr>
          <a:xfrm>
            <a:off x="8046720" y="2926080"/>
            <a:ext cx="32914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高血压天数、峰值、上升趋势、稳定低趋势、用药未控制。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card-bg-28"/>
          <p:cNvSpPr/>
          <p:nvPr/>
        </p:nvSpPr>
        <p:spPr>
          <a:xfrm>
            <a:off x="7818120" y="3602880"/>
            <a:ext cx="361152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card-accent-28"/>
          <p:cNvSpPr/>
          <p:nvPr/>
        </p:nvSpPr>
        <p:spPr>
          <a:xfrm>
            <a:off x="7818120" y="3602880"/>
            <a:ext cx="109440" cy="9597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card-title-28"/>
          <p:cNvSpPr/>
          <p:nvPr/>
        </p:nvSpPr>
        <p:spPr>
          <a:xfrm>
            <a:off x="8046720" y="3767400"/>
            <a:ext cx="3291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约束修正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card-body-28"/>
          <p:cNvSpPr/>
          <p:nvPr/>
        </p:nvSpPr>
        <p:spPr>
          <a:xfrm>
            <a:off x="8046720" y="4133160"/>
            <a:ext cx="32914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只在原始概率基础上微调，保留模型原始判断。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fusion"/>
          <p:cNvSpPr/>
          <p:nvPr/>
        </p:nvSpPr>
        <p:spPr>
          <a:xfrm>
            <a:off x="1005840" y="5193720"/>
            <a:ext cx="10058040" cy="456840"/>
          </a:xfrm>
          <a:prstGeom prst="rect">
            <a:avLst/>
          </a:prstGeom>
          <a:solidFill>
            <a:srgbClr val="ECFDF5"/>
          </a:solidFill>
          <a:ln w="0">
            <a:solidFill>
              <a:srgbClr val="99F6E4"/>
            </a:solidFill>
          </a:ln>
        </p:spPr>
        <p:style>
          <a:lnRef idx="0"/>
          <a:fillRef idx="0"/>
          <a:effectRef idx="0"/>
          <a:fontRef idx="minor"/>
        </p:style>
        <p:txBody>
          <a:bodyPr lIns="73080" tIns="52200" rIns="73080" bIns="52200" anchor="t">
            <a:no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p_fused = clip(p_raw + Δ_trend + Δ_med, 0.01, 0.99)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op-band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lide-title"/>
          <p:cNvSpPr/>
          <p:nvPr/>
        </p:nvSpPr>
        <p:spPr>
          <a:xfrm>
            <a:off x="502920" y="329040"/>
            <a:ext cx="8595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LightGBM </a:t>
            </a:r>
            <a:r>
              <a:rPr lang="zh-CN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实验结果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age-no"/>
          <p:cNvSpPr/>
          <p:nvPr/>
        </p:nvSpPr>
        <p:spPr>
          <a:xfrm>
            <a:off x="10972800" y="3474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lide-subtitle"/>
          <p:cNvSpPr/>
          <p:nvPr/>
        </p:nvSpPr>
        <p:spPr>
          <a:xfrm>
            <a:off x="511920" y="786240"/>
            <a:ext cx="8960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生产方案选择 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recall-min85</a:t>
            </a: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，不只看 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AUC</a:t>
            </a: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，而是服务于健康风险提醒。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ection"/>
          <p:cNvSpPr/>
          <p:nvPr/>
        </p:nvSpPr>
        <p:spPr>
          <a:xfrm>
            <a:off x="9601200" y="3474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050" b="0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实验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dataset"/>
          <p:cNvSpPr/>
          <p:nvPr/>
        </p:nvSpPr>
        <p:spPr>
          <a:xfrm>
            <a:off x="685800" y="1051560"/>
            <a:ext cx="10789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4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数据集：</a:t>
            </a:r>
            <a:r>
              <a:rPr lang="en-US" sz="14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Hypertension-risk-model-main.csv</a:t>
            </a:r>
            <a:r>
              <a:rPr lang="zh-CN" sz="14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，共 </a:t>
            </a:r>
            <a:r>
              <a:rPr lang="en-US" sz="14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4240 </a:t>
            </a:r>
            <a:r>
              <a:rPr lang="zh-CN" sz="14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条样本，正样本比例 </a:t>
            </a:r>
            <a:r>
              <a:rPr lang="en-US" sz="14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31.1%</a:t>
            </a:r>
            <a:r>
              <a:rPr lang="zh-CN" sz="14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，测试集 </a:t>
            </a:r>
            <a:r>
              <a:rPr lang="en-US" sz="14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848 </a:t>
            </a:r>
            <a:r>
              <a:rPr lang="zh-CN" sz="14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条。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card-bg-11"/>
          <p:cNvSpPr/>
          <p:nvPr/>
        </p:nvSpPr>
        <p:spPr>
          <a:xfrm>
            <a:off x="777240" y="1645920"/>
            <a:ext cx="196560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card-accent-11"/>
          <p:cNvSpPr/>
          <p:nvPr/>
        </p:nvSpPr>
        <p:spPr>
          <a:xfrm>
            <a:off x="777240" y="1645920"/>
            <a:ext cx="109440" cy="114264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card-title-11"/>
          <p:cNvSpPr/>
          <p:nvPr/>
        </p:nvSpPr>
        <p:spPr>
          <a:xfrm>
            <a:off x="1005840" y="1810440"/>
            <a:ext cx="1645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AUC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card-body-11"/>
          <p:cNvSpPr/>
          <p:nvPr/>
        </p:nvSpPr>
        <p:spPr>
          <a:xfrm>
            <a:off x="1005840" y="2176200"/>
            <a:ext cx="16455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1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0.9498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card-bg-15"/>
          <p:cNvSpPr/>
          <p:nvPr/>
        </p:nvSpPr>
        <p:spPr>
          <a:xfrm>
            <a:off x="2971800" y="1645920"/>
            <a:ext cx="196560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card-accent-15"/>
          <p:cNvSpPr/>
          <p:nvPr/>
        </p:nvSpPr>
        <p:spPr>
          <a:xfrm>
            <a:off x="2971800" y="1645920"/>
            <a:ext cx="109440" cy="114264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card-title-15"/>
          <p:cNvSpPr/>
          <p:nvPr/>
        </p:nvSpPr>
        <p:spPr>
          <a:xfrm>
            <a:off x="3200400" y="1810440"/>
            <a:ext cx="1645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Precision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card-body-15"/>
          <p:cNvSpPr/>
          <p:nvPr/>
        </p:nvSpPr>
        <p:spPr>
          <a:xfrm>
            <a:off x="3200400" y="2176200"/>
            <a:ext cx="16455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1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0.8246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card-bg-19"/>
          <p:cNvSpPr/>
          <p:nvPr/>
        </p:nvSpPr>
        <p:spPr>
          <a:xfrm>
            <a:off x="5166360" y="1645920"/>
            <a:ext cx="196560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card-accent-19"/>
          <p:cNvSpPr/>
          <p:nvPr/>
        </p:nvSpPr>
        <p:spPr>
          <a:xfrm>
            <a:off x="5166360" y="1645920"/>
            <a:ext cx="109440" cy="114264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card-title-19"/>
          <p:cNvSpPr/>
          <p:nvPr/>
        </p:nvSpPr>
        <p:spPr>
          <a:xfrm>
            <a:off x="5394960" y="1810440"/>
            <a:ext cx="1645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Recall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card-body-19"/>
          <p:cNvSpPr/>
          <p:nvPr/>
        </p:nvSpPr>
        <p:spPr>
          <a:xfrm>
            <a:off x="5394960" y="2176200"/>
            <a:ext cx="16455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1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0.8935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card-bg-23"/>
          <p:cNvSpPr/>
          <p:nvPr/>
        </p:nvSpPr>
        <p:spPr>
          <a:xfrm>
            <a:off x="7360920" y="1645920"/>
            <a:ext cx="196560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card-accent-23"/>
          <p:cNvSpPr/>
          <p:nvPr/>
        </p:nvSpPr>
        <p:spPr>
          <a:xfrm>
            <a:off x="7360920" y="1645920"/>
            <a:ext cx="109440" cy="114264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card-title-23"/>
          <p:cNvSpPr/>
          <p:nvPr/>
        </p:nvSpPr>
        <p:spPr>
          <a:xfrm>
            <a:off x="7589520" y="1810440"/>
            <a:ext cx="1645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F1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card-body-23"/>
          <p:cNvSpPr/>
          <p:nvPr/>
        </p:nvSpPr>
        <p:spPr>
          <a:xfrm>
            <a:off x="7589520" y="2176200"/>
            <a:ext cx="16455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1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0.8577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card-bg-27"/>
          <p:cNvSpPr/>
          <p:nvPr/>
        </p:nvSpPr>
        <p:spPr>
          <a:xfrm>
            <a:off x="9555480" y="1645920"/>
            <a:ext cx="196560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card-accent-27"/>
          <p:cNvSpPr/>
          <p:nvPr/>
        </p:nvSpPr>
        <p:spPr>
          <a:xfrm>
            <a:off x="9555480" y="1645920"/>
            <a:ext cx="109440" cy="114264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card-title-27"/>
          <p:cNvSpPr/>
          <p:nvPr/>
        </p:nvSpPr>
        <p:spPr>
          <a:xfrm>
            <a:off x="9784080" y="1810440"/>
            <a:ext cx="1645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PR-AUC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card-body-27"/>
          <p:cNvSpPr/>
          <p:nvPr/>
        </p:nvSpPr>
        <p:spPr>
          <a:xfrm>
            <a:off x="9784080" y="2176200"/>
            <a:ext cx="16455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1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0.8706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matrix-bg"/>
          <p:cNvSpPr/>
          <p:nvPr/>
        </p:nvSpPr>
        <p:spPr>
          <a:xfrm>
            <a:off x="777240" y="3456360"/>
            <a:ext cx="5303160" cy="1782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matrix-title"/>
          <p:cNvSpPr/>
          <p:nvPr/>
        </p:nvSpPr>
        <p:spPr>
          <a:xfrm>
            <a:off x="987480" y="3675960"/>
            <a:ext cx="4800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5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测试集混淆矩阵（</a:t>
            </a: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recall-min85</a:t>
            </a:r>
            <a:r>
              <a:rPr lang="zh-CN" sz="15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matrix-values"/>
          <p:cNvSpPr/>
          <p:nvPr/>
        </p:nvSpPr>
        <p:spPr>
          <a:xfrm>
            <a:off x="987480" y="4187880"/>
            <a:ext cx="4800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r>
              <a:rPr lang="en-US" sz="19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TP 235   FN 28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9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FP 50     TN 535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conclusion-bg"/>
          <p:cNvSpPr/>
          <p:nvPr/>
        </p:nvSpPr>
        <p:spPr>
          <a:xfrm>
            <a:off x="6537960" y="3456360"/>
            <a:ext cx="4571640" cy="178272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0">
            <a:solidFill>
              <a:srgbClr val="99F6E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conclusion-title"/>
          <p:cNvSpPr/>
          <p:nvPr/>
        </p:nvSpPr>
        <p:spPr>
          <a:xfrm>
            <a:off x="6784920" y="3675960"/>
            <a:ext cx="4068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5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选择理由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conclusion-body"/>
          <p:cNvSpPr/>
          <p:nvPr/>
        </p:nvSpPr>
        <p:spPr>
          <a:xfrm>
            <a:off x="6784920" y="4160520"/>
            <a:ext cx="4068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32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漏判率降至 </a:t>
            </a:r>
            <a:r>
              <a:rPr lang="en-US" sz="132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10.65%</a:t>
            </a:r>
            <a:r>
              <a:rPr lang="zh-CN" sz="132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，比 </a:t>
            </a:r>
            <a:r>
              <a:rPr lang="en-US" sz="132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baseline </a:t>
            </a:r>
            <a:r>
              <a:rPr lang="zh-CN" sz="132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多识别 </a:t>
            </a:r>
            <a:r>
              <a:rPr lang="en-US" sz="132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31 </a:t>
            </a:r>
            <a:r>
              <a:rPr lang="zh-CN" sz="132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个正类样本；误报率 </a:t>
            </a:r>
            <a:r>
              <a:rPr lang="en-US" sz="132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8.55%</a:t>
            </a:r>
            <a:r>
              <a:rPr lang="zh-CN" sz="132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，在辅助提醒场景可接受。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op-band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lide-title"/>
          <p:cNvSpPr/>
          <p:nvPr/>
        </p:nvSpPr>
        <p:spPr>
          <a:xfrm>
            <a:off x="502920" y="329040"/>
            <a:ext cx="8595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特征重要性：血压特征是主信号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age-no"/>
          <p:cNvSpPr/>
          <p:nvPr/>
        </p:nvSpPr>
        <p:spPr>
          <a:xfrm>
            <a:off x="10972800" y="3474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lide-subtitle"/>
          <p:cNvSpPr/>
          <p:nvPr/>
        </p:nvSpPr>
        <p:spPr>
          <a:xfrm>
            <a:off x="511920" y="786240"/>
            <a:ext cx="8960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实验结果支撑 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Prophet </a:t>
            </a: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预测期血压特征接入 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LightGBM</a:t>
            </a: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ection"/>
          <p:cNvSpPr/>
          <p:nvPr/>
        </p:nvSpPr>
        <p:spPr>
          <a:xfrm>
            <a:off x="9601200" y="3474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050" b="0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实验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portance"/>
          <p:cNvPicPr/>
          <p:nvPr/>
        </p:nvPicPr>
        <p:blipFill>
          <a:blip r:embed="rId1"/>
          <a:stretch/>
        </p:blipFill>
        <p:spPr>
          <a:xfrm>
            <a:off x="548640" y="1143000"/>
            <a:ext cx="6217560" cy="416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card-bg-20"/>
          <p:cNvSpPr/>
          <p:nvPr/>
        </p:nvSpPr>
        <p:spPr>
          <a:xfrm>
            <a:off x="7178040" y="1234440"/>
            <a:ext cx="425160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card-accent-20"/>
          <p:cNvSpPr/>
          <p:nvPr/>
        </p:nvSpPr>
        <p:spPr>
          <a:xfrm>
            <a:off x="7178040" y="1234440"/>
            <a:ext cx="109440" cy="102384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card-title-20"/>
          <p:cNvSpPr/>
          <p:nvPr/>
        </p:nvSpPr>
        <p:spPr>
          <a:xfrm>
            <a:off x="7406640" y="1398960"/>
            <a:ext cx="3931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sysBP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card-body-20"/>
          <p:cNvSpPr/>
          <p:nvPr/>
        </p:nvSpPr>
        <p:spPr>
          <a:xfrm>
            <a:off x="7406640" y="1764720"/>
            <a:ext cx="39315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gain </a:t>
            </a:r>
            <a:r>
              <a:rPr lang="zh-CN" sz="24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占比 </a:t>
            </a:r>
            <a:r>
              <a:rPr lang="en-US" sz="24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74.2%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card-bg-24"/>
          <p:cNvSpPr/>
          <p:nvPr/>
        </p:nvSpPr>
        <p:spPr>
          <a:xfrm>
            <a:off x="7178040" y="2514600"/>
            <a:ext cx="425160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card-accent-24"/>
          <p:cNvSpPr/>
          <p:nvPr/>
        </p:nvSpPr>
        <p:spPr>
          <a:xfrm>
            <a:off x="7178040" y="2514600"/>
            <a:ext cx="109440" cy="102384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card-title-24"/>
          <p:cNvSpPr/>
          <p:nvPr/>
        </p:nvSpPr>
        <p:spPr>
          <a:xfrm>
            <a:off x="7406640" y="2679120"/>
            <a:ext cx="3931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diaBP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card-body-24"/>
          <p:cNvSpPr/>
          <p:nvPr/>
        </p:nvSpPr>
        <p:spPr>
          <a:xfrm>
            <a:off x="7406640" y="3044880"/>
            <a:ext cx="39315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gain </a:t>
            </a:r>
            <a:r>
              <a:rPr lang="zh-CN" sz="24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占比 </a:t>
            </a:r>
            <a:r>
              <a:rPr lang="en-US" sz="24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19.5%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card-bg-28"/>
          <p:cNvSpPr/>
          <p:nvPr/>
        </p:nvSpPr>
        <p:spPr>
          <a:xfrm>
            <a:off x="7178040" y="3794760"/>
            <a:ext cx="425160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card-accent-28"/>
          <p:cNvSpPr/>
          <p:nvPr/>
        </p:nvSpPr>
        <p:spPr>
          <a:xfrm>
            <a:off x="7178040" y="3794760"/>
            <a:ext cx="109440" cy="102384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card-title-28"/>
          <p:cNvSpPr/>
          <p:nvPr/>
        </p:nvSpPr>
        <p:spPr>
          <a:xfrm>
            <a:off x="7406640" y="3959280"/>
            <a:ext cx="3931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合计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card-body-28"/>
          <p:cNvSpPr/>
          <p:nvPr/>
        </p:nvSpPr>
        <p:spPr>
          <a:xfrm>
            <a:off x="7406640" y="4325040"/>
            <a:ext cx="39315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24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血压特征 </a:t>
            </a:r>
            <a:r>
              <a:rPr lang="en-US" sz="24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93.7%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interpretation"/>
          <p:cNvSpPr/>
          <p:nvPr/>
        </p:nvSpPr>
        <p:spPr>
          <a:xfrm>
            <a:off x="914400" y="5532120"/>
            <a:ext cx="10606680" cy="41112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080" tIns="52200" rIns="73080" bIns="5220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结论：模型主要依据血压水平做判断，</a:t>
            </a: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BMI</a:t>
            </a:r>
            <a:r>
              <a:rPr lang="zh-CN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、年龄、心率等因素起补充作用。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op-band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lide-title"/>
          <p:cNvSpPr/>
          <p:nvPr/>
        </p:nvSpPr>
        <p:spPr>
          <a:xfrm>
            <a:off x="502920" y="329040"/>
            <a:ext cx="8595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Prophet </a:t>
            </a:r>
            <a:r>
              <a:rPr lang="zh-CN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回测与趋势融合结论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age-no"/>
          <p:cNvSpPr/>
          <p:nvPr/>
        </p:nvSpPr>
        <p:spPr>
          <a:xfrm>
            <a:off x="10972800" y="3474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lide-subtitle"/>
          <p:cNvSpPr/>
          <p:nvPr/>
        </p:nvSpPr>
        <p:spPr>
          <a:xfrm>
            <a:off x="511920" y="786240"/>
            <a:ext cx="8960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趋势预测用于构造动态特征，融合策略用于提升结果解释性。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ection"/>
          <p:cNvSpPr/>
          <p:nvPr/>
        </p:nvSpPr>
        <p:spPr>
          <a:xfrm>
            <a:off x="9601200" y="3474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050" b="0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实验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mae-bg"/>
          <p:cNvSpPr/>
          <p:nvPr/>
        </p:nvSpPr>
        <p:spPr>
          <a:xfrm>
            <a:off x="685800" y="1143000"/>
            <a:ext cx="5440320" cy="429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mae-title"/>
          <p:cNvSpPr/>
          <p:nvPr/>
        </p:nvSpPr>
        <p:spPr>
          <a:xfrm>
            <a:off x="960120" y="141732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Prophet 7 </a:t>
            </a:r>
            <a:r>
              <a:rPr lang="zh-CN" sz="18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天回测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mae-big"/>
          <p:cNvSpPr/>
          <p:nvPr/>
        </p:nvSpPr>
        <p:spPr>
          <a:xfrm>
            <a:off x="960120" y="1965960"/>
            <a:ext cx="4845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400" b="1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3-7 mmHg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mae-desc"/>
          <p:cNvSpPr/>
          <p:nvPr/>
        </p:nvSpPr>
        <p:spPr>
          <a:xfrm>
            <a:off x="960120" y="2944440"/>
            <a:ext cx="4845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稳定血压 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profile 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在历史数据达到 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30 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天以上时，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7 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天收缩压 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MAE 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通常处于该范围。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volatile"/>
          <p:cNvSpPr/>
          <p:nvPr/>
        </p:nvSpPr>
        <p:spPr>
          <a:xfrm>
            <a:off x="960120" y="4133160"/>
            <a:ext cx="4845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3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高波动 </a:t>
            </a:r>
            <a:r>
              <a:rPr lang="en-US" sz="13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profile </a:t>
            </a:r>
            <a:r>
              <a:rPr lang="zh-CN" sz="13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的 </a:t>
            </a:r>
            <a:r>
              <a:rPr lang="en-US" sz="13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MAE </a:t>
            </a:r>
            <a:r>
              <a:rPr lang="zh-CN" sz="13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约 </a:t>
            </a:r>
            <a:r>
              <a:rPr lang="en-US" sz="13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10-13 mmHg</a:t>
            </a:r>
            <a:r>
              <a:rPr lang="zh-CN" sz="13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，因此系统降低置信度。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fusion-bg"/>
          <p:cNvSpPr/>
          <p:nvPr/>
        </p:nvSpPr>
        <p:spPr>
          <a:xfrm>
            <a:off x="6629400" y="1143000"/>
            <a:ext cx="5074560" cy="429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fusion-title"/>
          <p:cNvSpPr/>
          <p:nvPr/>
        </p:nvSpPr>
        <p:spPr>
          <a:xfrm>
            <a:off x="6903720" y="1417320"/>
            <a:ext cx="4525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8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趋势融合场景评价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fusion-big"/>
          <p:cNvSpPr/>
          <p:nvPr/>
        </p:nvSpPr>
        <p:spPr>
          <a:xfrm>
            <a:off x="6903720" y="1938600"/>
            <a:ext cx="4525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900" b="1" u="none" strike="noStrike">
                <a:solidFill>
                  <a:srgbClr val="16A34A"/>
                </a:solidFill>
                <a:effectLst/>
                <a:uFillTx/>
                <a:latin typeface="Microsoft YaHei"/>
                <a:ea typeface="Microsoft YaHei"/>
              </a:rPr>
              <a:t>24 </a:t>
            </a:r>
            <a:r>
              <a:rPr lang="zh-CN" sz="2900" b="1" u="none" strike="noStrike">
                <a:solidFill>
                  <a:srgbClr val="16A34A"/>
                </a:solidFill>
                <a:effectLst/>
                <a:uFillTx/>
                <a:latin typeface="Microsoft YaHei"/>
                <a:ea typeface="Microsoft YaHei"/>
              </a:rPr>
              <a:t>次 </a:t>
            </a:r>
            <a:r>
              <a:rPr lang="en-US" sz="2900" b="1" u="none" strike="noStrike">
                <a:solidFill>
                  <a:srgbClr val="16A34A"/>
                </a:solidFill>
                <a:effectLst/>
                <a:uFillTx/>
                <a:latin typeface="Microsoft YaHei"/>
                <a:ea typeface="Microsoft YaHei"/>
              </a:rPr>
              <a:t>/ 2 </a:t>
            </a:r>
            <a:r>
              <a:rPr lang="zh-CN" sz="2900" b="1" u="none" strike="noStrike">
                <a:solidFill>
                  <a:srgbClr val="16A34A"/>
                </a:solidFill>
                <a:effectLst/>
                <a:uFillTx/>
                <a:latin typeface="Microsoft YaHei"/>
                <a:ea typeface="Microsoft YaHei"/>
              </a:rPr>
              <a:t>次上调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fusion-desc"/>
          <p:cNvSpPr/>
          <p:nvPr/>
        </p:nvSpPr>
        <p:spPr>
          <a:xfrm>
            <a:off x="6903720" y="2926080"/>
            <a:ext cx="4525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总调整量 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0 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到 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0.12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，平均绝对调整量 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0.0502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fusion-note"/>
          <p:cNvSpPr/>
          <p:nvPr/>
        </p:nvSpPr>
        <p:spPr>
          <a:xfrm>
            <a:off x="6903720" y="4133160"/>
            <a:ext cx="4525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3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设计意图是微调而非颠覆 </a:t>
            </a:r>
            <a:r>
              <a:rPr lang="en-US" sz="13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LightGBM </a:t>
            </a:r>
            <a:r>
              <a:rPr lang="zh-CN" sz="13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原始概率。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overall"/>
          <p:cNvSpPr/>
          <p:nvPr/>
        </p:nvSpPr>
        <p:spPr>
          <a:xfrm>
            <a:off x="914400" y="5650920"/>
            <a:ext cx="10606680" cy="383760"/>
          </a:xfrm>
          <a:prstGeom prst="rect">
            <a:avLst/>
          </a:prstGeom>
          <a:solidFill>
            <a:srgbClr val="ECFDF5"/>
          </a:solidFill>
          <a:ln w="0">
            <a:solidFill>
              <a:srgbClr val="99F6E4"/>
            </a:solidFill>
          </a:ln>
        </p:spPr>
        <p:style>
          <a:lnRef idx="0"/>
          <a:fillRef idx="0"/>
          <a:effectRef idx="0"/>
          <a:fontRef idx="minor"/>
        </p:style>
        <p:txBody>
          <a:bodyPr lIns="73080" tIns="52200" rIns="73080" bIns="5220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实验结论：双模型既利用了短期血压趋势，又保持了分类模型的稳定判断。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op-band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lide-title"/>
          <p:cNvSpPr/>
          <p:nvPr/>
        </p:nvSpPr>
        <p:spPr>
          <a:xfrm>
            <a:off x="502920" y="329040"/>
            <a:ext cx="8595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总结与展望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age-no"/>
          <p:cNvSpPr/>
          <p:nvPr/>
        </p:nvSpPr>
        <p:spPr>
          <a:xfrm>
            <a:off x="10972800" y="3474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lide-subtitle"/>
          <p:cNvSpPr/>
          <p:nvPr/>
        </p:nvSpPr>
        <p:spPr>
          <a:xfrm>
            <a:off x="511920" y="786240"/>
            <a:ext cx="8960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本系统定位为健康管理辅助参考，不输出临床诊断或治疗方案。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ection"/>
          <p:cNvSpPr/>
          <p:nvPr/>
        </p:nvSpPr>
        <p:spPr>
          <a:xfrm>
            <a:off x="9601200" y="3474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050" b="0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总结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card-bg-10"/>
          <p:cNvSpPr/>
          <p:nvPr/>
        </p:nvSpPr>
        <p:spPr>
          <a:xfrm>
            <a:off x="777240" y="1234440"/>
            <a:ext cx="3337200" cy="126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card-accent-10"/>
          <p:cNvSpPr/>
          <p:nvPr/>
        </p:nvSpPr>
        <p:spPr>
          <a:xfrm>
            <a:off x="777240" y="1234440"/>
            <a:ext cx="109440" cy="126144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card-title-10"/>
          <p:cNvSpPr/>
          <p:nvPr/>
        </p:nvSpPr>
        <p:spPr>
          <a:xfrm>
            <a:off x="1005840" y="1398960"/>
            <a:ext cx="301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完成工作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card-body-10"/>
          <p:cNvSpPr/>
          <p:nvPr/>
        </p:nvSpPr>
        <p:spPr>
          <a:xfrm>
            <a:off x="1005840" y="176472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实现普通用户血压记录、风险因素维护、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7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天预测、历史记录与建议展示。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card-bg-14"/>
          <p:cNvSpPr/>
          <p:nvPr/>
        </p:nvSpPr>
        <p:spPr>
          <a:xfrm>
            <a:off x="4434840" y="1234440"/>
            <a:ext cx="3337200" cy="126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card-accent-14"/>
          <p:cNvSpPr/>
          <p:nvPr/>
        </p:nvSpPr>
        <p:spPr>
          <a:xfrm>
            <a:off x="4434840" y="1234440"/>
            <a:ext cx="109440" cy="126144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card-title-14"/>
          <p:cNvSpPr/>
          <p:nvPr/>
        </p:nvSpPr>
        <p:spPr>
          <a:xfrm>
            <a:off x="4663440" y="1398960"/>
            <a:ext cx="301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核心创新点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card-body-14"/>
          <p:cNvSpPr/>
          <p:nvPr/>
        </p:nvSpPr>
        <p:spPr>
          <a:xfrm>
            <a:off x="4663440" y="176472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Prophet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预测期血压特征接入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LightGBM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，并加入可追溯趋势融合。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card-bg-18"/>
          <p:cNvSpPr/>
          <p:nvPr/>
        </p:nvSpPr>
        <p:spPr>
          <a:xfrm>
            <a:off x="8092440" y="1234440"/>
            <a:ext cx="3337200" cy="126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card-accent-18"/>
          <p:cNvSpPr/>
          <p:nvPr/>
        </p:nvSpPr>
        <p:spPr>
          <a:xfrm>
            <a:off x="8092440" y="1234440"/>
            <a:ext cx="109440" cy="126144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card-title-18"/>
          <p:cNvSpPr/>
          <p:nvPr/>
        </p:nvSpPr>
        <p:spPr>
          <a:xfrm>
            <a:off x="8321040" y="1398960"/>
            <a:ext cx="301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实验支撑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card-body-18"/>
          <p:cNvSpPr/>
          <p:nvPr/>
        </p:nvSpPr>
        <p:spPr>
          <a:xfrm>
            <a:off x="8321040" y="176472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召回优先模型减少漏判；血压特征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gain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占比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93.7%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；融合幅度受控。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future-bg"/>
          <p:cNvSpPr/>
          <p:nvPr/>
        </p:nvSpPr>
        <p:spPr>
          <a:xfrm>
            <a:off x="1005840" y="3337560"/>
            <a:ext cx="1014948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future-title"/>
          <p:cNvSpPr/>
          <p:nvPr/>
        </p:nvSpPr>
        <p:spPr>
          <a:xfrm>
            <a:off x="1325880" y="3611880"/>
            <a:ext cx="9509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8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后续展望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future-points"/>
          <p:cNvSpPr/>
          <p:nvPr/>
        </p:nvSpPr>
        <p:spPr>
          <a:xfrm>
            <a:off x="1325880" y="4069080"/>
            <a:ext cx="9509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18360" rIns="36720" bIns="1836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sz="1380" b="1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数据维度：</a:t>
            </a:r>
            <a:r>
              <a:rPr lang="zh-CN" sz="138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纳入盐摄入、睡眠、运动、饮食等生活方式变量。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sz="1380" b="1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模型验证：</a:t>
            </a:r>
            <a:r>
              <a:rPr lang="zh-CN" sz="138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引入更多来源数据，评估泛化能力、概率校准和阈值稳定性。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hanks"/>
          <p:cNvSpPr/>
          <p:nvPr/>
        </p:nvSpPr>
        <p:spPr>
          <a:xfrm>
            <a:off x="822960" y="5532120"/>
            <a:ext cx="10698120" cy="50256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0"/>
          <a:fillRef idx="0"/>
          <a:effectRef idx="0"/>
          <a:fontRef idx="minor"/>
        </p:style>
        <p:txBody>
          <a:bodyPr lIns="73080" tIns="52200" rIns="73080" bIns="52200" anchor="t">
            <a:noAutofit/>
          </a:bodyPr>
          <a:p>
            <a:pPr>
              <a:lnSpc>
                <a:spcPct val="100000"/>
              </a:lnSpc>
            </a:pPr>
            <a:r>
              <a:rPr lang="zh-CN" sz="25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谢谢各位老师，欢迎批评指正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Codex</dc:creator>
  <dc:description/>
  <dc:language>zh-CN</dc:language>
  <cp:lastModifiedBy>Codex</cp:lastModifiedBy>
  <cp:revision>0</cp:revision>
  <dc:subject/>
  <dc:title>基于Prophet与LightGBM的高血压风险预测系统-本科答辩PPT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r8>10</vt:r8>
  </property>
</Properties>
</file>