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1261" r:id="rId3"/>
    <p:sldId id="1253" r:id="rId4"/>
    <p:sldId id="1257" r:id="rId5"/>
    <p:sldId id="1258" r:id="rId6"/>
    <p:sldId id="1259" r:id="rId7"/>
    <p:sldId id="1260" r:id="rId8"/>
    <p:sldId id="1256" r:id="rId9"/>
    <p:sldId id="1254" r:id="rId10"/>
    <p:sldId id="1255" r:id="rId11"/>
    <p:sldId id="1234" r:id="rId12"/>
    <p:sldId id="1236" r:id="rId13"/>
    <p:sldId id="1237" r:id="rId14"/>
    <p:sldId id="1238" r:id="rId15"/>
    <p:sldId id="1239" r:id="rId16"/>
    <p:sldId id="1240" r:id="rId17"/>
    <p:sldId id="1241" r:id="rId18"/>
    <p:sldId id="1242" r:id="rId19"/>
    <p:sldId id="1243" r:id="rId20"/>
    <p:sldId id="1244" r:id="rId21"/>
    <p:sldId id="1252" r:id="rId22"/>
    <p:sldId id="1202" r:id="rId23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99"/>
    <a:srgbClr val="009900"/>
    <a:srgbClr val="0066FF"/>
    <a:srgbClr val="FF00FF"/>
    <a:srgbClr val="3399FF"/>
    <a:srgbClr val="6DD5CB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86496" autoAdjust="0"/>
  </p:normalViewPr>
  <p:slideViewPr>
    <p:cSldViewPr showGuides="1">
      <p:cViewPr varScale="1">
        <p:scale>
          <a:sx n="63" d="100"/>
          <a:sy n="63" d="100"/>
        </p:scale>
        <p:origin x="15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2" d="100"/>
        <a:sy n="82" d="100"/>
      </p:scale>
      <p:origin x="0" y="6852"/>
    </p:cViewPr>
  </p:sorterViewPr>
  <p:notesViewPr>
    <p:cSldViewPr>
      <p:cViewPr varScale="1">
        <p:scale>
          <a:sx n="37" d="100"/>
          <a:sy n="37" d="100"/>
        </p:scale>
        <p:origin x="-1589" y="-91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82020A5-5605-428B-A079-225922B657B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86F3111-DFCA-4274-9B5D-C7324937E9C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043608" y="116868"/>
            <a:ext cx="7643192" cy="575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/>
            <a:r>
              <a:rPr lang="zh-CN" altLang="en-US" dirty="0" smtClean="0"/>
              <a:t>标题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9"/>
          <p:cNvSpPr txBox="1">
            <a:spLocks noChangeArrowheads="1"/>
          </p:cNvSpPr>
          <p:nvPr userDrawn="1"/>
        </p:nvSpPr>
        <p:spPr bwMode="auto">
          <a:xfrm>
            <a:off x="6443663" y="333375"/>
            <a:ext cx="2232025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mtClean="0"/>
              <a:t>     </a:t>
            </a:r>
            <a:endParaRPr lang="zh-CN" altLang="en-US" smtClean="0"/>
          </a:p>
        </p:txBody>
      </p:sp>
      <p:pic>
        <p:nvPicPr>
          <p:cNvPr id="1027" name="Picture 7" descr="7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381750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9"/>
          <p:cNvSpPr>
            <a:spLocks noChangeArrowheads="1"/>
          </p:cNvSpPr>
          <p:nvPr userDrawn="1"/>
        </p:nvSpPr>
        <p:spPr bwMode="auto">
          <a:xfrm>
            <a:off x="7164388" y="6462713"/>
            <a:ext cx="1979612" cy="33655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de-DE" altLang="zh-CN" sz="1600" b="1" dirty="0">
                <a:solidFill>
                  <a:srgbClr val="404040"/>
                </a:solidFill>
                <a:ea typeface="微软雅黑" panose="020B0503020204020204" pitchFamily="34" charset="-122"/>
              </a:rPr>
              <a:t> </a:t>
            </a:r>
            <a:fld id="{67F16804-C26F-4618-9709-A80761227AAE}" type="slidenum">
              <a:rPr lang="de-DE" altLang="zh-CN" sz="1600" b="1">
                <a:solidFill>
                  <a:srgbClr val="404040"/>
                </a:solidFill>
                <a:ea typeface="微软雅黑" panose="020B0503020204020204" pitchFamily="34" charset="-122"/>
              </a:rPr>
            </a:fld>
            <a:endParaRPr lang="zh-CN" altLang="en-GB" sz="1600" b="1" dirty="0">
              <a:solidFill>
                <a:srgbClr val="404040"/>
              </a:solidFill>
              <a:ea typeface="微软雅黑" panose="020B0503020204020204" pitchFamily="34" charset="-122"/>
            </a:endParaRPr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285750" y="765175"/>
            <a:ext cx="8820150" cy="53975"/>
          </a:xfrm>
          <a:prstGeom prst="rect">
            <a:avLst/>
          </a:prstGeom>
          <a:gradFill rotWithShape="1">
            <a:gsLst>
              <a:gs pos="0">
                <a:srgbClr val="DE3500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117475"/>
            <a:ext cx="7643812" cy="574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标题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59595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毕业答辩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时间节点</a:t>
            </a:r>
            <a:endParaRPr lang="zh-CN" altLang="en-US" sz="2800" b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/>
        </p:nvSpPr>
        <p:spPr bwMode="auto">
          <a:xfrm>
            <a:off x="461468" y="836712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1</a:t>
            </a:r>
            <a:r>
              <a:rPr lang="zh-CN" altLang="zh-CN" dirty="0"/>
              <a:t>、论文初稿发给指导老师时间：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1-5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左右。</a:t>
            </a:r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zh-CN" dirty="0"/>
              <a:t>、论文查重：</a:t>
            </a:r>
            <a:r>
              <a:rPr lang="en-US" altLang="zh-CN" dirty="0"/>
              <a:t>5</a:t>
            </a:r>
            <a:r>
              <a:rPr lang="zh-CN" altLang="en-US" dirty="0"/>
              <a:t>月中旬</a:t>
            </a:r>
            <a:r>
              <a:rPr lang="en-US" altLang="zh-CN" dirty="0"/>
              <a:t>-</a:t>
            </a:r>
            <a:r>
              <a:rPr lang="zh-CN" altLang="en-US" dirty="0"/>
              <a:t>五月下旬</a:t>
            </a:r>
            <a:endParaRPr lang="zh-CN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、答辩时间：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30-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/>
              <a:t>31</a:t>
            </a:r>
            <a:r>
              <a:rPr lang="zh-CN" altLang="en-US" dirty="0"/>
              <a:t>普通答辩</a:t>
            </a:r>
            <a:r>
              <a:rPr lang="zh-CN" altLang="en-US" dirty="0">
                <a:sym typeface="+mn-ea"/>
              </a:rPr>
              <a:t>（已签约或考研已录取同学可以优先选择答辩时间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2</a:t>
            </a:r>
            <a:r>
              <a:rPr lang="zh-CN" altLang="en-US" dirty="0"/>
              <a:t>号</a:t>
            </a:r>
            <a:r>
              <a:rPr lang="zh-CN" altLang="en-US" dirty="0"/>
              <a:t>推优答辩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毕业答辩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出现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的问题（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61468" y="836712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zh-CN" dirty="0"/>
              <a:t>、论文内容上 逻辑关系混乱、章节设置不合理、摘要字数不符合要求，结论只有一两行字等</a:t>
            </a:r>
            <a:endParaRPr lang="zh-CN" altLang="zh-CN" dirty="0"/>
          </a:p>
          <a:p>
            <a:r>
              <a:rPr lang="en-US" altLang="zh-CN" dirty="0"/>
              <a:t>2</a:t>
            </a:r>
            <a:r>
              <a:rPr lang="zh-CN" altLang="zh-CN" dirty="0"/>
              <a:t>、论文格式不符合规范，问题较多，例如页眉页脚、页面布局、对齐方式不统一、排版混乱等</a:t>
            </a:r>
            <a:endParaRPr lang="zh-CN" altLang="zh-CN" dirty="0"/>
          </a:p>
          <a:p>
            <a:r>
              <a:rPr lang="en-US" altLang="zh-CN" dirty="0"/>
              <a:t>3</a:t>
            </a:r>
            <a:r>
              <a:rPr lang="zh-CN" altLang="zh-CN" dirty="0"/>
              <a:t>、程序源码上</a:t>
            </a:r>
            <a:r>
              <a:rPr lang="en-US" altLang="zh-CN" dirty="0"/>
              <a:t> 1</a:t>
            </a:r>
            <a:r>
              <a:rPr lang="zh-CN" altLang="zh-CN" dirty="0"/>
              <a:t>）项目功能和论文中不一致、</a:t>
            </a:r>
            <a:r>
              <a:rPr lang="en-US" altLang="zh-CN" dirty="0"/>
              <a:t>2</a:t>
            </a:r>
            <a:r>
              <a:rPr lang="zh-CN" altLang="zh-CN" dirty="0"/>
              <a:t>）系统设计功能简单、</a:t>
            </a:r>
            <a:r>
              <a:rPr lang="en-US" altLang="zh-CN" dirty="0"/>
              <a:t>3</a:t>
            </a:r>
            <a:r>
              <a:rPr lang="zh-CN" altLang="zh-CN" dirty="0"/>
              <a:t>）项目功能重复度较高，例如购物类，很多操作的细节都一样，</a:t>
            </a:r>
            <a:r>
              <a:rPr lang="en-US" altLang="zh-CN" dirty="0"/>
              <a:t>4</a:t>
            </a:r>
            <a:r>
              <a:rPr lang="zh-CN" altLang="zh-CN" dirty="0"/>
              <a:t>）个别同学的项目，显示是</a:t>
            </a:r>
            <a:r>
              <a:rPr lang="en-US" altLang="zh-CN" dirty="0"/>
              <a:t>21</a:t>
            </a:r>
            <a:r>
              <a:rPr lang="zh-CN" altLang="zh-CN" dirty="0"/>
              <a:t>年或者</a:t>
            </a:r>
            <a:r>
              <a:rPr lang="en-US" altLang="zh-CN" dirty="0"/>
              <a:t>22</a:t>
            </a:r>
            <a:r>
              <a:rPr lang="zh-CN" altLang="zh-CN" dirty="0"/>
              <a:t>年的，怀疑代码的原创性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毕业答辩</a:t>
            </a:r>
            <a:r>
              <a:rPr lang="en-US" altLang="zh-CN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出现的问题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61468" y="836712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lvl="0"/>
            <a:r>
              <a:rPr lang="zh-CN" altLang="zh-CN" dirty="0"/>
              <a:t>题目与系统中不一致</a:t>
            </a:r>
            <a:endParaRPr lang="zh-CN" altLang="zh-CN" dirty="0"/>
          </a:p>
          <a:p>
            <a:pPr lvl="0"/>
            <a:r>
              <a:rPr lang="zh-CN" altLang="zh-CN" dirty="0"/>
              <a:t>题目修饰词</a:t>
            </a:r>
            <a:r>
              <a:rPr lang="zh-CN" altLang="zh-CN" dirty="0" smtClean="0"/>
              <a:t>“计时外卖” ，</a:t>
            </a:r>
            <a:r>
              <a:rPr lang="zh-CN" altLang="zh-CN" dirty="0"/>
              <a:t>“智能”均未实现</a:t>
            </a:r>
            <a:endParaRPr lang="zh-CN" altLang="zh-CN" dirty="0"/>
          </a:p>
          <a:p>
            <a:pPr lvl="0"/>
            <a:r>
              <a:rPr lang="zh-CN" altLang="zh-CN" dirty="0"/>
              <a:t>文不对题，人员管理系统内容做的是教务管理系统等</a:t>
            </a:r>
            <a:endParaRPr lang="zh-CN" altLang="zh-CN" dirty="0"/>
          </a:p>
          <a:p>
            <a:pPr lvl="0"/>
            <a:r>
              <a:rPr lang="zh-CN" altLang="zh-CN" dirty="0"/>
              <a:t>工作量严重不足</a:t>
            </a:r>
            <a:endParaRPr lang="zh-CN" altLang="zh-CN" dirty="0"/>
          </a:p>
          <a:p>
            <a:pPr lvl="0"/>
            <a:r>
              <a:rPr lang="zh-CN" altLang="zh-CN" dirty="0"/>
              <a:t>摘要题目错误，或者和中文摘要不</a:t>
            </a:r>
            <a:r>
              <a:rPr lang="zh-CN" altLang="zh-CN" dirty="0" smtClean="0"/>
              <a:t>对应</a:t>
            </a:r>
            <a:endParaRPr lang="zh-CN" altLang="zh-CN" dirty="0" smtClean="0"/>
          </a:p>
          <a:p>
            <a:pPr lvl="0"/>
            <a:r>
              <a:rPr lang="zh-CN" altLang="zh-CN" dirty="0" smtClean="0"/>
              <a:t>结构混乱，实现章节之后是技术介绍，或者设计阶段展示效果图</a:t>
            </a: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毕业答辩</a:t>
            </a:r>
            <a:r>
              <a:rPr lang="en-US" altLang="zh-CN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出现的问题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61468" y="836712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lvl="0"/>
            <a:r>
              <a:rPr lang="zh-CN" altLang="zh-CN" dirty="0"/>
              <a:t>很多学生</a:t>
            </a:r>
            <a:r>
              <a:rPr lang="en-US" altLang="zh-CN" dirty="0"/>
              <a:t>ER</a:t>
            </a:r>
            <a:r>
              <a:rPr lang="zh-CN" altLang="zh-CN" dirty="0"/>
              <a:t>图不对，</a:t>
            </a:r>
            <a:r>
              <a:rPr lang="en-US" altLang="zh-CN" dirty="0"/>
              <a:t>ER</a:t>
            </a:r>
            <a:r>
              <a:rPr lang="zh-CN" altLang="zh-CN" dirty="0"/>
              <a:t>图和数据库表联系不起来，数据库表的字段，数据类型等乱写，跟系统实现功能对不上。个别学生不知道什么是主键。</a:t>
            </a:r>
            <a:endParaRPr lang="zh-CN" altLang="zh-CN" dirty="0"/>
          </a:p>
          <a:p>
            <a:pPr lvl="0"/>
            <a:r>
              <a:rPr lang="zh-CN" altLang="zh-CN" dirty="0"/>
              <a:t>学生答辩说不清自己程序实现的业务逻辑关系。</a:t>
            </a:r>
            <a:endParaRPr lang="zh-CN" altLang="zh-CN" dirty="0"/>
          </a:p>
          <a:p>
            <a:pPr lvl="0"/>
            <a:r>
              <a:rPr lang="zh-CN" altLang="zh-CN" dirty="0"/>
              <a:t>有的学生论文做的内容跟题目不对照或关系不紧密，题目看着很好，系统实现其实并没有使用。</a:t>
            </a:r>
            <a:endParaRPr lang="zh-CN" altLang="zh-CN" dirty="0"/>
          </a:p>
          <a:p>
            <a:pPr lvl="0"/>
            <a:r>
              <a:rPr lang="zh-CN" altLang="zh-CN" dirty="0" smtClean="0"/>
              <a:t>缺少前言</a:t>
            </a:r>
            <a:endParaRPr lang="zh-CN" altLang="zh-CN" dirty="0" smtClean="0"/>
          </a:p>
          <a:p>
            <a:pPr lvl="0"/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毕业答辩</a:t>
            </a:r>
            <a:r>
              <a:rPr lang="en-US" altLang="zh-CN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出现的问题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61468" y="836712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lvl="0"/>
            <a:r>
              <a:rPr lang="zh-CN" altLang="zh-CN" dirty="0"/>
              <a:t>没有数据库表或个数很少</a:t>
            </a:r>
            <a:endParaRPr lang="zh-CN" altLang="zh-CN" dirty="0"/>
          </a:p>
          <a:p>
            <a:pPr lvl="0"/>
            <a:r>
              <a:rPr lang="zh-CN" altLang="zh-CN" dirty="0"/>
              <a:t>数据库表错误</a:t>
            </a:r>
            <a:endParaRPr lang="zh-CN" altLang="zh-CN" dirty="0"/>
          </a:p>
          <a:p>
            <a:pPr lvl="0"/>
            <a:r>
              <a:rPr lang="en-US" altLang="zh-CN" dirty="0"/>
              <a:t>ER</a:t>
            </a:r>
            <a:r>
              <a:rPr lang="zh-CN" altLang="zh-CN" dirty="0"/>
              <a:t>图缺失或</a:t>
            </a:r>
            <a:r>
              <a:rPr lang="zh-CN" altLang="zh-CN" dirty="0" smtClean="0"/>
              <a:t>错误</a:t>
            </a:r>
            <a:endParaRPr lang="en-US" altLang="zh-CN" dirty="0" smtClean="0"/>
          </a:p>
          <a:p>
            <a:pPr lvl="0"/>
            <a:r>
              <a:rPr lang="zh-CN" altLang="zh-CN" dirty="0" smtClean="0"/>
              <a:t>结论全是感想</a:t>
            </a:r>
            <a:endParaRPr lang="zh-CN" altLang="zh-CN" dirty="0" smtClean="0"/>
          </a:p>
          <a:p>
            <a:pPr lvl="0"/>
            <a:r>
              <a:rPr lang="zh-CN" altLang="zh-CN" dirty="0" smtClean="0"/>
              <a:t>没有英文资料翻译，或将中文翻译成英文，或英文文献不完整</a:t>
            </a:r>
            <a:endParaRPr lang="zh-CN" altLang="zh-CN" dirty="0" smtClean="0"/>
          </a:p>
          <a:p>
            <a:pPr lvl="0"/>
            <a:r>
              <a:rPr lang="zh-CN" altLang="zh-CN" dirty="0" smtClean="0"/>
              <a:t>格式很差</a:t>
            </a:r>
            <a:endParaRPr lang="zh-CN" altLang="zh-CN" dirty="0" smtClean="0"/>
          </a:p>
          <a:p>
            <a:pPr lvl="0"/>
            <a:r>
              <a:rPr lang="zh-CN" altLang="zh-CN" dirty="0" smtClean="0"/>
              <a:t>修改之后总找答辩组看，而没有发给指导老师或者反馈让学生找答辩组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毕业答辩</a:t>
            </a:r>
            <a:r>
              <a:rPr lang="en-US" altLang="zh-CN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出现的问题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61468" y="836712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lvl="0"/>
            <a:r>
              <a:rPr lang="zh-CN" altLang="en-US" dirty="0" smtClean="0"/>
              <a:t>个别</a:t>
            </a:r>
            <a:r>
              <a:rPr lang="zh-CN" altLang="en-US" dirty="0"/>
              <a:t>学生文不对题，比如题目是什么什么游戏，但做的是管理系统；</a:t>
            </a:r>
            <a:br>
              <a:rPr lang="zh-CN" altLang="en-US" dirty="0"/>
            </a:br>
            <a:r>
              <a:rPr lang="zh-CN" altLang="en-US" dirty="0" smtClean="0"/>
              <a:t>部分</a:t>
            </a:r>
            <a:r>
              <a:rPr lang="zh-CN" altLang="en-US" dirty="0"/>
              <a:t>学生论文格式没有修改，不仅仅是细节的小问题，很多地方体现的是没有看模板的格式，个别论文带有批注，图、表的编号严重错误，格式问题严重影响论文的成绩；</a:t>
            </a:r>
            <a:br>
              <a:rPr lang="zh-CN" altLang="en-US" dirty="0"/>
            </a:br>
            <a:r>
              <a:rPr lang="zh-CN" altLang="en-US" dirty="0" smtClean="0"/>
              <a:t>为了</a:t>
            </a:r>
            <a:r>
              <a:rPr lang="zh-CN" altLang="en-US" dirty="0"/>
              <a:t>查重，部分学生把表中的数据改成很大的数；</a:t>
            </a:r>
            <a:br>
              <a:rPr lang="zh-CN" altLang="en-US" dirty="0"/>
            </a:br>
            <a:r>
              <a:rPr lang="zh-CN" altLang="en-US" dirty="0" smtClean="0"/>
              <a:t>个别</a:t>
            </a:r>
            <a:r>
              <a:rPr lang="zh-CN" altLang="en-US" dirty="0"/>
              <a:t>学生论文的内容顺序不符合软件工程的开发过程；</a:t>
            </a:r>
            <a:br>
              <a:rPr lang="zh-CN" altLang="en-US" dirty="0"/>
            </a:b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应注意的问题（</a:t>
            </a:r>
            <a:r>
              <a:rPr lang="en-US" altLang="zh-CN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2800" b="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zh-CN" sz="2400" dirty="0" smtClean="0"/>
              <a:t>论文正文尽量少一些大段描述性文字，多使用软件工程专业的图表</a:t>
            </a:r>
            <a:endParaRPr lang="en-US" altLang="zh-CN" sz="2400" dirty="0" smtClean="0"/>
          </a:p>
          <a:p>
            <a:r>
              <a:rPr lang="zh-CN" altLang="en-US" sz="2400" dirty="0" smtClean="0"/>
              <a:t>论文中不要出现</a:t>
            </a:r>
            <a:r>
              <a:rPr lang="zh-CN" altLang="en-US" sz="2400" dirty="0" smtClean="0">
                <a:solidFill>
                  <a:srgbClr val="FF0000"/>
                </a:solidFill>
              </a:rPr>
              <a:t>你我他</a:t>
            </a:r>
            <a:r>
              <a:rPr lang="zh-CN" altLang="en-US" sz="2400" dirty="0" smtClean="0"/>
              <a:t>等人称，可以用本课题、本文等用词。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应注意的问题（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lvl="0"/>
            <a:r>
              <a:rPr lang="zh-CN" altLang="zh-CN" sz="2400" dirty="0" smtClean="0"/>
              <a:t>论文中除界面效果图可以使用截图，其他</a:t>
            </a:r>
            <a:r>
              <a:rPr lang="zh-CN" altLang="en-US" sz="2400" dirty="0" smtClean="0"/>
              <a:t>如数据库表等</a:t>
            </a:r>
            <a:r>
              <a:rPr lang="zh-CN" altLang="zh-CN" sz="2400" dirty="0" smtClean="0">
                <a:solidFill>
                  <a:srgbClr val="FF0000"/>
                </a:solidFill>
              </a:rPr>
              <a:t>不</a:t>
            </a:r>
            <a:r>
              <a:rPr lang="zh-CN" altLang="en-US" sz="2400" dirty="0" smtClean="0">
                <a:solidFill>
                  <a:srgbClr val="FF0000"/>
                </a:solidFill>
              </a:rPr>
              <a:t>允许</a:t>
            </a:r>
            <a:r>
              <a:rPr lang="zh-CN" altLang="zh-CN" sz="2400" dirty="0" smtClean="0"/>
              <a:t>使用截图，比如有些同学为了查重，把一些文字</a:t>
            </a:r>
            <a:r>
              <a:rPr lang="zh-CN" altLang="en-US" sz="2400" dirty="0" smtClean="0"/>
              <a:t>、</a:t>
            </a:r>
            <a:r>
              <a:rPr lang="zh-CN" altLang="zh-CN" sz="2400" dirty="0" smtClean="0"/>
              <a:t>图表使用</a:t>
            </a:r>
            <a:r>
              <a:rPr lang="zh-CN" altLang="en-US" sz="2400" dirty="0" smtClean="0"/>
              <a:t>截</a:t>
            </a:r>
            <a:r>
              <a:rPr lang="zh-CN" altLang="zh-CN" sz="2400" dirty="0" smtClean="0"/>
              <a:t>图来降低复制比。</a:t>
            </a:r>
            <a:endParaRPr lang="zh-CN" altLang="zh-CN" sz="2400" dirty="0" smtClean="0"/>
          </a:p>
          <a:p>
            <a:pPr lvl="0"/>
            <a:r>
              <a:rPr lang="zh-CN" altLang="zh-CN" sz="2400" dirty="0" smtClean="0"/>
              <a:t>论文中每个章节需要有以下图表（不限于）：</a:t>
            </a:r>
            <a:endParaRPr lang="zh-CN" altLang="zh-CN" sz="2400" dirty="0" smtClean="0"/>
          </a:p>
          <a:p>
            <a:pPr lvl="1"/>
            <a:r>
              <a:rPr lang="zh-CN" altLang="zh-CN" sz="2000" dirty="0" smtClean="0"/>
              <a:t>需求分析：系统业务流程图、总体框架图</a:t>
            </a:r>
            <a:r>
              <a:rPr lang="zh-CN" altLang="en-US" sz="2000" dirty="0" smtClean="0"/>
              <a:t>等</a:t>
            </a:r>
            <a:endParaRPr lang="zh-CN" altLang="zh-CN" sz="2000" dirty="0" smtClean="0"/>
          </a:p>
          <a:p>
            <a:pPr lvl="1"/>
            <a:r>
              <a:rPr lang="zh-CN" altLang="zh-CN" sz="2000" dirty="0" smtClean="0"/>
              <a:t>系统设计：系统功能结构图、</a:t>
            </a:r>
            <a:r>
              <a:rPr lang="en-US" altLang="zh-CN" sz="2000" dirty="0" smtClean="0">
                <a:solidFill>
                  <a:srgbClr val="FF0000"/>
                </a:solidFill>
              </a:rPr>
              <a:t>E-R</a:t>
            </a:r>
            <a:r>
              <a:rPr lang="zh-CN" altLang="zh-CN" sz="2000" dirty="0" smtClean="0">
                <a:solidFill>
                  <a:srgbClr val="FF0000"/>
                </a:solidFill>
              </a:rPr>
              <a:t>图</a:t>
            </a:r>
            <a:r>
              <a:rPr lang="zh-CN" altLang="zh-CN" sz="2000" dirty="0" smtClean="0"/>
              <a:t>、数据库的表结构</a:t>
            </a:r>
            <a:r>
              <a:rPr lang="zh-CN" altLang="en-US" sz="2000" dirty="0" smtClean="0"/>
              <a:t>等</a:t>
            </a:r>
            <a:endParaRPr lang="zh-CN" altLang="zh-CN" sz="2000" dirty="0" smtClean="0"/>
          </a:p>
          <a:p>
            <a:pPr lvl="1"/>
            <a:r>
              <a:rPr lang="zh-CN" altLang="zh-CN" sz="2000" dirty="0" smtClean="0"/>
              <a:t>系统实现：界面效果图、流程图</a:t>
            </a:r>
            <a:r>
              <a:rPr lang="zh-CN" altLang="en-US" sz="2000" dirty="0" smtClean="0"/>
              <a:t>等</a:t>
            </a:r>
            <a:endParaRPr lang="zh-CN" altLang="zh-CN" sz="2000" dirty="0" smtClean="0"/>
          </a:p>
          <a:p>
            <a:pPr lvl="1"/>
            <a:r>
              <a:rPr lang="zh-CN" altLang="zh-CN" sz="2000" dirty="0" smtClean="0"/>
              <a:t>系统测试：测试用例表、测试结构表</a:t>
            </a:r>
            <a:endParaRPr lang="zh-CN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应注意的问题（</a:t>
            </a:r>
            <a:r>
              <a:rPr lang="en-US" altLang="zh-CN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2800" b="0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800" b="0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8130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zh-CN" sz="2400" dirty="0" smtClean="0"/>
              <a:t>论文正文里不要有程序代码，关键代码可以作为附录放到论文后面。论文正文尽量少一些大段描述性文字，多使用软件工程专业的图表</a:t>
            </a:r>
            <a:endParaRPr lang="en-US" altLang="zh-CN" sz="2400" dirty="0" smtClean="0"/>
          </a:p>
          <a:p>
            <a:r>
              <a:rPr lang="zh-CN" altLang="en-US" sz="2400" dirty="0" smtClean="0"/>
              <a:t>论文切忌以</a:t>
            </a:r>
            <a:r>
              <a:rPr lang="zh-CN" altLang="en-US" sz="2400" dirty="0" smtClean="0">
                <a:solidFill>
                  <a:srgbClr val="FF0000"/>
                </a:solidFill>
              </a:rPr>
              <a:t>空文档方式</a:t>
            </a:r>
            <a:r>
              <a:rPr lang="zh-CN" altLang="en-US" sz="2400" dirty="0" smtClean="0"/>
              <a:t>撰写，最好选择一个好的模板论文撰写，这样就不用专门进行页面设置。</a:t>
            </a:r>
            <a:endParaRPr lang="en-US" altLang="zh-CN" sz="2400" dirty="0" smtClean="0"/>
          </a:p>
          <a:p>
            <a:r>
              <a:rPr lang="zh-CN" altLang="en-US" sz="2400" dirty="0" smtClean="0"/>
              <a:t>不允许用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wps</a:t>
            </a:r>
            <a:r>
              <a:rPr lang="zh-CN" altLang="en-US" sz="2400" dirty="0" smtClean="0"/>
              <a:t>撰写论文，统一采用</a:t>
            </a:r>
            <a:r>
              <a:rPr lang="en-US" altLang="zh-CN" sz="2400" dirty="0" smtClean="0"/>
              <a:t>office-</a:t>
            </a:r>
            <a:r>
              <a:rPr lang="en-US" altLang="zh-CN" sz="2400" dirty="0" smtClean="0">
                <a:solidFill>
                  <a:srgbClr val="FF0000"/>
                </a:solidFill>
              </a:rPr>
              <a:t>Word</a:t>
            </a:r>
            <a:r>
              <a:rPr lang="zh-CN" altLang="en-US" sz="2400" dirty="0" smtClean="0"/>
              <a:t>撰写论文。</a:t>
            </a:r>
            <a:endParaRPr lang="en-US" altLang="zh-CN" sz="2400" dirty="0" smtClean="0"/>
          </a:p>
          <a:p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毕业设计说明书（论文）的内容要求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154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836613"/>
            <a:ext cx="8229600" cy="4525962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>
              <a:buFontTx/>
              <a:buNone/>
            </a:pPr>
            <a:r>
              <a:rPr lang="zh-CN" altLang="en-US" sz="2400" dirty="0" smtClean="0"/>
              <a:t>毕业设计说明书（论文）要求内容层次分明、文理通顺、数据可靠、文字简练、说明透彻、立论正确、推理严谨。</a:t>
            </a:r>
            <a:endParaRPr lang="zh-CN" altLang="en-US" sz="2400" dirty="0" smtClean="0"/>
          </a:p>
          <a:p>
            <a:r>
              <a:rPr lang="zh-CN" altLang="en-US" sz="2400" dirty="0" smtClean="0"/>
              <a:t>毕业设计（论文）的结构应包括如下内容：</a:t>
            </a:r>
            <a:endParaRPr lang="zh-CN" altLang="en-US" sz="2400" dirty="0" smtClean="0"/>
          </a:p>
          <a:p>
            <a:r>
              <a:rPr lang="en-US" altLang="zh-CN" sz="2400" dirty="0" smtClean="0"/>
              <a:t>1.</a:t>
            </a:r>
            <a:r>
              <a:rPr lang="zh-CN" altLang="en-US" sz="2400" dirty="0" smtClean="0"/>
              <a:t>封面；</a:t>
            </a:r>
            <a:endParaRPr lang="zh-CN" altLang="en-US" sz="2400" dirty="0" smtClean="0"/>
          </a:p>
          <a:p>
            <a:r>
              <a:rPr lang="en-US" altLang="zh-CN" sz="2400" dirty="0" smtClean="0"/>
              <a:t>2.</a:t>
            </a:r>
            <a:r>
              <a:rPr lang="zh-CN" altLang="en-US" sz="2400" dirty="0" smtClean="0"/>
              <a:t>学位论文写作声明、使用授权说明；</a:t>
            </a:r>
            <a:endParaRPr lang="zh-CN" altLang="en-US" sz="2400" dirty="0" smtClean="0"/>
          </a:p>
          <a:p>
            <a:r>
              <a:rPr lang="en-US" altLang="zh-CN" sz="2400" dirty="0" smtClean="0"/>
              <a:t>3.</a:t>
            </a:r>
            <a:r>
              <a:rPr lang="zh-CN" altLang="en-US" sz="2400" dirty="0" smtClean="0"/>
              <a:t>中英文摘要（含关键词）；</a:t>
            </a:r>
            <a:endParaRPr lang="zh-CN" altLang="en-US" sz="2400" dirty="0" smtClean="0"/>
          </a:p>
          <a:p>
            <a:r>
              <a:rPr lang="en-US" altLang="zh-CN" sz="2400" dirty="0" smtClean="0"/>
              <a:t>4.</a:t>
            </a:r>
            <a:r>
              <a:rPr lang="zh-CN" altLang="en-US" sz="2400" dirty="0" smtClean="0"/>
              <a:t>目录；</a:t>
            </a:r>
            <a:endParaRPr lang="zh-CN" altLang="en-US" sz="2400" dirty="0" smtClean="0"/>
          </a:p>
          <a:p>
            <a:r>
              <a:rPr lang="en-US" altLang="zh-CN" sz="2400" dirty="0" smtClean="0"/>
              <a:t>5.</a:t>
            </a:r>
            <a:r>
              <a:rPr lang="zh-CN" altLang="en-US" sz="2400" dirty="0" smtClean="0"/>
              <a:t>正文；</a:t>
            </a:r>
            <a:endParaRPr lang="zh-CN" altLang="en-US" sz="2400" dirty="0" smtClean="0"/>
          </a:p>
          <a:p>
            <a:r>
              <a:rPr lang="en-US" altLang="zh-CN" sz="2400" dirty="0" smtClean="0"/>
              <a:t>6.</a:t>
            </a:r>
            <a:r>
              <a:rPr lang="zh-CN" altLang="en-US" sz="2400" dirty="0" smtClean="0"/>
              <a:t>参考文献；</a:t>
            </a:r>
            <a:endParaRPr lang="zh-CN" altLang="en-US" sz="2400" dirty="0" smtClean="0"/>
          </a:p>
          <a:p>
            <a:r>
              <a:rPr lang="en-US" altLang="zh-CN" sz="2400" dirty="0" smtClean="0"/>
              <a:t>7.</a:t>
            </a:r>
            <a:r>
              <a:rPr lang="zh-CN" altLang="en-US" sz="2400" dirty="0" smtClean="0"/>
              <a:t>致谢；</a:t>
            </a:r>
            <a:endParaRPr lang="zh-CN" altLang="en-US" sz="2400" dirty="0" smtClean="0"/>
          </a:p>
          <a:p>
            <a:r>
              <a:rPr lang="en-US" altLang="zh-CN" sz="2400" dirty="0" smtClean="0"/>
              <a:t>8.</a:t>
            </a:r>
            <a:r>
              <a:rPr lang="zh-CN" altLang="en-US" sz="2400" dirty="0" smtClean="0"/>
              <a:t>附录；</a:t>
            </a:r>
            <a:endParaRPr lang="zh-CN" altLang="en-US" sz="2400" dirty="0" smtClean="0"/>
          </a:p>
          <a:p>
            <a:r>
              <a:rPr lang="en-US" altLang="zh-CN" sz="2400" dirty="0" smtClean="0"/>
              <a:t>9.</a:t>
            </a:r>
            <a:r>
              <a:rPr lang="zh-CN" altLang="en-US" sz="2400" dirty="0" smtClean="0"/>
              <a:t>封底。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这个实际没有</a:t>
            </a:r>
            <a:r>
              <a:rPr lang="en-US" altLang="zh-CN" sz="2400" dirty="0" smtClean="0"/>
              <a:t>)</a:t>
            </a:r>
            <a:endParaRPr lang="zh-CN" altLang="en-US" sz="2400" dirty="0" smtClean="0"/>
          </a:p>
          <a:p>
            <a:pPr marL="0" indent="0">
              <a:buNone/>
            </a:pP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中英文摘要</a:t>
            </a:r>
            <a:endParaRPr lang="zh-CN" altLang="en-US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4259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dirty="0" smtClean="0"/>
              <a:t>扼要概括论文的主要内容和观点，语言精练、明确，语句流畅；英文摘要须与中文摘要内容相对应；中文摘要约</a:t>
            </a:r>
            <a:r>
              <a:rPr lang="en-US" altLang="zh-CN" sz="2400" dirty="0" smtClean="0">
                <a:solidFill>
                  <a:srgbClr val="FF0000"/>
                </a:solidFill>
              </a:rPr>
              <a:t>300―500</a:t>
            </a:r>
            <a:r>
              <a:rPr lang="zh-CN" altLang="en-US" sz="2400" dirty="0" smtClean="0"/>
              <a:t>个汉字，外文摘要约</a:t>
            </a:r>
            <a:r>
              <a:rPr lang="en-US" altLang="zh-CN" sz="2400" dirty="0" smtClean="0">
                <a:solidFill>
                  <a:srgbClr val="FF0000"/>
                </a:solidFill>
              </a:rPr>
              <a:t>300</a:t>
            </a:r>
            <a:r>
              <a:rPr lang="zh-CN" altLang="en-US" sz="2400" dirty="0" smtClean="0"/>
              <a:t>个左右实词；关键词要反映毕业设计说明书（论文）的主要内容，数量一般为</a:t>
            </a:r>
            <a:r>
              <a:rPr lang="en-US" altLang="zh-CN" sz="2400" dirty="0" smtClean="0">
                <a:solidFill>
                  <a:srgbClr val="FF0000"/>
                </a:solidFill>
              </a:rPr>
              <a:t>3―5</a:t>
            </a:r>
            <a:r>
              <a:rPr lang="zh-CN" altLang="en-US" sz="2400" dirty="0" smtClean="0"/>
              <a:t>个。</a:t>
            </a:r>
            <a:r>
              <a:rPr lang="zh-CN" altLang="en-US" dirty="0" smtClean="0"/>
              <a:t>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目录</a:t>
            </a:r>
            <a:endParaRPr lang="zh-CN" altLang="en-US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5283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en-US" altLang="zh-CN" sz="2400" dirty="0" smtClean="0"/>
              <a:t>“</a:t>
            </a:r>
            <a:r>
              <a:rPr lang="zh-CN" altLang="en-US" sz="2400" dirty="0" smtClean="0"/>
              <a:t>目录</a:t>
            </a:r>
            <a:r>
              <a:rPr lang="en-US" altLang="zh-CN" sz="2400" dirty="0" smtClean="0"/>
              <a:t>”</a:t>
            </a:r>
            <a:r>
              <a:rPr lang="zh-CN" altLang="en-US" sz="2400" dirty="0" smtClean="0"/>
              <a:t>二字用三号黑体居中打印，两字中间空一格，下空一行为章、节、小节及其开始页码。章、节、小节分别以第</a:t>
            </a:r>
            <a:r>
              <a:rPr lang="en-US" altLang="zh-CN" sz="2400" dirty="0" smtClean="0"/>
              <a:t>*</a:t>
            </a:r>
            <a:r>
              <a:rPr lang="zh-CN" altLang="en-US" sz="2400" dirty="0" smtClean="0"/>
              <a:t>章、§</a:t>
            </a:r>
            <a:r>
              <a:rPr lang="en-US" altLang="zh-CN" sz="2400" dirty="0" smtClean="0"/>
              <a:t>*.*</a:t>
            </a:r>
            <a:r>
              <a:rPr lang="zh-CN" altLang="en-US" sz="2400" dirty="0" smtClean="0"/>
              <a:t>、§</a:t>
            </a:r>
            <a:r>
              <a:rPr lang="en-US" altLang="zh-CN" sz="2400" dirty="0" smtClean="0"/>
              <a:t>*.*.*</a:t>
            </a:r>
            <a:r>
              <a:rPr lang="zh-CN" altLang="en-US" sz="2400" dirty="0" smtClean="0"/>
              <a:t>等形式依次标出，并与相应的内容之间空半格。目录内容采用</a:t>
            </a:r>
            <a:r>
              <a:rPr lang="zh-CN" altLang="en-US" sz="2400" dirty="0" smtClean="0">
                <a:solidFill>
                  <a:schemeClr val="tx2"/>
                </a:solidFill>
              </a:rPr>
              <a:t>宋体小四号</a:t>
            </a:r>
            <a:r>
              <a:rPr lang="zh-CN" altLang="en-US" sz="2400" dirty="0" smtClean="0"/>
              <a:t>。</a:t>
            </a:r>
            <a:endParaRPr lang="zh-CN" altLang="en-US" sz="2400" dirty="0" smtClean="0"/>
          </a:p>
          <a:p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符号说明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6307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smtClean="0"/>
              <a:t>毕业设计说明书（论文）中所用主要符号表示的意义及单位，此项为</a:t>
            </a:r>
            <a:r>
              <a:rPr lang="zh-CN" altLang="en-US" sz="2400" smtClean="0">
                <a:solidFill>
                  <a:schemeClr val="tx2"/>
                </a:solidFill>
              </a:rPr>
              <a:t>可选项目</a:t>
            </a:r>
            <a:r>
              <a:rPr lang="zh-CN" altLang="en-US" sz="2400" smtClean="0"/>
              <a:t>。</a:t>
            </a:r>
            <a:r>
              <a:rPr lang="zh-CN" altLang="en-US" smtClean="0"/>
              <a:t> </a:t>
            </a:r>
            <a:endParaRPr lang="zh-CN" altLang="en-US" sz="2400" smtClean="0"/>
          </a:p>
          <a:p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前言</a:t>
            </a:r>
            <a:endParaRPr lang="zh-CN" altLang="en-US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7331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dirty="0" smtClean="0"/>
              <a:t>说明毕业设计（论文）选题的目的、意义和范围，国内外文献综述，应解决的问题和采用的研究方法；要求自然、概括、简洁、确切。</a:t>
            </a:r>
            <a:r>
              <a:rPr lang="zh-CN" altLang="en-US" dirty="0" smtClean="0"/>
              <a:t> </a:t>
            </a:r>
            <a:endParaRPr lang="zh-CN" altLang="en-US" sz="2400" dirty="0" smtClean="0"/>
          </a:p>
          <a:p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正文</a:t>
            </a:r>
            <a:endParaRPr lang="zh-CN" altLang="en-US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8355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dirty="0" smtClean="0"/>
              <a:t>正文是毕业设计说明书（论文）的主体，其写作形式可因课题的类型不同而变化。 </a:t>
            </a:r>
            <a:endParaRPr lang="zh-CN" altLang="en-US" sz="2400" dirty="0" smtClean="0"/>
          </a:p>
          <a:p>
            <a:r>
              <a:rPr lang="zh-CN" altLang="en-US" sz="2400" dirty="0" smtClean="0"/>
              <a:t>针对软件设计类论文，大致可包括以下内容：系统分析（需求分析、可行性研究）、系统设计（包括系统总体结构及功能、系统流程图、数据库设计）、系统详细设计与</a:t>
            </a:r>
            <a:r>
              <a:rPr lang="zh-CN" altLang="en-US" sz="2400" dirty="0" smtClean="0"/>
              <a:t>实现、</a:t>
            </a:r>
            <a:r>
              <a:rPr lang="zh-CN" altLang="en-US" sz="2400" dirty="0" smtClean="0"/>
              <a:t>系统测试等</a:t>
            </a:r>
            <a:r>
              <a:rPr lang="zh-CN" altLang="en-US" dirty="0" smtClean="0"/>
              <a:t>。</a:t>
            </a:r>
            <a:endParaRPr lang="zh-CN" altLang="en-US" sz="2400" dirty="0" smtClean="0"/>
          </a:p>
          <a:p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结论</a:t>
            </a:r>
            <a:endParaRPr lang="zh-CN" altLang="en-US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9379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smtClean="0"/>
              <a:t>结论是对设计和研究工作进行归纳和总结，包括与已有结果的比较，本课题尚存在的问题，对进一步开展研究的见解与建议；要求言简意赅。</a:t>
            </a:r>
            <a:r>
              <a:rPr lang="zh-CN" altLang="en-US" smtClean="0"/>
              <a:t> </a:t>
            </a:r>
            <a:endParaRPr lang="zh-CN" altLang="en-US" sz="2400" smtClean="0"/>
          </a:p>
          <a:p>
            <a:endParaRPr lang="zh-CN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参考文献</a:t>
            </a:r>
            <a:endParaRPr lang="zh-CN" altLang="en-US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0403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dirty="0" smtClean="0"/>
              <a:t>列出在毕业设计（论文）中参考过的专著、论文及其他资料，所列参考文献应按论文参考的先后顺序排列，不同类型的的参考文献有具体的格式规范要求，可参考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河南科技大学本科生毕业设计（论文）撰写规范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2025</a:t>
            </a:r>
            <a:r>
              <a:rPr lang="zh-CN" altLang="zh-CN" sz="2400" b="1" dirty="0" smtClean="0">
                <a:solidFill>
                  <a:srgbClr val="FF0000"/>
                </a:solidFill>
              </a:rPr>
              <a:t>.doc</a:t>
            </a:r>
            <a:r>
              <a:rPr lang="zh-CN" altLang="en-US" sz="2400" dirty="0" smtClean="0"/>
              <a:t>。 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致谢</a:t>
            </a:r>
            <a:endParaRPr lang="zh-CN" altLang="en-US" sz="2800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1427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dirty="0" smtClean="0"/>
              <a:t>对指导教师和给予指导或协助完成毕业设计（论文）工作的组织和个人表示感谢。文字要简捷、实事求是，切忌浮夸和庸俗之词，尤其注意不要写错</a:t>
            </a:r>
            <a:r>
              <a:rPr lang="zh-CN" altLang="en-US" sz="2400" dirty="0" smtClean="0">
                <a:solidFill>
                  <a:srgbClr val="FF0000"/>
                </a:solidFill>
              </a:rPr>
              <a:t>指导教师</a:t>
            </a:r>
            <a:r>
              <a:rPr lang="zh-CN" altLang="en-US" sz="2400" dirty="0" smtClean="0"/>
              <a:t>姓名！ 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附录</a:t>
            </a:r>
            <a:endParaRPr lang="zh-CN" altLang="en-US" sz="2800" b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2451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052513"/>
            <a:ext cx="8229600" cy="4525962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2400" dirty="0" smtClean="0"/>
          </a:p>
          <a:p>
            <a:r>
              <a:rPr lang="zh-CN" altLang="en-US" sz="2400" dirty="0" smtClean="0"/>
              <a:t>附录：对于一些不宜放在正文中，但有参考价值的内容，可编入附录中。此项为可选项目。附录大致包括如下一些材料：</a:t>
            </a:r>
            <a:endParaRPr lang="zh-CN" altLang="en-US" sz="2400" dirty="0" smtClean="0"/>
          </a:p>
          <a:p>
            <a:pPr>
              <a:buFontTx/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）比正文更为详尽的理论根据、研究方法和技术要点，建议可以阅读的参考文献的题录，对了解正文内容有用的补充信息等。</a:t>
            </a:r>
            <a:endParaRPr lang="zh-CN" altLang="en-US" sz="2400" dirty="0" smtClean="0"/>
          </a:p>
          <a:p>
            <a:pPr>
              <a:buFontTx/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）由于篇幅过长或取材于复制品而不宜写入正文的材料。</a:t>
            </a:r>
            <a:endParaRPr lang="zh-CN" altLang="en-US" sz="2400" dirty="0" smtClean="0"/>
          </a:p>
          <a:p>
            <a:pPr>
              <a:buFontTx/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）某些重要的原始数据、公式推导、</a:t>
            </a:r>
            <a:r>
              <a:rPr lang="zh-CN" altLang="en-US" sz="2400" dirty="0" smtClean="0">
                <a:solidFill>
                  <a:schemeClr val="tx2"/>
                </a:solidFill>
              </a:rPr>
              <a:t>软件源程序</a:t>
            </a:r>
            <a:r>
              <a:rPr lang="zh-CN" altLang="en-US" sz="2400" dirty="0" smtClean="0"/>
              <a:t>、框图、结构图、统计表、计算机打印输出件等。 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毕业论文撰写</a:t>
            </a:r>
            <a:r>
              <a:rPr lang="en-US" altLang="zh-CN" sz="2800" b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外文资料译文与原文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643" name="内容占位符 2"/>
          <p:cNvSpPr>
            <a:spLocks noGrp="1"/>
          </p:cNvSpPr>
          <p:nvPr>
            <p:ph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 sz="2400" dirty="0" smtClean="0"/>
              <a:t>至少翻译一篇本专业外文文献（</a:t>
            </a:r>
            <a:r>
              <a:rPr lang="en-US" altLang="zh-CN" sz="2400" dirty="0" smtClean="0"/>
              <a:t>10000</a:t>
            </a:r>
            <a:r>
              <a:rPr lang="zh-CN" altLang="en-US" sz="2400" dirty="0" smtClean="0"/>
              <a:t>个以上印刷符号），并附译文。 </a:t>
            </a:r>
            <a:r>
              <a:rPr lang="en-US" altLang="zh-CN" sz="2400" dirty="0" smtClean="0"/>
              <a:t>(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应该在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5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页以上，译文在前，原文在后。</a:t>
            </a:r>
            <a:r>
              <a:rPr lang="en-US" altLang="zh-CN" sz="2400" dirty="0" smtClean="0"/>
              <a:t>)</a:t>
            </a:r>
            <a:endParaRPr lang="zh-CN" altLang="en-US" sz="2400" dirty="0" smtClean="0"/>
          </a:p>
          <a:p>
            <a:r>
              <a:rPr lang="zh-CN" altLang="en-US" sz="2400" dirty="0" smtClean="0">
                <a:solidFill>
                  <a:schemeClr val="tx2"/>
                </a:solidFill>
              </a:rPr>
              <a:t>注意：不能在目录显示该章节 </a:t>
            </a:r>
            <a:endParaRPr lang="zh-CN" altLang="en-US" sz="2400" dirty="0" smtClean="0">
              <a:solidFill>
                <a:schemeClr val="tx2"/>
              </a:solidFill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</a:rPr>
              <a:t>版面要求参考毕业设计说明书（论文）的格式规范。页眉的奇数页书写</a:t>
            </a:r>
            <a:r>
              <a:rPr lang="en-US" altLang="zh-CN" sz="2400" dirty="0" smtClean="0">
                <a:solidFill>
                  <a:schemeClr val="tx1"/>
                </a:solidFill>
              </a:rPr>
              <a:t>“</a:t>
            </a:r>
            <a:r>
              <a:rPr lang="zh-CN" altLang="en-US" sz="2400" dirty="0" smtClean="0">
                <a:solidFill>
                  <a:schemeClr val="tx1"/>
                </a:solidFill>
              </a:rPr>
              <a:t>河南科技大学毕业设计（论文）外文资料译文与原文</a:t>
            </a:r>
            <a:r>
              <a:rPr lang="en-US" altLang="zh-CN" sz="2400" dirty="0" smtClean="0">
                <a:solidFill>
                  <a:schemeClr val="tx1"/>
                </a:solidFill>
              </a:rPr>
              <a:t>”</a:t>
            </a:r>
            <a:r>
              <a:rPr lang="zh-CN" altLang="en-US" sz="2400" dirty="0" smtClean="0">
                <a:solidFill>
                  <a:schemeClr val="tx1"/>
                </a:solidFill>
              </a:rPr>
              <a:t>，页面的偶数页书写</a:t>
            </a:r>
            <a:r>
              <a:rPr lang="en-US" altLang="zh-CN" sz="2400" dirty="0" smtClean="0">
                <a:solidFill>
                  <a:schemeClr val="tx1"/>
                </a:solidFill>
              </a:rPr>
              <a:t>“</a:t>
            </a:r>
            <a:r>
              <a:rPr lang="zh-CN" altLang="en-US" sz="2400" dirty="0" smtClean="0">
                <a:solidFill>
                  <a:schemeClr val="tx1"/>
                </a:solidFill>
              </a:rPr>
              <a:t>外文资料译文的题目</a:t>
            </a:r>
            <a:r>
              <a:rPr lang="en-US" altLang="zh-CN" sz="2400" dirty="0" smtClean="0">
                <a:solidFill>
                  <a:schemeClr val="tx1"/>
                </a:solidFill>
              </a:rPr>
              <a:t>”</a:t>
            </a:r>
            <a:r>
              <a:rPr lang="zh-CN" altLang="en-US" sz="2400" dirty="0" smtClean="0">
                <a:solidFill>
                  <a:schemeClr val="tx1"/>
                </a:solidFill>
              </a:rPr>
              <a:t>。在每页底部居中加页码。（宋体，五号，居中）</a:t>
            </a:r>
            <a:endParaRPr lang="zh-CN" altLang="en-US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089" name="Picture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3850" y="1196975"/>
            <a:ext cx="8405813" cy="469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HINKCELLPRESENTATIONDONOTDELETE" val="&lt;?xml version=&quot;1.0&quot; encoding=&quot;UTF-16&quot; standalone=&quot;yes&quot;?&gt;&#10;&lt;root reqver=&quot;17839&quot;&gt;&lt;version val=&quot;21066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mruColor&gt;&lt;m_vecMRU length=&quot;6&quot;&gt;&lt;elem m_fUsage=&quot;4.87920511000000000000E+000&quot;&gt;&lt;m_ppcolschidx val=&quot;0&quot;/&gt;&lt;m_rgb r=&quot;ec&quot; g=&quot;f&quot; b=&quot;4b&quot;/&gt;&lt;/elem&gt;&lt;elem m_fUsage=&quot;1.42787308005351040000E+000&quot;&gt;&lt;m_ppcolschidx val=&quot;0&quot;/&gt;&lt;m_rgb r=&quot;ff&quot; g=&quot;c0&quot; b=&quot;0&quot;/&gt;&lt;/elem&gt;&lt;elem m_fUsage=&quot;1.24659000000000010000E+000&quot;&gt;&lt;m_ppcolschidx val=&quot;0&quot;/&gt;&lt;m_rgb r=&quot;f4&quot; g=&quot;a0&quot; b=&quot;4&quot;/&gt;&lt;/elem&gt;&lt;elem m_fUsage=&quot;9.66726376886591470000E-001&quot;&gt;&lt;m_ppcolschidx val=&quot;0&quot;/&gt;&lt;m_rgb r=&quot;f5&quot; g=&quot;c0&quot; b=&quot;52&quot;/&gt;&lt;/elem&gt;&lt;elem m_fUsage=&quot;3.87420489000000150000E-001&quot;&gt;&lt;m_ppcolschidx val=&quot;0&quot;/&gt;&lt;m_rgb r=&quot;f9&quot; g=&quot;fe&quot; b=&quot;36&quot;/&gt;&lt;/elem&gt;&lt;elem m_fUsage=&quot;2.05891132094649100000E-001&quot;&gt;&lt;m_ppcolschidx val=&quot;0&quot;/&gt;&lt;m_rgb r=&quot;fc&quot; g=&quot;c7&quot; b=&quot;4b&quot;/&gt;&lt;/elem&gt;&lt;/m_vecMRU&gt;&lt;/m_mruColor&gt;&lt;m_mapectfillschemeMRU&gt;&lt;key val=&quot;0&quot;/&gt;&lt;elem&gt;&lt;m_nPartnerID val=&quot;530&quot;/&gt;&lt;m_nIndex val=&quot;4&quot;/&gt;&lt;/elem&gt;&lt;key val=&quot;1&quot;/&gt;&lt;elem&gt;&lt;m_nPartnerID val=&quot;530&quot;/&gt;&lt;m_nIndex val=&quot;4&quot;/&gt;&lt;/elem&gt;&lt;key val=&quot;3&quot;/&gt;&lt;elem&gt;&lt;m_nPartnerID val=&quot;530&quot;/&gt;&lt;m_nIndex val=&quot;5&quot;/&gt;&lt;/elem&gt;&lt;/m_mapectfillschemeMRU&gt;&lt;m_eweekdayFirstOfWeek val=&quot;1&quot;/&gt;&lt;m_eweekdayFirstOfWorkweek val=&quot;2&quot;/&gt;&lt;m_eweekdayFirstOfWeekend val=&quot;7&quot;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.&lt;/m_chDecimalSymbol&gt;&lt;m_nGroupingDigits val=&quot;3&quot;/&gt;&lt;m_chGroupingSymbol&gt;,&lt;/m_chGroupingSymbol&gt;&lt;m_chDecimalSymbol17909&gt;.&lt;/m_chDecimalSymbol17909&gt;&lt;m_nGroupingDigits17909 val=&quot;3&quot;/&gt;&lt;m_chGroupingSymbol17909&gt;,&lt;/m_chGroupingSymbol17909&gt;&lt;/m_precDefault&gt;&lt;/CDefaultPrec&gt;&lt;/root&gt;"/>
  <p:tag name="THINKCELLUNDODONOTDELETE" val="651"/>
</p:tagLst>
</file>

<file path=ppt/theme/theme1.xml><?xml version="1.0" encoding="utf-8"?>
<a:theme xmlns:a="http://schemas.openxmlformats.org/drawingml/2006/main" name="000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dirty="0"/>
        </a:defPPr>
      </a:lstStyle>
    </a:txDef>
  </a:objectDefaults>
  <a:extraClrSchemeLst>
    <a:extraClrScheme>
      <a:clrScheme name="00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中油瑞飞ppt模板20110323</Template>
  <TotalTime>0</TotalTime>
  <Words>2512</Words>
  <Application>WPS 演示</Application>
  <PresentationFormat>全屏显示(4:3)</PresentationFormat>
  <Paragraphs>131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黑体</vt:lpstr>
      <vt:lpstr>Arial Unicode MS</vt:lpstr>
      <vt:lpstr>000</vt:lpstr>
      <vt:lpstr>毕业答辩-时间节点</vt:lpstr>
      <vt:lpstr>毕业答辩-出现的问题（1）</vt:lpstr>
      <vt:lpstr>毕业答辩-出现的问题（2）</vt:lpstr>
      <vt:lpstr>毕业答辩-出现的问题（3）</vt:lpstr>
      <vt:lpstr>毕业答辩-出现的问题（4）</vt:lpstr>
      <vt:lpstr>毕业答辩-出现的问题（5）</vt:lpstr>
      <vt:lpstr>毕业论文撰写-应注意的问题（1）</vt:lpstr>
      <vt:lpstr>毕业论文撰写-应注意的问题（2）</vt:lpstr>
      <vt:lpstr>毕业论文撰写-应注意的问题（3）</vt:lpstr>
      <vt:lpstr>毕业论文撰写-毕业设计说明书（论文）的内容要求 </vt:lpstr>
      <vt:lpstr>毕业论文撰写-中英文摘要</vt:lpstr>
      <vt:lpstr>毕业论文撰写-目录</vt:lpstr>
      <vt:lpstr>毕业论文撰写-符号说明 </vt:lpstr>
      <vt:lpstr>毕业论文撰写-前言</vt:lpstr>
      <vt:lpstr>毕业论文撰写-正文</vt:lpstr>
      <vt:lpstr>毕业论文撰写-结论</vt:lpstr>
      <vt:lpstr>毕业论文撰写-参考文献</vt:lpstr>
      <vt:lpstr>毕业论文撰写-致谢</vt:lpstr>
      <vt:lpstr>毕业论文撰写-附录</vt:lpstr>
      <vt:lpstr>毕业论文撰写-英文资料翻译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SunRui2013</dc:creator>
  <cp:lastModifiedBy>力王</cp:lastModifiedBy>
  <cp:revision>2018</cp:revision>
  <dcterms:created xsi:type="dcterms:W3CDTF">2011-03-23T07:21:00Z</dcterms:created>
  <dcterms:modified xsi:type="dcterms:W3CDTF">2026-05-07T01:33:33Z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CE9DF082368C4861819041DDBD0CC2C5_12</vt:lpwstr>
  </property>
  <property fmtid="{D5CDD505-2E9C-101B-9397-08002B2CF9AE}" pid="3" name="KSOProductBuildVer">
    <vt:lpwstr>2052-12.1.0.25225</vt:lpwstr>
  </property>
</Properties>
</file>