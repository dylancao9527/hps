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5"/>
  </p:notesMasterIdLst>
  <p:sldIdLst>
    <p:sldId id="257" r:id="rId4"/>
    <p:sldId id="258" r:id="rId6"/>
    <p:sldId id="288" r:id="rId7"/>
    <p:sldId id="317" r:id="rId8"/>
    <p:sldId id="318" r:id="rId9"/>
    <p:sldId id="290" r:id="rId10"/>
    <p:sldId id="344" r:id="rId11"/>
    <p:sldId id="393" r:id="rId12"/>
    <p:sldId id="346" r:id="rId13"/>
    <p:sldId id="345" r:id="rId14"/>
    <p:sldId id="394" r:id="rId15"/>
    <p:sldId id="395" r:id="rId16"/>
    <p:sldId id="347" r:id="rId17"/>
    <p:sldId id="348" r:id="rId18"/>
    <p:sldId id="396" r:id="rId19"/>
    <p:sldId id="397" r:id="rId20"/>
    <p:sldId id="398" r:id="rId21"/>
    <p:sldId id="399" r:id="rId22"/>
    <p:sldId id="400" r:id="rId23"/>
    <p:sldId id="401" r:id="rId24"/>
    <p:sldId id="402" r:id="rId25"/>
    <p:sldId id="349" r:id="rId26"/>
    <p:sldId id="373" r:id="rId27"/>
    <p:sldId id="374" r:id="rId28"/>
    <p:sldId id="379" r:id="rId29"/>
    <p:sldId id="372" r:id="rId30"/>
    <p:sldId id="380" r:id="rId31"/>
    <p:sldId id="352" r:id="rId32"/>
    <p:sldId id="386" r:id="rId33"/>
    <p:sldId id="387" r:id="rId34"/>
    <p:sldId id="388" r:id="rId35"/>
    <p:sldId id="382" r:id="rId36"/>
    <p:sldId id="389" r:id="rId37"/>
    <p:sldId id="390" r:id="rId38"/>
    <p:sldId id="391" r:id="rId39"/>
    <p:sldId id="392" r:id="rId40"/>
    <p:sldId id="410" r:id="rId41"/>
    <p:sldId id="409" r:id="rId42"/>
    <p:sldId id="411" r:id="rId43"/>
    <p:sldId id="375" r:id="rId44"/>
    <p:sldId id="404" r:id="rId45"/>
    <p:sldId id="405" r:id="rId46"/>
    <p:sldId id="406" r:id="rId47"/>
    <p:sldId id="407" r:id="rId48"/>
    <p:sldId id="412" r:id="rId49"/>
    <p:sldId id="414" r:id="rId50"/>
    <p:sldId id="413" r:id="rId51"/>
    <p:sldId id="408" r:id="rId52"/>
    <p:sldId id="294" r:id="rId53"/>
  </p:sldIdLst>
  <p:sldSz cx="9144000" cy="5143500" type="screen16x9"/>
  <p:notesSz cx="6858000" cy="9144000"/>
  <p:custDataLst>
    <p:tags r:id="rId5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39" userDrawn="1">
          <p15:clr>
            <a:srgbClr val="A4A3A4"/>
          </p15:clr>
        </p15:guide>
        <p15:guide id="2" pos="283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AF2"/>
    <a:srgbClr val="007FDE"/>
    <a:srgbClr val="1B9DFF"/>
    <a:srgbClr val="25A2FF"/>
    <a:srgbClr val="7FC8FF"/>
    <a:srgbClr val="57B7FF"/>
    <a:srgbClr val="0090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36" autoAdjust="0"/>
  </p:normalViewPr>
  <p:slideViewPr>
    <p:cSldViewPr showGuides="1">
      <p:cViewPr varScale="1">
        <p:scale>
          <a:sx n="89" d="100"/>
          <a:sy n="89" d="100"/>
        </p:scale>
        <p:origin x="620" y="52"/>
      </p:cViewPr>
      <p:guideLst>
        <p:guide orient="horz" pos="1739"/>
        <p:guide pos="2833"/>
      </p:guideLst>
    </p:cSldViewPr>
  </p:slideViewPr>
  <p:notesTextViewPr>
    <p:cViewPr>
      <p:scale>
        <a:sx n="100" d="100"/>
        <a:sy n="100" d="100"/>
      </p:scale>
      <p:origin x="0" y="0"/>
    </p:cViewPr>
  </p:notesTextViewPr>
  <p:sorterViewPr>
    <p:cViewPr>
      <p:scale>
        <a:sx n="100" d="100"/>
        <a:sy n="100" d="100"/>
      </p:scale>
      <p:origin x="0" y="46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7" Type="http://schemas.openxmlformats.org/officeDocument/2006/relationships/tags" Target="tags/tag21.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4ACD03-DEB6-4C52-9EDE-FD03C9F111A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6D2E1D-2A74-42C0-AFCC-0560DBF3569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66D2E1D-2A74-42C0-AFCC-0560DBF3569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66D2E1D-2A74-42C0-AFCC-0560DBF3569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66D2E1D-2A74-42C0-AFCC-0560DBF35690}"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fld>
            <a:endParaRPr lang="zh-CN" alt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a:prstGeom prst="rect">
            <a:avLst/>
          </a:prstGeom>
        </p:spPr>
        <p:txBody>
          <a:bodyPr lIns="91438" tIns="45719" rIns="91438" bIns="45719"/>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lIns="91438" tIns="45719" rIns="91438" bIns="45719"/>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457200" y="4767264"/>
            <a:ext cx="2133600" cy="273844"/>
          </a:xfrm>
          <a:prstGeom prst="rect">
            <a:avLst/>
          </a:prstGeom>
        </p:spPr>
        <p:txBody>
          <a:bodyPr lIns="91438" tIns="45719" rIns="91438" bIns="45719"/>
          <a:lstStyle/>
          <a:p>
            <a:fld id="{5E137E13-6931-4ECB-BB5B-849FB74182C0}"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124200" y="4767264"/>
            <a:ext cx="2895600" cy="273844"/>
          </a:xfrm>
          <a:prstGeom prst="rect">
            <a:avLst/>
          </a:prstGeom>
        </p:spPr>
        <p:txBody>
          <a:bodyPr lIns="91438" tIns="45719" rIns="91438" bIns="45719"/>
          <a:lstStyle/>
          <a:p>
            <a:endParaRPr lang="zh-CN" altLang="en-US">
              <a:solidFill>
                <a:prstClr val="black"/>
              </a:solidFill>
            </a:endParaRPr>
          </a:p>
        </p:txBody>
      </p:sp>
      <p:sp>
        <p:nvSpPr>
          <p:cNvPr id="6" name="灯片编号占位符 5"/>
          <p:cNvSpPr>
            <a:spLocks noGrp="1"/>
          </p:cNvSpPr>
          <p:nvPr>
            <p:ph type="sldNum" sz="quarter" idx="12"/>
          </p:nvPr>
        </p:nvSpPr>
        <p:spPr>
          <a:xfrm>
            <a:off x="6553200" y="4767264"/>
            <a:ext cx="2133600" cy="273844"/>
          </a:xfrm>
          <a:prstGeom prst="rect">
            <a:avLst/>
          </a:prstGeom>
        </p:spPr>
        <p:txBody>
          <a:bodyPr lIns="91438" tIns="45719" rIns="91438" bIns="45719"/>
          <a:lstStyle/>
          <a:p>
            <a:fld id="{23CBF4B4-C160-4F55-AC7D-1C8FF5BA05FA}"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lIns="91438" tIns="45719" rIns="91438" bIns="45719"/>
          <a:lstStyle/>
          <a:p>
            <a:r>
              <a:rPr lang="zh-CN" altLang="en-US"/>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lIns="91438" tIns="45719" rIns="91438" bIns="45719"/>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457200" y="4767264"/>
            <a:ext cx="2133600" cy="273844"/>
          </a:xfrm>
          <a:prstGeom prst="rect">
            <a:avLst/>
          </a:prstGeom>
        </p:spPr>
        <p:txBody>
          <a:bodyPr lIns="91438" tIns="45719" rIns="91438" bIns="45719"/>
          <a:lstStyle/>
          <a:p>
            <a:fld id="{5E137E13-6931-4ECB-BB5B-849FB74182C0}"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124200" y="4767264"/>
            <a:ext cx="2895600" cy="273844"/>
          </a:xfrm>
          <a:prstGeom prst="rect">
            <a:avLst/>
          </a:prstGeom>
        </p:spPr>
        <p:txBody>
          <a:bodyPr lIns="91438" tIns="45719" rIns="91438" bIns="45719"/>
          <a:lstStyle/>
          <a:p>
            <a:endParaRPr lang="zh-CN" altLang="en-US">
              <a:solidFill>
                <a:prstClr val="black"/>
              </a:solidFill>
            </a:endParaRPr>
          </a:p>
        </p:txBody>
      </p:sp>
      <p:sp>
        <p:nvSpPr>
          <p:cNvPr id="6" name="灯片编号占位符 5"/>
          <p:cNvSpPr>
            <a:spLocks noGrp="1"/>
          </p:cNvSpPr>
          <p:nvPr>
            <p:ph type="sldNum" sz="quarter" idx="12"/>
          </p:nvPr>
        </p:nvSpPr>
        <p:spPr>
          <a:xfrm>
            <a:off x="6553200" y="4767264"/>
            <a:ext cx="2133600" cy="273844"/>
          </a:xfrm>
          <a:prstGeom prst="rect">
            <a:avLst/>
          </a:prstGeom>
        </p:spPr>
        <p:txBody>
          <a:bodyPr lIns="91438" tIns="45719" rIns="91438" bIns="45719"/>
          <a:lstStyle/>
          <a:p>
            <a:fld id="{23CBF4B4-C160-4F55-AC7D-1C8FF5BA05FA}"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lIns="91438" tIns="45719" rIns="91438" bIns="45719"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lIns="91438" tIns="45719" rIns="91438" bIns="45719"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457200" y="4767264"/>
            <a:ext cx="2133600" cy="273844"/>
          </a:xfrm>
          <a:prstGeom prst="rect">
            <a:avLst/>
          </a:prstGeom>
        </p:spPr>
        <p:txBody>
          <a:bodyPr lIns="91438" tIns="45719" rIns="91438" bIns="45719"/>
          <a:lstStyle/>
          <a:p>
            <a:fld id="{5E137E13-6931-4ECB-BB5B-849FB74182C0}"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124200" y="4767264"/>
            <a:ext cx="2895600" cy="273844"/>
          </a:xfrm>
          <a:prstGeom prst="rect">
            <a:avLst/>
          </a:prstGeom>
        </p:spPr>
        <p:txBody>
          <a:bodyPr lIns="91438" tIns="45719" rIns="91438" bIns="45719"/>
          <a:lstStyle/>
          <a:p>
            <a:endParaRPr lang="zh-CN" altLang="en-US">
              <a:solidFill>
                <a:prstClr val="black"/>
              </a:solidFill>
            </a:endParaRPr>
          </a:p>
        </p:txBody>
      </p:sp>
      <p:sp>
        <p:nvSpPr>
          <p:cNvPr id="6" name="灯片编号占位符 5"/>
          <p:cNvSpPr>
            <a:spLocks noGrp="1"/>
          </p:cNvSpPr>
          <p:nvPr>
            <p:ph type="sldNum" sz="quarter" idx="12"/>
          </p:nvPr>
        </p:nvSpPr>
        <p:spPr>
          <a:xfrm>
            <a:off x="6553200" y="4767264"/>
            <a:ext cx="2133600" cy="273844"/>
          </a:xfrm>
          <a:prstGeom prst="rect">
            <a:avLst/>
          </a:prstGeom>
        </p:spPr>
        <p:txBody>
          <a:bodyPr lIns="91438" tIns="45719" rIns="91438" bIns="45719"/>
          <a:lstStyle/>
          <a:p>
            <a:fld id="{23CBF4B4-C160-4F55-AC7D-1C8FF5BA05FA}"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lIns="91438" tIns="45719" rIns="91438" bIns="45719"/>
          <a:lstStyle/>
          <a:p>
            <a:r>
              <a:rPr lang="zh-CN" altLang="en-US"/>
              <a:t>单击此处编辑母版标题样式</a:t>
            </a:r>
            <a:endParaRPr lang="zh-CN" altLang="en-US"/>
          </a:p>
        </p:txBody>
      </p:sp>
      <p:sp>
        <p:nvSpPr>
          <p:cNvPr id="3" name="内容占位符 2"/>
          <p:cNvSpPr>
            <a:spLocks noGrp="1"/>
          </p:cNvSpPr>
          <p:nvPr>
            <p:ph sz="half" idx="1"/>
          </p:nvPr>
        </p:nvSpPr>
        <p:spPr>
          <a:xfrm>
            <a:off x="457200" y="900114"/>
            <a:ext cx="4038600" cy="2545556"/>
          </a:xfrm>
          <a:prstGeom prst="rect">
            <a:avLst/>
          </a:prstGeom>
        </p:spPr>
        <p:txBody>
          <a:bodyPr lIns="91438" tIns="45719" rIns="91438" bIns="45719"/>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0114"/>
            <a:ext cx="4038600" cy="2545556"/>
          </a:xfrm>
          <a:prstGeom prst="rect">
            <a:avLst/>
          </a:prstGeom>
        </p:spPr>
        <p:txBody>
          <a:bodyPr lIns="91438" tIns="45719" rIns="91438" bIns="45719"/>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457200" y="4767264"/>
            <a:ext cx="2133600" cy="273844"/>
          </a:xfrm>
          <a:prstGeom prst="rect">
            <a:avLst/>
          </a:prstGeom>
        </p:spPr>
        <p:txBody>
          <a:bodyPr lIns="91438" tIns="45719" rIns="91438" bIns="45719"/>
          <a:lstStyle/>
          <a:p>
            <a:fld id="{5E137E13-6931-4ECB-BB5B-849FB74182C0}"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3124200" y="4767264"/>
            <a:ext cx="2895600" cy="273844"/>
          </a:xfrm>
          <a:prstGeom prst="rect">
            <a:avLst/>
          </a:prstGeom>
        </p:spPr>
        <p:txBody>
          <a:bodyPr lIns="91438" tIns="45719" rIns="91438" bIns="45719"/>
          <a:lstStyle/>
          <a:p>
            <a:endParaRPr lang="zh-CN" altLang="en-US">
              <a:solidFill>
                <a:prstClr val="black"/>
              </a:solidFill>
            </a:endParaRPr>
          </a:p>
        </p:txBody>
      </p:sp>
      <p:sp>
        <p:nvSpPr>
          <p:cNvPr id="7" name="灯片编号占位符 6"/>
          <p:cNvSpPr>
            <a:spLocks noGrp="1"/>
          </p:cNvSpPr>
          <p:nvPr>
            <p:ph type="sldNum" sz="quarter" idx="12"/>
          </p:nvPr>
        </p:nvSpPr>
        <p:spPr>
          <a:xfrm>
            <a:off x="6553200" y="4767264"/>
            <a:ext cx="2133600" cy="273844"/>
          </a:xfrm>
          <a:prstGeom prst="rect">
            <a:avLst/>
          </a:prstGeom>
        </p:spPr>
        <p:txBody>
          <a:bodyPr lIns="91438" tIns="45719" rIns="91438" bIns="45719"/>
          <a:lstStyle/>
          <a:p>
            <a:fld id="{23CBF4B4-C160-4F55-AC7D-1C8FF5BA05FA}"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lIns="91438" tIns="45719" rIns="91438" bIns="45719"/>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lIns="91438" tIns="45719" rIns="91438" bIns="45719"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a:prstGeom prst="rect">
            <a:avLst/>
          </a:prstGeom>
        </p:spPr>
        <p:txBody>
          <a:bodyPr lIns="91438" tIns="45719" rIns="91438" bIns="45719"/>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7" y="1151335"/>
            <a:ext cx="4041775" cy="479822"/>
          </a:xfrm>
          <a:prstGeom prst="rect">
            <a:avLst/>
          </a:prstGeom>
        </p:spPr>
        <p:txBody>
          <a:bodyPr lIns="91438" tIns="45719" rIns="91438" bIns="45719"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7" y="1631156"/>
            <a:ext cx="4041775" cy="2963466"/>
          </a:xfrm>
          <a:prstGeom prst="rect">
            <a:avLst/>
          </a:prstGeom>
        </p:spPr>
        <p:txBody>
          <a:bodyPr lIns="91438" tIns="45719" rIns="91438" bIns="45719"/>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457200" y="4767264"/>
            <a:ext cx="2133600" cy="273844"/>
          </a:xfrm>
          <a:prstGeom prst="rect">
            <a:avLst/>
          </a:prstGeom>
        </p:spPr>
        <p:txBody>
          <a:bodyPr lIns="91438" tIns="45719" rIns="91438" bIns="45719"/>
          <a:lstStyle/>
          <a:p>
            <a:fld id="{5E137E13-6931-4ECB-BB5B-849FB74182C0}" type="datetimeFigureOut">
              <a:rPr lang="zh-CN" altLang="en-US" smtClean="0">
                <a:solidFill>
                  <a:prstClr val="black"/>
                </a:solidFill>
              </a:rPr>
            </a:fld>
            <a:endParaRPr lang="zh-CN" altLang="en-US">
              <a:solidFill>
                <a:prstClr val="black"/>
              </a:solidFill>
            </a:endParaRPr>
          </a:p>
        </p:txBody>
      </p:sp>
      <p:sp>
        <p:nvSpPr>
          <p:cNvPr id="8" name="页脚占位符 7"/>
          <p:cNvSpPr>
            <a:spLocks noGrp="1"/>
          </p:cNvSpPr>
          <p:nvPr>
            <p:ph type="ftr" sz="quarter" idx="11"/>
          </p:nvPr>
        </p:nvSpPr>
        <p:spPr>
          <a:xfrm>
            <a:off x="3124200" y="4767264"/>
            <a:ext cx="2895600" cy="273844"/>
          </a:xfrm>
          <a:prstGeom prst="rect">
            <a:avLst/>
          </a:prstGeom>
        </p:spPr>
        <p:txBody>
          <a:bodyPr lIns="91438" tIns="45719" rIns="91438" bIns="45719"/>
          <a:lstStyle/>
          <a:p>
            <a:endParaRPr lang="zh-CN" altLang="en-US">
              <a:solidFill>
                <a:prstClr val="black"/>
              </a:solidFill>
            </a:endParaRPr>
          </a:p>
        </p:txBody>
      </p:sp>
      <p:sp>
        <p:nvSpPr>
          <p:cNvPr id="9" name="灯片编号占位符 8"/>
          <p:cNvSpPr>
            <a:spLocks noGrp="1"/>
          </p:cNvSpPr>
          <p:nvPr>
            <p:ph type="sldNum" sz="quarter" idx="12"/>
          </p:nvPr>
        </p:nvSpPr>
        <p:spPr>
          <a:xfrm>
            <a:off x="6553200" y="4767264"/>
            <a:ext cx="2133600" cy="273844"/>
          </a:xfrm>
          <a:prstGeom prst="rect">
            <a:avLst/>
          </a:prstGeom>
        </p:spPr>
        <p:txBody>
          <a:bodyPr lIns="91438" tIns="45719" rIns="91438" bIns="45719"/>
          <a:lstStyle/>
          <a:p>
            <a:fld id="{23CBF4B4-C160-4F55-AC7D-1C8FF5BA05FA}"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lIns="91438" tIns="45719" rIns="91438" bIns="45719"/>
          <a:lstStyle/>
          <a:p>
            <a:r>
              <a:rPr lang="zh-CN" altLang="en-US"/>
              <a:t>单击此处编辑母版标题样式</a:t>
            </a:r>
            <a:endParaRPr lang="zh-CN" altLang="en-US"/>
          </a:p>
        </p:txBody>
      </p:sp>
      <p:sp>
        <p:nvSpPr>
          <p:cNvPr id="3" name="日期占位符 2"/>
          <p:cNvSpPr>
            <a:spLocks noGrp="1"/>
          </p:cNvSpPr>
          <p:nvPr>
            <p:ph type="dt" sz="half" idx="10"/>
          </p:nvPr>
        </p:nvSpPr>
        <p:spPr>
          <a:xfrm>
            <a:off x="457200" y="4767264"/>
            <a:ext cx="2133600" cy="273844"/>
          </a:xfrm>
          <a:prstGeom prst="rect">
            <a:avLst/>
          </a:prstGeom>
        </p:spPr>
        <p:txBody>
          <a:bodyPr lIns="91438" tIns="45719" rIns="91438" bIns="45719"/>
          <a:lstStyle/>
          <a:p>
            <a:fld id="{5E137E13-6931-4ECB-BB5B-849FB74182C0}" type="datetimeFigureOut">
              <a:rPr lang="zh-CN" altLang="en-US" smtClean="0">
                <a:solidFill>
                  <a:prstClr val="black"/>
                </a:solidFill>
              </a:rPr>
            </a:fld>
            <a:endParaRPr lang="zh-CN" altLang="en-US">
              <a:solidFill>
                <a:prstClr val="black"/>
              </a:solidFill>
            </a:endParaRPr>
          </a:p>
        </p:txBody>
      </p:sp>
      <p:sp>
        <p:nvSpPr>
          <p:cNvPr id="4" name="页脚占位符 3"/>
          <p:cNvSpPr>
            <a:spLocks noGrp="1"/>
          </p:cNvSpPr>
          <p:nvPr>
            <p:ph type="ftr" sz="quarter" idx="11"/>
          </p:nvPr>
        </p:nvSpPr>
        <p:spPr>
          <a:xfrm>
            <a:off x="3124200" y="4767264"/>
            <a:ext cx="2895600" cy="273844"/>
          </a:xfrm>
          <a:prstGeom prst="rect">
            <a:avLst/>
          </a:prstGeom>
        </p:spPr>
        <p:txBody>
          <a:bodyPr lIns="91438" tIns="45719" rIns="91438" bIns="45719"/>
          <a:lstStyle/>
          <a:p>
            <a:endParaRPr lang="zh-CN" altLang="en-US">
              <a:solidFill>
                <a:prstClr val="black"/>
              </a:solidFill>
            </a:endParaRPr>
          </a:p>
        </p:txBody>
      </p:sp>
      <p:sp>
        <p:nvSpPr>
          <p:cNvPr id="5" name="灯片编号占位符 4"/>
          <p:cNvSpPr>
            <a:spLocks noGrp="1"/>
          </p:cNvSpPr>
          <p:nvPr>
            <p:ph type="sldNum" sz="quarter" idx="12"/>
          </p:nvPr>
        </p:nvSpPr>
        <p:spPr>
          <a:xfrm>
            <a:off x="6553200" y="4767264"/>
            <a:ext cx="2133600" cy="273844"/>
          </a:xfrm>
          <a:prstGeom prst="rect">
            <a:avLst/>
          </a:prstGeom>
        </p:spPr>
        <p:txBody>
          <a:bodyPr lIns="91438" tIns="45719" rIns="91438" bIns="45719"/>
          <a:lstStyle/>
          <a:p>
            <a:fld id="{23CBF4B4-C160-4F55-AC7D-1C8FF5BA05FA}"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4"/>
            <a:ext cx="2133600" cy="273844"/>
          </a:xfrm>
          <a:prstGeom prst="rect">
            <a:avLst/>
          </a:prstGeom>
        </p:spPr>
        <p:txBody>
          <a:bodyPr lIns="91438" tIns="45719" rIns="91438" bIns="45719"/>
          <a:lstStyle/>
          <a:p>
            <a:fld id="{5E137E13-6931-4ECB-BB5B-849FB74182C0}" type="datetimeFigureOut">
              <a:rPr lang="zh-CN" altLang="en-US" smtClean="0">
                <a:solidFill>
                  <a:prstClr val="black"/>
                </a:solidFill>
              </a:rPr>
            </a:fld>
            <a:endParaRPr lang="zh-CN" altLang="en-US">
              <a:solidFill>
                <a:prstClr val="black"/>
              </a:solidFill>
            </a:endParaRPr>
          </a:p>
        </p:txBody>
      </p:sp>
      <p:sp>
        <p:nvSpPr>
          <p:cNvPr id="3" name="页脚占位符 2"/>
          <p:cNvSpPr>
            <a:spLocks noGrp="1"/>
          </p:cNvSpPr>
          <p:nvPr>
            <p:ph type="ftr" sz="quarter" idx="11"/>
          </p:nvPr>
        </p:nvSpPr>
        <p:spPr>
          <a:xfrm>
            <a:off x="3124200" y="4767264"/>
            <a:ext cx="2895600" cy="273844"/>
          </a:xfrm>
          <a:prstGeom prst="rect">
            <a:avLst/>
          </a:prstGeom>
        </p:spPr>
        <p:txBody>
          <a:bodyPr lIns="91438" tIns="45719" rIns="91438" bIns="45719"/>
          <a:lstStyle/>
          <a:p>
            <a:endParaRPr lang="zh-CN" altLang="en-US">
              <a:solidFill>
                <a:prstClr val="black"/>
              </a:solidFill>
            </a:endParaRPr>
          </a:p>
        </p:txBody>
      </p:sp>
      <p:sp>
        <p:nvSpPr>
          <p:cNvPr id="4" name="灯片编号占位符 3"/>
          <p:cNvSpPr>
            <a:spLocks noGrp="1"/>
          </p:cNvSpPr>
          <p:nvPr>
            <p:ph type="sldNum" sz="quarter" idx="12"/>
          </p:nvPr>
        </p:nvSpPr>
        <p:spPr>
          <a:xfrm>
            <a:off x="6553200" y="4767264"/>
            <a:ext cx="2133600" cy="273844"/>
          </a:xfrm>
          <a:prstGeom prst="rect">
            <a:avLst/>
          </a:prstGeom>
        </p:spPr>
        <p:txBody>
          <a:bodyPr lIns="91438" tIns="45719" rIns="91438" bIns="45719"/>
          <a:lstStyle/>
          <a:p>
            <a:fld id="{23CBF4B4-C160-4F55-AC7D-1C8FF5BA05FA}"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04787"/>
            <a:ext cx="3008313" cy="871538"/>
          </a:xfrm>
          <a:prstGeom prst="rect">
            <a:avLst/>
          </a:prstGeom>
        </p:spPr>
        <p:txBody>
          <a:bodyPr lIns="91438" tIns="45719" rIns="91438" bIns="45719"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9"/>
            <a:ext cx="5111750" cy="4389835"/>
          </a:xfrm>
          <a:prstGeom prst="rect">
            <a:avLst/>
          </a:prstGeom>
        </p:spPr>
        <p:txBody>
          <a:bodyPr lIns="91438" tIns="45719" rIns="91438" bIns="45719"/>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2" y="1076327"/>
            <a:ext cx="3008313" cy="3518297"/>
          </a:xfrm>
          <a:prstGeom prst="rect">
            <a:avLst/>
          </a:prstGeom>
        </p:spPr>
        <p:txBody>
          <a:bodyPr lIns="91438" tIns="45719" rIns="91438" bIns="45719"/>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457200" y="4767264"/>
            <a:ext cx="2133600" cy="273844"/>
          </a:xfrm>
          <a:prstGeom prst="rect">
            <a:avLst/>
          </a:prstGeom>
        </p:spPr>
        <p:txBody>
          <a:bodyPr lIns="91438" tIns="45719" rIns="91438" bIns="45719"/>
          <a:lstStyle/>
          <a:p>
            <a:fld id="{5E137E13-6931-4ECB-BB5B-849FB74182C0}"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3124200" y="4767264"/>
            <a:ext cx="2895600" cy="273844"/>
          </a:xfrm>
          <a:prstGeom prst="rect">
            <a:avLst/>
          </a:prstGeom>
        </p:spPr>
        <p:txBody>
          <a:bodyPr lIns="91438" tIns="45719" rIns="91438" bIns="45719"/>
          <a:lstStyle/>
          <a:p>
            <a:endParaRPr lang="zh-CN" altLang="en-US">
              <a:solidFill>
                <a:prstClr val="black"/>
              </a:solidFill>
            </a:endParaRPr>
          </a:p>
        </p:txBody>
      </p:sp>
      <p:sp>
        <p:nvSpPr>
          <p:cNvPr id="7" name="灯片编号占位符 6"/>
          <p:cNvSpPr>
            <a:spLocks noGrp="1"/>
          </p:cNvSpPr>
          <p:nvPr>
            <p:ph type="sldNum" sz="quarter" idx="12"/>
          </p:nvPr>
        </p:nvSpPr>
        <p:spPr>
          <a:xfrm>
            <a:off x="6553200" y="4767264"/>
            <a:ext cx="2133600" cy="273844"/>
          </a:xfrm>
          <a:prstGeom prst="rect">
            <a:avLst/>
          </a:prstGeom>
        </p:spPr>
        <p:txBody>
          <a:bodyPr lIns="91438" tIns="45719" rIns="91438" bIns="45719"/>
          <a:lstStyle/>
          <a:p>
            <a:fld id="{23CBF4B4-C160-4F55-AC7D-1C8FF5BA05FA}"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a:prstGeom prst="rect">
            <a:avLst/>
          </a:prstGeom>
        </p:spPr>
        <p:txBody>
          <a:bodyPr lIns="91438" tIns="45719" rIns="91438" bIns="45719"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lIns="91438" tIns="45719" rIns="91438" bIns="45719"/>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a:prstGeom prst="rect">
            <a:avLst/>
          </a:prstGeom>
        </p:spPr>
        <p:txBody>
          <a:bodyPr lIns="91438" tIns="45719" rIns="91438" bIns="45719"/>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457200" y="4767264"/>
            <a:ext cx="2133600" cy="273844"/>
          </a:xfrm>
          <a:prstGeom prst="rect">
            <a:avLst/>
          </a:prstGeom>
        </p:spPr>
        <p:txBody>
          <a:bodyPr lIns="91438" tIns="45719" rIns="91438" bIns="45719"/>
          <a:lstStyle/>
          <a:p>
            <a:fld id="{5E137E13-6931-4ECB-BB5B-849FB74182C0}"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3124200" y="4767264"/>
            <a:ext cx="2895600" cy="273844"/>
          </a:xfrm>
          <a:prstGeom prst="rect">
            <a:avLst/>
          </a:prstGeom>
        </p:spPr>
        <p:txBody>
          <a:bodyPr lIns="91438" tIns="45719" rIns="91438" bIns="45719"/>
          <a:lstStyle/>
          <a:p>
            <a:endParaRPr lang="zh-CN" altLang="en-US">
              <a:solidFill>
                <a:prstClr val="black"/>
              </a:solidFill>
            </a:endParaRPr>
          </a:p>
        </p:txBody>
      </p:sp>
      <p:sp>
        <p:nvSpPr>
          <p:cNvPr id="7" name="灯片编号占位符 6"/>
          <p:cNvSpPr>
            <a:spLocks noGrp="1"/>
          </p:cNvSpPr>
          <p:nvPr>
            <p:ph type="sldNum" sz="quarter" idx="12"/>
          </p:nvPr>
        </p:nvSpPr>
        <p:spPr>
          <a:xfrm>
            <a:off x="6553200" y="4767264"/>
            <a:ext cx="2133600" cy="273844"/>
          </a:xfrm>
          <a:prstGeom prst="rect">
            <a:avLst/>
          </a:prstGeom>
        </p:spPr>
        <p:txBody>
          <a:bodyPr lIns="91438" tIns="45719" rIns="91438" bIns="45719"/>
          <a:lstStyle/>
          <a:p>
            <a:fld id="{23CBF4B4-C160-4F55-AC7D-1C8FF5BA05FA}"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lIns="91438" tIns="45719" rIns="91438" bIns="45719"/>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lIns="91438" tIns="45719" rIns="91438" bIns="45719"/>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457200" y="4767264"/>
            <a:ext cx="2133600" cy="273844"/>
          </a:xfrm>
          <a:prstGeom prst="rect">
            <a:avLst/>
          </a:prstGeom>
        </p:spPr>
        <p:txBody>
          <a:bodyPr lIns="91438" tIns="45719" rIns="91438" bIns="45719"/>
          <a:lstStyle/>
          <a:p>
            <a:fld id="{5E137E13-6931-4ECB-BB5B-849FB74182C0}"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124200" y="4767264"/>
            <a:ext cx="2895600" cy="273844"/>
          </a:xfrm>
          <a:prstGeom prst="rect">
            <a:avLst/>
          </a:prstGeom>
        </p:spPr>
        <p:txBody>
          <a:bodyPr lIns="91438" tIns="45719" rIns="91438" bIns="45719"/>
          <a:lstStyle/>
          <a:p>
            <a:endParaRPr lang="zh-CN" altLang="en-US">
              <a:solidFill>
                <a:prstClr val="black"/>
              </a:solidFill>
            </a:endParaRPr>
          </a:p>
        </p:txBody>
      </p:sp>
      <p:sp>
        <p:nvSpPr>
          <p:cNvPr id="6" name="灯片编号占位符 5"/>
          <p:cNvSpPr>
            <a:spLocks noGrp="1"/>
          </p:cNvSpPr>
          <p:nvPr>
            <p:ph type="sldNum" sz="quarter" idx="12"/>
          </p:nvPr>
        </p:nvSpPr>
        <p:spPr>
          <a:xfrm>
            <a:off x="6553200" y="4767264"/>
            <a:ext cx="2133600" cy="273844"/>
          </a:xfrm>
          <a:prstGeom prst="rect">
            <a:avLst/>
          </a:prstGeom>
        </p:spPr>
        <p:txBody>
          <a:bodyPr lIns="91438" tIns="45719" rIns="91438" bIns="45719"/>
          <a:lstStyle/>
          <a:p>
            <a:fld id="{23CBF4B4-C160-4F55-AC7D-1C8FF5BA05FA}"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lIns="91438" tIns="45719" rIns="91438" bIns="45719"/>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lIns="91438" tIns="45719" rIns="91438" bIns="45719"/>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457200" y="4767264"/>
            <a:ext cx="2133600" cy="273844"/>
          </a:xfrm>
          <a:prstGeom prst="rect">
            <a:avLst/>
          </a:prstGeom>
        </p:spPr>
        <p:txBody>
          <a:bodyPr lIns="91438" tIns="45719" rIns="91438" bIns="45719"/>
          <a:lstStyle/>
          <a:p>
            <a:fld id="{5E137E13-6931-4ECB-BB5B-849FB74182C0}"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124200" y="4767264"/>
            <a:ext cx="2895600" cy="273844"/>
          </a:xfrm>
          <a:prstGeom prst="rect">
            <a:avLst/>
          </a:prstGeom>
        </p:spPr>
        <p:txBody>
          <a:bodyPr lIns="91438" tIns="45719" rIns="91438" bIns="45719"/>
          <a:lstStyle/>
          <a:p>
            <a:endParaRPr lang="zh-CN" altLang="en-US">
              <a:solidFill>
                <a:prstClr val="black"/>
              </a:solidFill>
            </a:endParaRPr>
          </a:p>
        </p:txBody>
      </p:sp>
      <p:sp>
        <p:nvSpPr>
          <p:cNvPr id="6" name="灯片编号占位符 5"/>
          <p:cNvSpPr>
            <a:spLocks noGrp="1"/>
          </p:cNvSpPr>
          <p:nvPr>
            <p:ph type="sldNum" sz="quarter" idx="12"/>
          </p:nvPr>
        </p:nvSpPr>
        <p:spPr>
          <a:xfrm>
            <a:off x="6553200" y="4767264"/>
            <a:ext cx="2133600" cy="273844"/>
          </a:xfrm>
          <a:prstGeom prst="rect">
            <a:avLst/>
          </a:prstGeom>
        </p:spPr>
        <p:txBody>
          <a:bodyPr lIns="91438" tIns="45719" rIns="91438" bIns="45719"/>
          <a:lstStyle/>
          <a:p>
            <a:fld id="{23CBF4B4-C160-4F55-AC7D-1C8FF5BA05FA}"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7" name="矩形 6"/>
          <p:cNvSpPr/>
          <p:nvPr userDrawn="1"/>
        </p:nvSpPr>
        <p:spPr>
          <a:xfrm>
            <a:off x="0" y="1"/>
            <a:ext cx="9144000" cy="69954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solidFill>
                <a:prstClr val="white"/>
              </a:solidFill>
            </a:endParaRPr>
          </a:p>
        </p:txBody>
      </p:sp>
      <p:sp>
        <p:nvSpPr>
          <p:cNvPr id="3" name="矩形 2"/>
          <p:cNvSpPr/>
          <p:nvPr userDrawn="1"/>
        </p:nvSpPr>
        <p:spPr>
          <a:xfrm>
            <a:off x="0" y="4986338"/>
            <a:ext cx="9144000" cy="15716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defTabSz="685800"/>
            <a:endParaRPr lang="zh-CN" altLang="en-US" sz="1400">
              <a:solidFill>
                <a:prstClr val="white"/>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7" name="矩形 6"/>
          <p:cNvSpPr/>
          <p:nvPr userDrawn="1"/>
        </p:nvSpPr>
        <p:spPr>
          <a:xfrm>
            <a:off x="0" y="1"/>
            <a:ext cx="9144000" cy="69954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solidFill>
                <a:prstClr val="white"/>
              </a:solidFill>
            </a:endParaRPr>
          </a:p>
        </p:txBody>
      </p:sp>
      <p:sp>
        <p:nvSpPr>
          <p:cNvPr id="9" name="矩形 8"/>
          <p:cNvSpPr/>
          <p:nvPr userDrawn="1"/>
        </p:nvSpPr>
        <p:spPr>
          <a:xfrm>
            <a:off x="6477502" y="175741"/>
            <a:ext cx="915631" cy="311621"/>
          </a:xfrm>
          <a:prstGeom prst="rect">
            <a:avLst/>
          </a:prstGeom>
        </p:spPr>
        <p:txBody>
          <a:bodyPr wrap="none" lIns="91438" tIns="45719" rIns="91438" bIns="45719">
            <a:spAutoFit/>
          </a:bodyPr>
          <a:lstStyle/>
          <a:p>
            <a:r>
              <a:rPr lang="zh-CN" altLang="en-US" sz="1400" dirty="0">
                <a:solidFill>
                  <a:prstClr val="white"/>
                </a:solidFill>
                <a:latin typeface="微软雅黑" panose="020B0503020204020204" pitchFamily="34" charset="-122"/>
                <a:ea typeface="微软雅黑" panose="020B0503020204020204" pitchFamily="34" charset="-122"/>
              </a:rPr>
              <a:t>课题综述</a:t>
            </a:r>
            <a:endParaRPr lang="zh-CN" altLang="en-US" sz="1400" dirty="0">
              <a:solidFill>
                <a:prstClr val="white"/>
              </a:solidFill>
              <a:latin typeface="微软雅黑" panose="020B0503020204020204" pitchFamily="34" charset="-122"/>
              <a:ea typeface="微软雅黑" panose="020B0503020204020204" pitchFamily="34" charset="-122"/>
            </a:endParaRPr>
          </a:p>
        </p:txBody>
      </p:sp>
      <p:sp>
        <p:nvSpPr>
          <p:cNvPr id="10" name="矩形 9"/>
          <p:cNvSpPr/>
          <p:nvPr userDrawn="1"/>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11" name="矩形 10"/>
          <p:cNvSpPr/>
          <p:nvPr userDrawn="1"/>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12" name="矩形 11"/>
          <p:cNvSpPr/>
          <p:nvPr userDrawn="1"/>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13" name="矩形 12"/>
          <p:cNvSpPr/>
          <p:nvPr userDrawn="1"/>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14" name="矩形 13"/>
          <p:cNvSpPr/>
          <p:nvPr userDrawn="1"/>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15" name="矩形 14"/>
          <p:cNvSpPr/>
          <p:nvPr userDrawn="1"/>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0" y="4986338"/>
            <a:ext cx="9144000" cy="15716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defTabSz="685800"/>
            <a:endParaRPr lang="zh-CN" altLang="en-US" sz="1400">
              <a:solidFill>
                <a:prstClr val="white"/>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1"/>
            <a:ext cx="7772400" cy="1102519"/>
          </a:xfrm>
          <a:prstGeom prst="rect">
            <a:avLst/>
          </a:prstGeom>
        </p:spPr>
        <p:txBody>
          <a:bodyPr lIns="68577" tIns="34289" rIns="68577" bIns="34289"/>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lIns="68577" tIns="34289" rIns="68577" bIns="34289"/>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lIns="68577" tIns="34289" rIns="68577" bIns="34289"/>
          <a:lstStyle/>
          <a:p>
            <a:r>
              <a:rPr lang="zh-CN" altLang="en-US"/>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lIns="68577" tIns="34289" rIns="68577" bIns="34289"/>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710" y="3305176"/>
            <a:ext cx="7772400" cy="1021556"/>
          </a:xfrm>
          <a:prstGeom prst="rect">
            <a:avLst/>
          </a:prstGeom>
        </p:spPr>
        <p:txBody>
          <a:bodyPr lIns="68577" tIns="34289" rIns="68577" bIns="34289" anchor="t"/>
          <a:lstStyle>
            <a:lvl1pPr algn="l">
              <a:defRPr sz="3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710" y="2180035"/>
            <a:ext cx="7772400" cy="1125140"/>
          </a:xfrm>
          <a:prstGeom prst="rect">
            <a:avLst/>
          </a:prstGeom>
        </p:spPr>
        <p:txBody>
          <a:bodyPr lIns="68577" tIns="34289" rIns="68577" bIns="34289" anchor="b"/>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lIns="68577" tIns="34289" rIns="68577" bIns="34289"/>
          <a:lstStyle/>
          <a:p>
            <a:r>
              <a:rPr lang="zh-CN" altLang="en-US"/>
              <a:t>单击此处编辑母版标题样式</a:t>
            </a:r>
            <a:endParaRPr lang="zh-CN" altLang="en-US"/>
          </a:p>
        </p:txBody>
      </p:sp>
      <p:sp>
        <p:nvSpPr>
          <p:cNvPr id="3" name="内容占位符 2"/>
          <p:cNvSpPr>
            <a:spLocks noGrp="1"/>
          </p:cNvSpPr>
          <p:nvPr>
            <p:ph sz="half" idx="1"/>
          </p:nvPr>
        </p:nvSpPr>
        <p:spPr>
          <a:xfrm>
            <a:off x="457200" y="1200151"/>
            <a:ext cx="4057650" cy="3394472"/>
          </a:xfrm>
          <a:prstGeom prst="rect">
            <a:avLst/>
          </a:prstGeom>
        </p:spPr>
        <p:txBody>
          <a:bodyPr lIns="68577" tIns="34289" rIns="68577" bIns="34289"/>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29150" y="1200151"/>
            <a:ext cx="4057650" cy="3394472"/>
          </a:xfrm>
          <a:prstGeom prst="rect">
            <a:avLst/>
          </a:prstGeom>
        </p:spPr>
        <p:txBody>
          <a:bodyPr lIns="68577" tIns="34289" rIns="68577" bIns="34289"/>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lIns="68577" tIns="34289" rIns="68577" bIns="34289"/>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2" y="1151335"/>
            <a:ext cx="4039791" cy="479822"/>
          </a:xfrm>
          <a:prstGeom prst="rect">
            <a:avLst/>
          </a:prstGeom>
        </p:spPr>
        <p:txBody>
          <a:bodyPr lIns="68577" tIns="34289" rIns="68577" bIns="34289"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2" y="1631156"/>
            <a:ext cx="4039791" cy="2963466"/>
          </a:xfrm>
          <a:prstGeom prst="rect">
            <a:avLst/>
          </a:prstGeom>
        </p:spPr>
        <p:txBody>
          <a:bodyPr lIns="68577" tIns="34289" rIns="68577" bIns="34289"/>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4628" y="1151335"/>
            <a:ext cx="4042172" cy="479822"/>
          </a:xfrm>
          <a:prstGeom prst="rect">
            <a:avLst/>
          </a:prstGeom>
        </p:spPr>
        <p:txBody>
          <a:bodyPr lIns="68577" tIns="34289" rIns="68577" bIns="34289"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4628" y="1631156"/>
            <a:ext cx="4042172" cy="2963466"/>
          </a:xfrm>
          <a:prstGeom prst="rect">
            <a:avLst/>
          </a:prstGeom>
        </p:spPr>
        <p:txBody>
          <a:bodyPr lIns="68577" tIns="34289" rIns="68577" bIns="34289"/>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lIns="68577" tIns="34289" rIns="68577" bIns="34289"/>
          <a:lstStyle/>
          <a:p>
            <a:r>
              <a:rPr lang="zh-CN" altLang="en-US"/>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7"/>
            <a:ext cx="3008710" cy="871538"/>
          </a:xfrm>
          <a:prstGeom prst="rect">
            <a:avLst/>
          </a:prstGeom>
        </p:spPr>
        <p:txBody>
          <a:bodyPr lIns="68577" tIns="34289" rIns="68577" bIns="34289" anchor="b"/>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3575450" y="204790"/>
            <a:ext cx="5111353" cy="4389835"/>
          </a:xfrm>
          <a:prstGeom prst="rect">
            <a:avLst/>
          </a:prstGeom>
        </p:spPr>
        <p:txBody>
          <a:bodyPr lIns="68577" tIns="34289" rIns="68577" bIns="34289"/>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076328"/>
            <a:ext cx="3008710" cy="3518297"/>
          </a:xfrm>
          <a:prstGeom prst="rect">
            <a:avLst/>
          </a:prstGeom>
        </p:spPr>
        <p:txBody>
          <a:bodyPr lIns="68577" tIns="34289" rIns="68577" bIns="34289"/>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1891" y="3600451"/>
            <a:ext cx="5486400" cy="425054"/>
          </a:xfrm>
          <a:prstGeom prst="rect">
            <a:avLst/>
          </a:prstGeom>
        </p:spPr>
        <p:txBody>
          <a:bodyPr lIns="68577" tIns="34289" rIns="68577" bIns="34289" anchor="b"/>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1891" y="459581"/>
            <a:ext cx="5486400" cy="3086100"/>
          </a:xfrm>
          <a:prstGeom prst="rect">
            <a:avLst/>
          </a:prstGeom>
        </p:spPr>
        <p:txBody>
          <a:bodyPr lIns="68577" tIns="34289" rIns="68577" bIns="34289"/>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sym typeface="Calibri" panose="020F0502020204030204" pitchFamily="34" charset="0"/>
            </a:endParaRPr>
          </a:p>
        </p:txBody>
      </p:sp>
      <p:sp>
        <p:nvSpPr>
          <p:cNvPr id="4" name="文本占位符 3"/>
          <p:cNvSpPr>
            <a:spLocks noGrp="1"/>
          </p:cNvSpPr>
          <p:nvPr>
            <p:ph type="body" sz="half" idx="2"/>
          </p:nvPr>
        </p:nvSpPr>
        <p:spPr>
          <a:xfrm>
            <a:off x="1791891" y="4025505"/>
            <a:ext cx="5486400" cy="603647"/>
          </a:xfrm>
          <a:prstGeom prst="rect">
            <a:avLst/>
          </a:prstGeom>
        </p:spPr>
        <p:txBody>
          <a:bodyPr lIns="68577" tIns="34289" rIns="68577" bIns="34289"/>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lIns="68577" tIns="34289" rIns="68577" bIns="34289"/>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lIns="68577" tIns="34289" rIns="68577" bIns="34289"/>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80"/>
            <a:ext cx="2057400" cy="4388644"/>
          </a:xfrm>
          <a:prstGeom prst="rect">
            <a:avLst/>
          </a:prstGeom>
        </p:spPr>
        <p:txBody>
          <a:bodyPr vert="eaVert" lIns="68577" tIns="34289" rIns="68577" bIns="34289"/>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05980"/>
            <a:ext cx="6057900" cy="4388644"/>
          </a:xfrm>
          <a:prstGeom prst="rect">
            <a:avLst/>
          </a:prstGeom>
        </p:spPr>
        <p:txBody>
          <a:bodyPr vert="eaVert" lIns="68577" tIns="34289" rIns="68577" bIns="34289"/>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lIns="68577" tIns="34289" rIns="68577" bIns="34289"/>
          <a:lstStyle/>
          <a:p>
            <a:r>
              <a:rPr lang="zh-CN" altLang="en-US"/>
              <a:t>单击此处编辑母版标题样式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3" Type="http://schemas.openxmlformats.org/officeDocument/2006/relationships/theme" Target="../theme/theme2.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UpDiag">
          <a:fgClr>
            <a:schemeClr val="bg1">
              <a:lumMod val="95000"/>
            </a:schemeClr>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矩形 1"/>
          <p:cNvSpPr>
            <a:spLocks noChangeArrowheads="1"/>
          </p:cNvSpPr>
          <p:nvPr/>
        </p:nvSpPr>
        <p:spPr bwMode="auto">
          <a:xfrm>
            <a:off x="308374" y="0"/>
            <a:ext cx="906065" cy="781050"/>
          </a:xfrm>
          <a:prstGeom prst="rect">
            <a:avLst/>
          </a:prstGeom>
          <a:solidFill>
            <a:srgbClr val="3E3D4F"/>
          </a:solidFill>
          <a:ln>
            <a:noFill/>
          </a:ln>
          <a:extLst>
            <a:ext uri="{91240B29-F687-4F45-9708-019B960494DF}">
              <a14:hiddenLine xmlns:a14="http://schemas.microsoft.com/office/drawing/2010/main" w="12700">
                <a:solidFill>
                  <a:srgbClr val="42719B"/>
                </a:solidFill>
                <a:bevel/>
              </a14:hiddenLine>
            </a:ext>
          </a:extLst>
        </p:spPr>
        <p:txBody>
          <a:bodyPr lIns="68577" tIns="34289" rIns="68577" bIns="34289"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zh-CN">
              <a:solidFill>
                <a:srgbClr val="FFFFFF"/>
              </a:solidFill>
              <a:latin typeface="方正兰亭粗黑_GBK" charset="-122"/>
              <a:ea typeface="方正兰亭粗黑_GBK" charset="-122"/>
            </a:endParaRPr>
          </a:p>
        </p:txBody>
      </p:sp>
      <p:sp>
        <p:nvSpPr>
          <p:cNvPr id="1027" name="矩形 2"/>
          <p:cNvSpPr>
            <a:spLocks noChangeArrowheads="1"/>
          </p:cNvSpPr>
          <p:nvPr/>
        </p:nvSpPr>
        <p:spPr bwMode="auto">
          <a:xfrm>
            <a:off x="0" y="4866086"/>
            <a:ext cx="9144000" cy="288131"/>
          </a:xfrm>
          <a:prstGeom prst="rect">
            <a:avLst/>
          </a:prstGeom>
          <a:solidFill>
            <a:srgbClr val="3E3D4F"/>
          </a:solidFill>
          <a:ln>
            <a:noFill/>
          </a:ln>
          <a:extLst>
            <a:ext uri="{91240B29-F687-4F45-9708-019B960494DF}">
              <a14:hiddenLine xmlns:a14="http://schemas.microsoft.com/office/drawing/2010/main" w="12700">
                <a:solidFill>
                  <a:srgbClr val="42719B"/>
                </a:solidFill>
                <a:bevel/>
              </a14:hiddenLine>
            </a:ext>
          </a:extLst>
        </p:spPr>
        <p:txBody>
          <a:bodyPr lIns="68577" tIns="34289" rIns="68577" bIns="34289"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zh-CN">
              <a:solidFill>
                <a:srgbClr val="FFFFFF"/>
              </a:solidFill>
              <a:latin typeface="方正兰亭粗黑_GBK" charset="-122"/>
              <a:ea typeface="方正兰亭粗黑_GBK" charset="-122"/>
            </a:endParaRPr>
          </a:p>
        </p:txBody>
      </p:sp>
      <p:sp>
        <p:nvSpPr>
          <p:cNvPr id="1028" name="TextBox 15"/>
          <p:cNvSpPr>
            <a:spLocks noChangeArrowheads="1"/>
          </p:cNvSpPr>
          <p:nvPr/>
        </p:nvSpPr>
        <p:spPr bwMode="auto">
          <a:xfrm>
            <a:off x="8355807" y="4885136"/>
            <a:ext cx="653654" cy="253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77" tIns="34289" rIns="68577" bIns="3428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buFont typeface="Arial" panose="020B0604020202020204" pitchFamily="34" charset="0"/>
              <a:buNone/>
            </a:pPr>
            <a:r>
              <a:rPr lang="en-US" altLang="zh-CN" sz="1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 </a:t>
            </a:r>
            <a:fld id="{BBDB9114-3690-4FC0-8E90-D70C99A59258}" type="slidenum">
              <a:rPr lang="zh-CN" altLang="en-US" sz="1200" smtClean="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fld>
            <a:r>
              <a:rPr lang="zh-CN" altLang="en-US" sz="1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 </a:t>
            </a:r>
            <a:r>
              <a:rPr lang="en-US" altLang="zh-CN" sz="1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a:t>
            </a:r>
            <a:r>
              <a:rPr lang="zh-CN" altLang="en-US" sz="1200">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 </a:t>
            </a:r>
            <a:endParaRPr lang="zh-CN" altLang="en-US" sz="1200" b="1">
              <a:solidFill>
                <a:srgbClr val="FFFFFF"/>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marL="684530" indent="-684530" algn="l" rtl="0" eaLnBrk="0" fontAlgn="base" hangingPunct="0">
        <a:lnSpc>
          <a:spcPct val="90000"/>
        </a:lnSpc>
        <a:spcBef>
          <a:spcPct val="0"/>
        </a:spcBef>
        <a:spcAft>
          <a:spcPct val="0"/>
        </a:spcAft>
        <a:defRPr sz="3300">
          <a:solidFill>
            <a:schemeClr val="tx1"/>
          </a:solidFill>
          <a:latin typeface="+mj-lt"/>
          <a:ea typeface="+mj-ea"/>
          <a:cs typeface="+mj-cs"/>
          <a:sym typeface="Browallia New" pitchFamily="34" charset="-34"/>
        </a:defRPr>
      </a:lvl1pPr>
      <a:lvl2pPr marL="684530" indent="-684530" algn="l" rtl="0" eaLnBrk="0" fontAlgn="base" hangingPunct="0">
        <a:lnSpc>
          <a:spcPct val="90000"/>
        </a:lnSpc>
        <a:spcBef>
          <a:spcPct val="0"/>
        </a:spcBef>
        <a:spcAft>
          <a:spcPct val="0"/>
        </a:spcAft>
        <a:defRPr sz="3300">
          <a:solidFill>
            <a:schemeClr val="tx1"/>
          </a:solidFill>
          <a:latin typeface="Browallia New" pitchFamily="34" charset="-34"/>
          <a:ea typeface="微软雅黑" panose="020B0503020204020204" pitchFamily="34" charset="-122"/>
          <a:sym typeface="Browallia New" pitchFamily="34" charset="-34"/>
        </a:defRPr>
      </a:lvl2pPr>
      <a:lvl3pPr marL="684530" indent="-684530" algn="l" rtl="0" eaLnBrk="0" fontAlgn="base" hangingPunct="0">
        <a:lnSpc>
          <a:spcPct val="90000"/>
        </a:lnSpc>
        <a:spcBef>
          <a:spcPct val="0"/>
        </a:spcBef>
        <a:spcAft>
          <a:spcPct val="0"/>
        </a:spcAft>
        <a:defRPr sz="3300">
          <a:solidFill>
            <a:schemeClr val="tx1"/>
          </a:solidFill>
          <a:latin typeface="Browallia New" pitchFamily="34" charset="-34"/>
          <a:ea typeface="微软雅黑" panose="020B0503020204020204" pitchFamily="34" charset="-122"/>
          <a:sym typeface="Browallia New" pitchFamily="34" charset="-34"/>
        </a:defRPr>
      </a:lvl3pPr>
      <a:lvl4pPr marL="684530" indent="-684530" algn="l" rtl="0" eaLnBrk="0" fontAlgn="base" hangingPunct="0">
        <a:lnSpc>
          <a:spcPct val="90000"/>
        </a:lnSpc>
        <a:spcBef>
          <a:spcPct val="0"/>
        </a:spcBef>
        <a:spcAft>
          <a:spcPct val="0"/>
        </a:spcAft>
        <a:defRPr sz="3300">
          <a:solidFill>
            <a:schemeClr val="tx1"/>
          </a:solidFill>
          <a:latin typeface="Browallia New" pitchFamily="34" charset="-34"/>
          <a:ea typeface="微软雅黑" panose="020B0503020204020204" pitchFamily="34" charset="-122"/>
          <a:sym typeface="Browallia New" pitchFamily="34" charset="-34"/>
        </a:defRPr>
      </a:lvl4pPr>
      <a:lvl5pPr marL="684530" indent="-684530" algn="l" rtl="0" eaLnBrk="0" fontAlgn="base" hangingPunct="0">
        <a:lnSpc>
          <a:spcPct val="90000"/>
        </a:lnSpc>
        <a:spcBef>
          <a:spcPct val="0"/>
        </a:spcBef>
        <a:spcAft>
          <a:spcPct val="0"/>
        </a:spcAft>
        <a:defRPr sz="3300">
          <a:solidFill>
            <a:schemeClr val="tx1"/>
          </a:solidFill>
          <a:latin typeface="Browallia New" pitchFamily="34" charset="-34"/>
          <a:ea typeface="微软雅黑" panose="020B0503020204020204" pitchFamily="34" charset="-122"/>
          <a:sym typeface="Browallia New" pitchFamily="34" charset="-34"/>
        </a:defRPr>
      </a:lvl5pPr>
      <a:lvl6pPr marL="1028700" indent="-685800" algn="l" rtl="0" fontAlgn="base">
        <a:lnSpc>
          <a:spcPct val="90000"/>
        </a:lnSpc>
        <a:spcBef>
          <a:spcPct val="0"/>
        </a:spcBef>
        <a:spcAft>
          <a:spcPct val="0"/>
        </a:spcAft>
        <a:defRPr sz="3300">
          <a:solidFill>
            <a:schemeClr val="tx1"/>
          </a:solidFill>
          <a:latin typeface="Browallia New" pitchFamily="34" charset="-34"/>
          <a:ea typeface="微软雅黑" panose="020B0503020204020204" pitchFamily="34" charset="-122"/>
          <a:sym typeface="Browallia New" pitchFamily="34" charset="-34"/>
        </a:defRPr>
      </a:lvl6pPr>
      <a:lvl7pPr marL="1371600" indent="-685800" algn="l" rtl="0" fontAlgn="base">
        <a:lnSpc>
          <a:spcPct val="90000"/>
        </a:lnSpc>
        <a:spcBef>
          <a:spcPct val="0"/>
        </a:spcBef>
        <a:spcAft>
          <a:spcPct val="0"/>
        </a:spcAft>
        <a:defRPr sz="3300">
          <a:solidFill>
            <a:schemeClr val="tx1"/>
          </a:solidFill>
          <a:latin typeface="Browallia New" pitchFamily="34" charset="-34"/>
          <a:ea typeface="微软雅黑" panose="020B0503020204020204" pitchFamily="34" charset="-122"/>
          <a:sym typeface="Browallia New" pitchFamily="34" charset="-34"/>
        </a:defRPr>
      </a:lvl7pPr>
      <a:lvl8pPr marL="1714500" indent="-685800" algn="l" rtl="0" fontAlgn="base">
        <a:lnSpc>
          <a:spcPct val="90000"/>
        </a:lnSpc>
        <a:spcBef>
          <a:spcPct val="0"/>
        </a:spcBef>
        <a:spcAft>
          <a:spcPct val="0"/>
        </a:spcAft>
        <a:defRPr sz="3300">
          <a:solidFill>
            <a:schemeClr val="tx1"/>
          </a:solidFill>
          <a:latin typeface="Browallia New" pitchFamily="34" charset="-34"/>
          <a:ea typeface="微软雅黑" panose="020B0503020204020204" pitchFamily="34" charset="-122"/>
          <a:sym typeface="Browallia New" pitchFamily="34" charset="-34"/>
        </a:defRPr>
      </a:lvl8pPr>
      <a:lvl9pPr marL="2057400" indent="-685800" algn="l" rtl="0" fontAlgn="base">
        <a:lnSpc>
          <a:spcPct val="90000"/>
        </a:lnSpc>
        <a:spcBef>
          <a:spcPct val="0"/>
        </a:spcBef>
        <a:spcAft>
          <a:spcPct val="0"/>
        </a:spcAft>
        <a:defRPr sz="3300">
          <a:solidFill>
            <a:schemeClr val="tx1"/>
          </a:solidFill>
          <a:latin typeface="Browallia New" pitchFamily="34" charset="-34"/>
          <a:ea typeface="微软雅黑" panose="020B0503020204020204" pitchFamily="34" charset="-122"/>
          <a:sym typeface="Browallia New" pitchFamily="34" charset="-34"/>
        </a:defRPr>
      </a:lvl9pPr>
    </p:titleStyle>
    <p:bodyStyle>
      <a:lvl1pPr marL="170180" indent="-170180" algn="l"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pitchFamily="34" charset="0"/>
        </a:defRPr>
      </a:lvl1pPr>
      <a:lvl2pPr marL="513080" indent="-170180" algn="l" rtl="0" eaLnBrk="0" fontAlgn="base" hangingPunct="0">
        <a:lnSpc>
          <a:spcPct val="90000"/>
        </a:lnSpc>
        <a:spcBef>
          <a:spcPts val="375"/>
        </a:spcBef>
        <a:spcAft>
          <a:spcPct val="0"/>
        </a:spcAft>
        <a:buFont typeface="Arial" panose="020B0604020202020204" pitchFamily="34" charset="0"/>
        <a:buChar char="•"/>
        <a:defRPr sz="1800">
          <a:solidFill>
            <a:schemeClr val="tx1"/>
          </a:solidFill>
          <a:latin typeface="+mn-lt"/>
          <a:ea typeface="+mn-ea"/>
          <a:sym typeface="Calibri" panose="020F0502020204030204" pitchFamily="34" charset="0"/>
        </a:defRPr>
      </a:lvl2pPr>
      <a:lvl3pPr marL="855980" indent="-170180" algn="l"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pitchFamily="34" charset="0"/>
        </a:defRPr>
      </a:lvl3pPr>
      <a:lvl4pPr marL="1198880" indent="-170180" algn="l" rtl="0" eaLnBrk="0" fontAlgn="base" hangingPunct="0">
        <a:lnSpc>
          <a:spcPct val="90000"/>
        </a:lnSpc>
        <a:spcBef>
          <a:spcPts val="375"/>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1541780" indent="-170180" algn="l" rtl="0" eaLnBrk="0" fontAlgn="base" hangingPunct="0">
        <a:lnSpc>
          <a:spcPct val="90000"/>
        </a:lnSpc>
        <a:spcBef>
          <a:spcPts val="375"/>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1885950" indent="-171450" algn="l" rtl="0" fontAlgn="base">
        <a:lnSpc>
          <a:spcPct val="90000"/>
        </a:lnSpc>
        <a:spcBef>
          <a:spcPts val="375"/>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228850" indent="-171450" algn="l" rtl="0" fontAlgn="base">
        <a:lnSpc>
          <a:spcPct val="90000"/>
        </a:lnSpc>
        <a:spcBef>
          <a:spcPts val="375"/>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2571750" indent="-171450" algn="l" rtl="0" fontAlgn="base">
        <a:lnSpc>
          <a:spcPct val="90000"/>
        </a:lnSpc>
        <a:spcBef>
          <a:spcPts val="375"/>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2914650" indent="-171450" algn="l" rtl="0" fontAlgn="base">
        <a:lnSpc>
          <a:spcPct val="90000"/>
        </a:lnSpc>
        <a:spcBef>
          <a:spcPts val="375"/>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2.xml"/><Relationship Id="rId13" Type="http://schemas.openxmlformats.org/officeDocument/2006/relationships/slideLayout" Target="../slideLayouts/slideLayout12.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vmlDrawing" Target="../drawings/vmlDrawing1.v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emf"/><Relationship Id="rId1"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2.xml"/><Relationship Id="rId2" Type="http://schemas.openxmlformats.org/officeDocument/2006/relationships/image" Target="../media/image11.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2.xml"/><Relationship Id="rId2" Type="http://schemas.openxmlformats.org/officeDocument/2006/relationships/image" Target="../media/image13.png"/><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2.xml"/><Relationship Id="rId2" Type="http://schemas.openxmlformats.org/officeDocument/2006/relationships/image" Target="../media/image15.png"/><Relationship Id="rId1" Type="http://schemas.openxmlformats.org/officeDocument/2006/relationships/image" Target="../media/image14.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2.xml"/><Relationship Id="rId2" Type="http://schemas.openxmlformats.org/officeDocument/2006/relationships/image" Target="../media/image16.png"/><Relationship Id="rId1" Type="http://schemas.openxmlformats.org/officeDocument/2006/relationships/image" Target="../media/image14.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2.xml"/><Relationship Id="rId2" Type="http://schemas.openxmlformats.org/officeDocument/2006/relationships/image" Target="../media/image18.png"/><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2.xml"/><Relationship Id="rId2" Type="http://schemas.openxmlformats.org/officeDocument/2006/relationships/image" Target="../media/image20.png"/><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2.xml"/><Relationship Id="rId2" Type="http://schemas.openxmlformats.org/officeDocument/2006/relationships/image" Target="../media/image20.png"/><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2.xml"/><Relationship Id="rId2" Type="http://schemas.openxmlformats.org/officeDocument/2006/relationships/image" Target="../media/image22.png"/><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2.xml"/><Relationship Id="rId2" Type="http://schemas.openxmlformats.org/officeDocument/2006/relationships/image" Target="../media/image24.png"/><Relationship Id="rId1"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tags" Target="../tags/tag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xml"/><Relationship Id="rId1"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2.xml"/><Relationship Id="rId2" Type="http://schemas.openxmlformats.org/officeDocument/2006/relationships/image" Target="../media/image27.png"/><Relationship Id="rId1" Type="http://schemas.openxmlformats.org/officeDocument/2006/relationships/image" Target="../media/image26.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2.xml"/><Relationship Id="rId2" Type="http://schemas.openxmlformats.org/officeDocument/2006/relationships/image" Target="../media/image29.png"/><Relationship Id="rId1" Type="http://schemas.openxmlformats.org/officeDocument/2006/relationships/image" Target="../media/image28.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2.xml"/><Relationship Id="rId2" Type="http://schemas.openxmlformats.org/officeDocument/2006/relationships/image" Target="../media/image31.png"/><Relationship Id="rId1" Type="http://schemas.openxmlformats.org/officeDocument/2006/relationships/image" Target="../media/image30.pn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12.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2.xml"/><Relationship Id="rId2" Type="http://schemas.openxmlformats.org/officeDocument/2006/relationships/image" Target="../media/image36.png"/><Relationship Id="rId1" Type="http://schemas.openxmlformats.org/officeDocument/2006/relationships/image" Target="../media/image35.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2.xml"/><Relationship Id="rId1"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2.xml"/><Relationship Id="rId1" Type="http://schemas.openxmlformats.org/officeDocument/2006/relationships/image" Target="../media/image38.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2.xml"/><Relationship Id="rId1" Type="http://schemas.openxmlformats.org/officeDocument/2006/relationships/image" Target="../media/image39.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2.xml"/><Relationship Id="rId1" Type="http://schemas.openxmlformats.org/officeDocument/2006/relationships/image" Target="../media/image40.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2.xml"/><Relationship Id="rId2" Type="http://schemas.openxmlformats.org/officeDocument/2006/relationships/image" Target="../media/image41.png"/><Relationship Id="rId1" Type="http://schemas.openxmlformats.org/officeDocument/2006/relationships/tags" Target="../tags/tag14.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12.xml"/><Relationship Id="rId2" Type="http://schemas.openxmlformats.org/officeDocument/2006/relationships/image" Target="../media/image42.png"/><Relationship Id="rId1" Type="http://schemas.openxmlformats.org/officeDocument/2006/relationships/tags" Target="../tags/tag15.xm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2.xml"/><Relationship Id="rId2" Type="http://schemas.openxmlformats.org/officeDocument/2006/relationships/image" Target="../media/image43.png"/><Relationship Id="rId1" Type="http://schemas.openxmlformats.org/officeDocument/2006/relationships/tags" Target="../tags/tag16.xml"/></Relationships>
</file>

<file path=ppt/slides/_rels/slide43.xml.rels><?xml version="1.0" encoding="UTF-8" standalone="yes"?>
<Relationships xmlns="http://schemas.openxmlformats.org/package/2006/relationships"><Relationship Id="rId7" Type="http://schemas.openxmlformats.org/officeDocument/2006/relationships/notesSlide" Target="../notesSlides/notesSlide43.xml"/><Relationship Id="rId6" Type="http://schemas.openxmlformats.org/officeDocument/2006/relationships/slideLayout" Target="../slideLayouts/slideLayout12.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image" Target="../media/image44.png"/><Relationship Id="rId1" Type="http://schemas.openxmlformats.org/officeDocument/2006/relationships/tags" Target="../tags/tag17.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2.xml"/><Relationship Id="rId1" Type="http://schemas.openxmlformats.org/officeDocument/2006/relationships/hyperlink" Target="&#36739;&#24046;&#30340;&#35770;&#25991;\8&#25968;&#25454;&#23384;&#22312;&#22823;&#37327;&#20887;&#20313;.docx" TargetMode="Externa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2.xml"/><Relationship Id="rId1" Type="http://schemas.openxmlformats.org/officeDocument/2006/relationships/image" Target="../media/image45.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sp>
        <p:nvSpPr>
          <p:cNvPr id="41" name="TextBox 40"/>
          <p:cNvSpPr txBox="1"/>
          <p:nvPr/>
        </p:nvSpPr>
        <p:spPr>
          <a:xfrm>
            <a:off x="3203848" y="1070224"/>
            <a:ext cx="5696814" cy="1544320"/>
          </a:xfrm>
          <a:prstGeom prst="rect">
            <a:avLst/>
          </a:prstGeom>
        </p:spPr>
        <p:txBody>
          <a:bodyPr wrap="square" lIns="68579" tIns="34289" rIns="68579" bIns="34289" anchor="ctr">
            <a:spAutoFit/>
          </a:bodyPr>
          <a:lstStyle>
            <a:defPPr>
              <a:defRPr lang="zh-CN"/>
            </a:defPPr>
            <a:lvl1pPr>
              <a:lnSpc>
                <a:spcPct val="150000"/>
              </a:lnSpc>
              <a:defRPr sz="4000" b="0">
                <a:solidFill>
                  <a:schemeClr val="bg1">
                    <a:lumMod val="50000"/>
                  </a:schemeClr>
                </a:solidFill>
                <a:latin typeface="微软雅黑" panose="020B0503020204020204" pitchFamily="34" charset="-122"/>
                <a:ea typeface="微软雅黑" panose="020B0503020204020204" pitchFamily="34" charset="-122"/>
              </a:defRPr>
            </a:lvl1pPr>
          </a:lstStyle>
          <a:p>
            <a:pPr algn="ctr"/>
            <a:r>
              <a:rPr lang="zh-CN" altLang="en-US" sz="3200" b="1" dirty="0">
                <a:solidFill>
                  <a:prstClr val="white"/>
                </a:solidFill>
                <a:latin typeface="+mn-lt"/>
                <a:ea typeface="+mn-ea"/>
                <a:cs typeface="+mn-ea"/>
                <a:sym typeface="+mn-lt"/>
              </a:rPr>
              <a:t>加强毕业设计指导工作、</a:t>
            </a:r>
            <a:r>
              <a:rPr lang="zh-CN" altLang="en-US" sz="3200" b="1" dirty="0">
                <a:solidFill>
                  <a:prstClr val="white"/>
                </a:solidFill>
                <a:latin typeface="+mn-lt"/>
                <a:ea typeface="+mn-ea"/>
                <a:cs typeface="+mn-ea"/>
                <a:sym typeface="+mn-lt"/>
              </a:rPr>
              <a:t>提高毕业设计</a:t>
            </a:r>
            <a:r>
              <a:rPr lang="zh-CN" altLang="en-US" sz="3200" b="1" dirty="0">
                <a:solidFill>
                  <a:prstClr val="white"/>
                </a:solidFill>
                <a:latin typeface="+mn-lt"/>
                <a:ea typeface="+mn-ea"/>
                <a:cs typeface="+mn-ea"/>
                <a:sym typeface="+mn-lt"/>
              </a:rPr>
              <a:t>质量</a:t>
            </a:r>
            <a:endParaRPr lang="zh-CN" altLang="en-US" sz="3200" b="1" dirty="0">
              <a:solidFill>
                <a:prstClr val="white"/>
              </a:solidFill>
              <a:latin typeface="+mn-lt"/>
              <a:ea typeface="+mn-ea"/>
              <a:cs typeface="+mn-ea"/>
              <a:sym typeface="+mn-lt"/>
            </a:endParaRPr>
          </a:p>
        </p:txBody>
      </p:sp>
      <p:sp>
        <p:nvSpPr>
          <p:cNvPr id="20" name="Freeform 5"/>
          <p:cNvSpPr>
            <a:spLocks noEditPoints="1"/>
          </p:cNvSpPr>
          <p:nvPr/>
        </p:nvSpPr>
        <p:spPr bwMode="auto">
          <a:xfrm>
            <a:off x="395536" y="953993"/>
            <a:ext cx="2736304" cy="1591228"/>
          </a:xfrm>
          <a:custGeom>
            <a:avLst/>
            <a:gdLst>
              <a:gd name="T0" fmla="*/ 135 w 139"/>
              <a:gd name="T1" fmla="*/ 61 h 81"/>
              <a:gd name="T2" fmla="*/ 131 w 139"/>
              <a:gd name="T3" fmla="*/ 56 h 81"/>
              <a:gd name="T4" fmla="*/ 131 w 139"/>
              <a:gd name="T5" fmla="*/ 27 h 81"/>
              <a:gd name="T6" fmla="*/ 139 w 139"/>
              <a:gd name="T7" fmla="*/ 24 h 81"/>
              <a:gd name="T8" fmla="*/ 70 w 139"/>
              <a:gd name="T9" fmla="*/ 0 h 81"/>
              <a:gd name="T10" fmla="*/ 0 w 139"/>
              <a:gd name="T11" fmla="*/ 24 h 81"/>
              <a:gd name="T12" fmla="*/ 70 w 139"/>
              <a:gd name="T13" fmla="*/ 48 h 81"/>
              <a:gd name="T14" fmla="*/ 127 w 139"/>
              <a:gd name="T15" fmla="*/ 28 h 81"/>
              <a:gd name="T16" fmla="*/ 127 w 139"/>
              <a:gd name="T17" fmla="*/ 56 h 81"/>
              <a:gd name="T18" fmla="*/ 123 w 139"/>
              <a:gd name="T19" fmla="*/ 61 h 81"/>
              <a:gd name="T20" fmla="*/ 126 w 139"/>
              <a:gd name="T21" fmla="*/ 64 h 81"/>
              <a:gd name="T22" fmla="*/ 123 w 139"/>
              <a:gd name="T23" fmla="*/ 81 h 81"/>
              <a:gd name="T24" fmla="*/ 135 w 139"/>
              <a:gd name="T25" fmla="*/ 81 h 81"/>
              <a:gd name="T26" fmla="*/ 132 w 139"/>
              <a:gd name="T27" fmla="*/ 64 h 81"/>
              <a:gd name="T28" fmla="*/ 135 w 139"/>
              <a:gd name="T29" fmla="*/ 61 h 81"/>
              <a:gd name="T30" fmla="*/ 28 w 139"/>
              <a:gd name="T31" fmla="*/ 42 h 81"/>
              <a:gd name="T32" fmla="*/ 28 w 139"/>
              <a:gd name="T33" fmla="*/ 69 h 81"/>
              <a:gd name="T34" fmla="*/ 70 w 139"/>
              <a:gd name="T35" fmla="*/ 81 h 81"/>
              <a:gd name="T36" fmla="*/ 111 w 139"/>
              <a:gd name="T37" fmla="*/ 69 h 81"/>
              <a:gd name="T38" fmla="*/ 111 w 139"/>
              <a:gd name="T39" fmla="*/ 42 h 81"/>
              <a:gd name="T40" fmla="*/ 70 w 139"/>
              <a:gd name="T41" fmla="*/ 56 h 81"/>
              <a:gd name="T42" fmla="*/ 28 w 139"/>
              <a:gd name="T43" fmla="*/ 42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9" h="81">
                <a:moveTo>
                  <a:pt x="135" y="61"/>
                </a:moveTo>
                <a:cubicBezTo>
                  <a:pt x="135" y="58"/>
                  <a:pt x="134" y="56"/>
                  <a:pt x="131" y="56"/>
                </a:cubicBezTo>
                <a:cubicBezTo>
                  <a:pt x="131" y="27"/>
                  <a:pt x="131" y="27"/>
                  <a:pt x="131" y="27"/>
                </a:cubicBezTo>
                <a:cubicBezTo>
                  <a:pt x="139" y="24"/>
                  <a:pt x="139" y="24"/>
                  <a:pt x="139" y="24"/>
                </a:cubicBezTo>
                <a:cubicBezTo>
                  <a:pt x="70" y="0"/>
                  <a:pt x="70" y="0"/>
                  <a:pt x="70" y="0"/>
                </a:cubicBezTo>
                <a:cubicBezTo>
                  <a:pt x="0" y="24"/>
                  <a:pt x="0" y="24"/>
                  <a:pt x="0" y="24"/>
                </a:cubicBezTo>
                <a:cubicBezTo>
                  <a:pt x="70" y="48"/>
                  <a:pt x="70" y="48"/>
                  <a:pt x="70" y="48"/>
                </a:cubicBezTo>
                <a:cubicBezTo>
                  <a:pt x="127" y="28"/>
                  <a:pt x="127" y="28"/>
                  <a:pt x="127" y="28"/>
                </a:cubicBezTo>
                <a:cubicBezTo>
                  <a:pt x="127" y="56"/>
                  <a:pt x="127" y="56"/>
                  <a:pt x="127" y="56"/>
                </a:cubicBezTo>
                <a:cubicBezTo>
                  <a:pt x="125" y="56"/>
                  <a:pt x="123" y="58"/>
                  <a:pt x="123" y="61"/>
                </a:cubicBezTo>
                <a:cubicBezTo>
                  <a:pt x="123" y="63"/>
                  <a:pt x="125" y="64"/>
                  <a:pt x="126" y="64"/>
                </a:cubicBezTo>
                <a:cubicBezTo>
                  <a:pt x="123" y="81"/>
                  <a:pt x="123" y="81"/>
                  <a:pt x="123" y="81"/>
                </a:cubicBezTo>
                <a:cubicBezTo>
                  <a:pt x="135" y="81"/>
                  <a:pt x="135" y="81"/>
                  <a:pt x="135" y="81"/>
                </a:cubicBezTo>
                <a:cubicBezTo>
                  <a:pt x="132" y="64"/>
                  <a:pt x="132" y="64"/>
                  <a:pt x="132" y="64"/>
                </a:cubicBezTo>
                <a:cubicBezTo>
                  <a:pt x="134" y="64"/>
                  <a:pt x="135" y="63"/>
                  <a:pt x="135" y="61"/>
                </a:cubicBezTo>
                <a:close/>
                <a:moveTo>
                  <a:pt x="28" y="42"/>
                </a:moveTo>
                <a:cubicBezTo>
                  <a:pt x="28" y="69"/>
                  <a:pt x="28" y="69"/>
                  <a:pt x="28" y="69"/>
                </a:cubicBezTo>
                <a:cubicBezTo>
                  <a:pt x="28" y="76"/>
                  <a:pt x="47" y="81"/>
                  <a:pt x="70" y="81"/>
                </a:cubicBezTo>
                <a:cubicBezTo>
                  <a:pt x="92" y="81"/>
                  <a:pt x="111" y="76"/>
                  <a:pt x="111" y="69"/>
                </a:cubicBezTo>
                <a:cubicBezTo>
                  <a:pt x="111" y="42"/>
                  <a:pt x="111" y="42"/>
                  <a:pt x="111" y="42"/>
                </a:cubicBezTo>
                <a:cubicBezTo>
                  <a:pt x="70" y="56"/>
                  <a:pt x="70" y="56"/>
                  <a:pt x="70" y="56"/>
                </a:cubicBezTo>
                <a:lnTo>
                  <a:pt x="28" y="42"/>
                </a:lnTo>
                <a:close/>
              </a:path>
            </a:pathLst>
          </a:custGeom>
          <a:solidFill>
            <a:schemeClr val="bg1"/>
          </a:solidFill>
          <a:ln>
            <a:noFill/>
          </a:ln>
        </p:spPr>
        <p:txBody>
          <a:bodyPr vert="horz" wrap="square" lIns="91438" tIns="45719" rIns="91438" bIns="45719" numCol="1" anchor="t" anchorCtr="0" compatLnSpc="1"/>
          <a:lstStyle/>
          <a:p>
            <a:endParaRPr lang="en-US">
              <a:cs typeface="+mn-ea"/>
              <a:sym typeface="+mn-lt"/>
            </a:endParaRPr>
          </a:p>
        </p:txBody>
      </p:sp>
      <p:sp>
        <p:nvSpPr>
          <p:cNvPr id="24" name="TextBox 90"/>
          <p:cNvSpPr txBox="1"/>
          <p:nvPr/>
        </p:nvSpPr>
        <p:spPr>
          <a:xfrm>
            <a:off x="4209415" y="3579495"/>
            <a:ext cx="2713355" cy="459105"/>
          </a:xfrm>
          <a:prstGeom prst="rect">
            <a:avLst/>
          </a:prstGeom>
          <a:noFill/>
        </p:spPr>
        <p:txBody>
          <a:bodyPr wrap="square" lIns="91438" tIns="45719" rIns="91438" bIns="45719" rtlCol="0">
            <a:spAutoFit/>
          </a:bodyPr>
          <a:lstStyle/>
          <a:p>
            <a:r>
              <a:rPr lang="zh-CN" altLang="en-US" sz="2400" dirty="0">
                <a:solidFill>
                  <a:prstClr val="white"/>
                </a:solidFill>
                <a:cs typeface="+mn-ea"/>
                <a:sym typeface="+mn-lt"/>
              </a:rPr>
              <a:t>学院：软件学院</a:t>
            </a:r>
            <a:endParaRPr lang="zh-CN" altLang="en-US" sz="2400" dirty="0">
              <a:solidFill>
                <a:prstClr val="white"/>
              </a:solidFill>
              <a:cs typeface="+mn-ea"/>
              <a:sym typeface="+mn-lt"/>
            </a:endParaRPr>
          </a:p>
        </p:txBody>
      </p:sp>
    </p:spTree>
  </p:cSld>
  <p:clrMapOvr>
    <a:masterClrMapping/>
  </p:clrMapOvr>
  <p:transition spd="slow">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38"/>
          <p:cNvSpPr txBox="1"/>
          <p:nvPr/>
        </p:nvSpPr>
        <p:spPr>
          <a:xfrm>
            <a:off x="163773" y="2347016"/>
            <a:ext cx="3123394" cy="584775"/>
          </a:xfrm>
          <a:prstGeom prst="rect">
            <a:avLst/>
          </a:prstGeom>
          <a:noFill/>
        </p:spPr>
        <p:txBody>
          <a:bodyPr wrap="square" lIns="91438" tIns="45719" rIns="91438" bIns="45719" rtlCol="0">
            <a:spAutoFit/>
          </a:bodyPr>
          <a:lstStyle/>
          <a:p>
            <a:r>
              <a:rPr lang="en-US" altLang="zh-CN" sz="3200" b="1" dirty="0">
                <a:solidFill>
                  <a:prstClr val="white">
                    <a:lumMod val="65000"/>
                  </a:prstClr>
                </a:solidFill>
                <a:cs typeface="+mn-ea"/>
                <a:sym typeface="+mn-lt"/>
              </a:rPr>
              <a:t>CONTENTS</a:t>
            </a:r>
            <a:endParaRPr lang="zh-CN" altLang="en-US" sz="3200" b="1" dirty="0">
              <a:solidFill>
                <a:prstClr val="white">
                  <a:lumMod val="65000"/>
                </a:prstClr>
              </a:solidFill>
              <a:cs typeface="+mn-ea"/>
              <a:sym typeface="+mn-lt"/>
            </a:endParaRPr>
          </a:p>
        </p:txBody>
      </p:sp>
      <p:sp>
        <p:nvSpPr>
          <p:cNvPr id="15" name="文本框 11"/>
          <p:cNvSpPr txBox="1"/>
          <p:nvPr/>
        </p:nvSpPr>
        <p:spPr>
          <a:xfrm>
            <a:off x="1979713" y="1976523"/>
            <a:ext cx="902811" cy="523220"/>
          </a:xfrm>
          <a:prstGeom prst="rect">
            <a:avLst/>
          </a:prstGeom>
          <a:noFill/>
        </p:spPr>
        <p:txBody>
          <a:bodyPr wrap="none" lIns="91438" tIns="45719" rIns="91438" bIns="45719" rtlCol="0">
            <a:spAutoFit/>
          </a:bodyPr>
          <a:lstStyle/>
          <a:p>
            <a:r>
              <a:rPr lang="zh-CN" altLang="en-US" sz="2800" b="1" dirty="0">
                <a:solidFill>
                  <a:srgbClr val="0070C0"/>
                </a:solidFill>
                <a:cs typeface="+mn-ea"/>
                <a:sym typeface="+mn-lt"/>
              </a:rPr>
              <a:t>目录</a:t>
            </a:r>
            <a:endParaRPr lang="zh-CN" altLang="en-US" sz="2800" b="1" dirty="0">
              <a:solidFill>
                <a:srgbClr val="0070C0"/>
              </a:solidFill>
              <a:cs typeface="+mn-ea"/>
              <a:sym typeface="+mn-lt"/>
            </a:endParaRPr>
          </a:p>
        </p:txBody>
      </p:sp>
      <p:cxnSp>
        <p:nvCxnSpPr>
          <p:cNvPr id="34" name="直接连接符 33"/>
          <p:cNvCxnSpPr/>
          <p:nvPr/>
        </p:nvCxnSpPr>
        <p:spPr>
          <a:xfrm>
            <a:off x="3275920" y="2067516"/>
            <a:ext cx="0" cy="154723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229513" y="51470"/>
            <a:ext cx="1369286" cy="584775"/>
          </a:xfrm>
          <a:prstGeom prst="rect">
            <a:avLst/>
          </a:prstGeom>
          <a:noFill/>
          <a:ln>
            <a:solidFill>
              <a:srgbClr val="FFFFFF">
                <a:alpha val="45882"/>
              </a:srgbClr>
            </a:solidFill>
          </a:ln>
        </p:spPr>
        <p:txBody>
          <a:bodyPr wrap="none" lIns="91438" tIns="45719" rIns="91438" bIns="45719" rtlCol="0">
            <a:spAutoFit/>
          </a:bodyPr>
          <a:lstStyle/>
          <a:p>
            <a:r>
              <a:rPr lang="en-US" altLang="zh-CN" sz="3200" dirty="0">
                <a:solidFill>
                  <a:prstClr val="white"/>
                </a:solidFill>
                <a:cs typeface="+mn-ea"/>
                <a:sym typeface="+mn-lt"/>
              </a:rPr>
              <a:t>LOGO</a:t>
            </a:r>
            <a:endParaRPr lang="zh-CN" altLang="en-US" sz="3200" dirty="0">
              <a:solidFill>
                <a:prstClr val="white"/>
              </a:solidFill>
              <a:cs typeface="+mn-ea"/>
              <a:sym typeface="+mn-lt"/>
            </a:endParaRPr>
          </a:p>
        </p:txBody>
      </p:sp>
      <p:grpSp>
        <p:nvGrpSpPr>
          <p:cNvPr id="41" name="组合 23"/>
          <p:cNvGrpSpPr/>
          <p:nvPr>
            <p:custDataLst>
              <p:tags r:id="rId1"/>
            </p:custDataLst>
          </p:nvPr>
        </p:nvGrpSpPr>
        <p:grpSpPr bwMode="auto">
          <a:xfrm>
            <a:off x="3740150" y="2136775"/>
            <a:ext cx="3201670" cy="365760"/>
            <a:chOff x="0" y="0"/>
            <a:chExt cx="3314700" cy="487680"/>
          </a:xfrm>
        </p:grpSpPr>
        <p:sp>
          <p:nvSpPr>
            <p:cNvPr id="42" name="矩形 1"/>
            <p:cNvSpPr>
              <a:spLocks noChangeArrowheads="1"/>
            </p:cNvSpPr>
            <p:nvPr>
              <p:custDataLst>
                <p:tags r:id="rId2"/>
              </p:custDataLst>
            </p:nvPr>
          </p:nvSpPr>
          <p:spPr bwMode="auto">
            <a:xfrm>
              <a:off x="609600" y="0"/>
              <a:ext cx="2705100" cy="487680"/>
            </a:xfrm>
            <a:prstGeom prst="rect">
              <a:avLst/>
            </a:prstGeom>
            <a:solidFill>
              <a:srgbClr val="0070C0"/>
            </a:solidFill>
            <a:ln>
              <a:noFill/>
            </a:ln>
            <a:extLst>
              <a:ext uri="{91240B29-F687-4F45-9708-019B960494DF}">
                <a14:hiddenLine xmlns:a14="http://schemas.microsoft.com/office/drawing/2010/main" w="12700">
                  <a:solidFill>
                    <a:srgbClr val="42719B"/>
                  </a:solidFill>
                  <a:bevel/>
                </a14:hiddenLine>
              </a:ext>
            </a:extLst>
          </p:spPr>
          <p:txBody>
            <a:bodyPr anchor="ctr"/>
            <a:lstStyle>
              <a:lvl1pPr indent="4572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buFont typeface="Arial" panose="020B0604020202020204" pitchFamily="34" charset="0"/>
                <a:buNone/>
              </a:pPr>
              <a:r>
                <a:rPr lang="zh-CN" altLang="en-US" dirty="0">
                  <a:solidFill>
                    <a:srgbClr val="FFFFFF"/>
                  </a:solidFill>
                  <a:latin typeface="+mn-lt"/>
                  <a:ea typeface="+mn-ea"/>
                  <a:cs typeface="+mn-ea"/>
                  <a:sym typeface="+mn-lt"/>
                </a:rPr>
                <a:t>毕业</a:t>
              </a:r>
              <a:r>
                <a:rPr lang="zh-CN" altLang="en-US" dirty="0">
                  <a:solidFill>
                    <a:srgbClr val="FFFFFF"/>
                  </a:solidFill>
                  <a:latin typeface="+mn-lt"/>
                  <a:ea typeface="+mn-ea"/>
                  <a:cs typeface="+mn-ea"/>
                  <a:sym typeface="+mn-lt"/>
                </a:rPr>
                <a:t>设计基本要求</a:t>
              </a:r>
              <a:endParaRPr lang="zh-CN" altLang="en-US" dirty="0">
                <a:solidFill>
                  <a:srgbClr val="FFFFFF"/>
                </a:solidFill>
                <a:latin typeface="+mn-lt"/>
                <a:ea typeface="+mn-ea"/>
                <a:cs typeface="+mn-ea"/>
                <a:sym typeface="+mn-lt"/>
              </a:endParaRPr>
            </a:p>
          </p:txBody>
        </p:sp>
        <p:sp>
          <p:nvSpPr>
            <p:cNvPr id="43" name="矩形 4"/>
            <p:cNvSpPr>
              <a:spLocks noChangeArrowheads="1"/>
            </p:cNvSpPr>
            <p:nvPr>
              <p:custDataLst>
                <p:tags r:id="rId3"/>
              </p:custDataLst>
            </p:nvPr>
          </p:nvSpPr>
          <p:spPr bwMode="auto">
            <a:xfrm>
              <a:off x="0" y="0"/>
              <a:ext cx="609600" cy="487680"/>
            </a:xfrm>
            <a:prstGeom prst="rect">
              <a:avLst/>
            </a:prstGeom>
            <a:solidFill>
              <a:schemeClr val="bg1">
                <a:lumMod val="50000"/>
              </a:scheme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buFont typeface="Arial" panose="020B0604020202020204" pitchFamily="34" charset="0"/>
                <a:buNone/>
              </a:pPr>
              <a:r>
                <a:rPr lang="en-US" altLang="zh-CN">
                  <a:solidFill>
                    <a:srgbClr val="FFFFFF"/>
                  </a:solidFill>
                  <a:latin typeface="+mn-lt"/>
                  <a:ea typeface="+mn-ea"/>
                  <a:cs typeface="+mn-ea"/>
                  <a:sym typeface="+mn-lt"/>
                </a:rPr>
                <a:t>1</a:t>
              </a:r>
              <a:endParaRPr lang="zh-CN" altLang="en-US">
                <a:solidFill>
                  <a:srgbClr val="FFFFFF"/>
                </a:solidFill>
                <a:latin typeface="+mn-lt"/>
                <a:ea typeface="+mn-ea"/>
                <a:cs typeface="+mn-ea"/>
                <a:sym typeface="+mn-lt"/>
              </a:endParaRPr>
            </a:p>
          </p:txBody>
        </p:sp>
        <p:sp>
          <p:nvSpPr>
            <p:cNvPr id="44" name="等腰三角形 13"/>
            <p:cNvSpPr>
              <a:spLocks noChangeAspect="1" noChangeArrowheads="1"/>
            </p:cNvSpPr>
            <p:nvPr>
              <p:custDataLst>
                <p:tags r:id="rId4"/>
              </p:custDataLst>
            </p:nvPr>
          </p:nvSpPr>
          <p:spPr bwMode="auto">
            <a:xfrm rot="5400000">
              <a:off x="599121" y="178353"/>
              <a:ext cx="151927" cy="130971"/>
            </a:xfrm>
            <a:prstGeom prst="triangle">
              <a:avLst>
                <a:gd name="adj" fmla="val 50000"/>
              </a:avLst>
            </a:prstGeom>
            <a:solidFill>
              <a:srgbClr val="3E3D4F"/>
            </a:solidFill>
            <a:ln>
              <a:noFill/>
            </a:ln>
            <a:extLst>
              <a:ext uri="{91240B29-F687-4F45-9708-019B960494DF}">
                <a14:hiddenLine xmlns:a14="http://schemas.microsoft.com/office/drawing/2010/main" w="12700">
                  <a:solidFill>
                    <a:srgbClr val="42719B"/>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zh-CN">
                <a:solidFill>
                  <a:srgbClr val="FFFFFF"/>
                </a:solidFill>
                <a:latin typeface="+mn-lt"/>
                <a:ea typeface="+mn-ea"/>
                <a:cs typeface="+mn-ea"/>
                <a:sym typeface="+mn-lt"/>
              </a:endParaRPr>
            </a:p>
          </p:txBody>
        </p:sp>
      </p:grpSp>
      <p:grpSp>
        <p:nvGrpSpPr>
          <p:cNvPr id="49" name="组合 28"/>
          <p:cNvGrpSpPr/>
          <p:nvPr>
            <p:custDataLst>
              <p:tags r:id="rId5"/>
            </p:custDataLst>
          </p:nvPr>
        </p:nvGrpSpPr>
        <p:grpSpPr bwMode="auto">
          <a:xfrm>
            <a:off x="4145822" y="2666683"/>
            <a:ext cx="3630930" cy="365760"/>
            <a:chOff x="0" y="0"/>
            <a:chExt cx="4841240" cy="487998"/>
          </a:xfrm>
        </p:grpSpPr>
        <p:sp>
          <p:nvSpPr>
            <p:cNvPr id="50" name="矩形 29"/>
            <p:cNvSpPr>
              <a:spLocks noChangeArrowheads="1"/>
            </p:cNvSpPr>
            <p:nvPr>
              <p:custDataLst>
                <p:tags r:id="rId6"/>
              </p:custDataLst>
            </p:nvPr>
          </p:nvSpPr>
          <p:spPr bwMode="auto">
            <a:xfrm>
              <a:off x="609600" y="0"/>
              <a:ext cx="4231640" cy="487998"/>
            </a:xfrm>
            <a:prstGeom prst="rect">
              <a:avLst/>
            </a:prstGeom>
            <a:solidFill>
              <a:srgbClr val="0070C0"/>
            </a:solidFill>
            <a:ln>
              <a:noFill/>
            </a:ln>
            <a:extLst>
              <a:ext uri="{91240B29-F687-4F45-9708-019B960494DF}">
                <a14:hiddenLine xmlns:a14="http://schemas.microsoft.com/office/drawing/2010/main" w="12700">
                  <a:solidFill>
                    <a:srgbClr val="42719B"/>
                  </a:solidFill>
                  <a:bevel/>
                </a14:hiddenLine>
              </a:ext>
            </a:extLst>
          </p:spPr>
          <p:txBody>
            <a:bodyPr anchor="ctr"/>
            <a:lstStyle>
              <a:lvl1pPr indent="4572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buFont typeface="Arial" panose="020B0604020202020204" pitchFamily="34" charset="0"/>
                <a:buNone/>
              </a:pPr>
              <a:r>
                <a:rPr lang="zh-CN" altLang="en-US" dirty="0">
                  <a:solidFill>
                    <a:srgbClr val="FFFFFF"/>
                  </a:solidFill>
                  <a:latin typeface="+mn-lt"/>
                  <a:ea typeface="+mn-ea"/>
                  <a:cs typeface="+mn-ea"/>
                  <a:sym typeface="+mn-lt"/>
                </a:rPr>
                <a:t>论文质量存在的</a:t>
              </a:r>
              <a:r>
                <a:rPr lang="zh-CN" altLang="en-US" dirty="0">
                  <a:solidFill>
                    <a:srgbClr val="FFFFFF"/>
                  </a:solidFill>
                  <a:latin typeface="+mn-lt"/>
                  <a:ea typeface="+mn-ea"/>
                  <a:cs typeface="+mn-ea"/>
                  <a:sym typeface="+mn-lt"/>
                </a:rPr>
                <a:t>问题</a:t>
              </a:r>
              <a:endParaRPr lang="zh-CN" altLang="en-US" dirty="0">
                <a:solidFill>
                  <a:srgbClr val="FFFFFF"/>
                </a:solidFill>
                <a:latin typeface="+mn-lt"/>
                <a:ea typeface="+mn-ea"/>
                <a:cs typeface="+mn-ea"/>
                <a:sym typeface="+mn-lt"/>
              </a:endParaRPr>
            </a:p>
          </p:txBody>
        </p:sp>
        <p:sp>
          <p:nvSpPr>
            <p:cNvPr id="51" name="矩形 30"/>
            <p:cNvSpPr>
              <a:spLocks noChangeArrowheads="1"/>
            </p:cNvSpPr>
            <p:nvPr>
              <p:custDataLst>
                <p:tags r:id="rId7"/>
              </p:custDataLst>
            </p:nvPr>
          </p:nvSpPr>
          <p:spPr bwMode="auto">
            <a:xfrm>
              <a:off x="0" y="0"/>
              <a:ext cx="609600" cy="487680"/>
            </a:xfrm>
            <a:prstGeom prst="rect">
              <a:avLst/>
            </a:prstGeom>
            <a:solidFill>
              <a:schemeClr val="bg1">
                <a:lumMod val="50000"/>
              </a:scheme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buFont typeface="Arial" panose="020B0604020202020204" pitchFamily="34" charset="0"/>
                <a:buNone/>
              </a:pPr>
              <a:r>
                <a:rPr lang="en-US" altLang="zh-CN">
                  <a:solidFill>
                    <a:srgbClr val="FFFFFF"/>
                  </a:solidFill>
                  <a:latin typeface="+mn-lt"/>
                  <a:ea typeface="+mn-ea"/>
                  <a:cs typeface="+mn-ea"/>
                  <a:sym typeface="+mn-lt"/>
                </a:rPr>
                <a:t>2</a:t>
              </a:r>
              <a:endParaRPr lang="en-US" altLang="zh-CN">
                <a:solidFill>
                  <a:srgbClr val="FFFFFF"/>
                </a:solidFill>
                <a:latin typeface="+mn-lt"/>
                <a:ea typeface="+mn-ea"/>
                <a:cs typeface="+mn-ea"/>
                <a:sym typeface="+mn-lt"/>
              </a:endParaRPr>
            </a:p>
          </p:txBody>
        </p:sp>
        <p:sp>
          <p:nvSpPr>
            <p:cNvPr id="52" name="等腰三角形 31"/>
            <p:cNvSpPr>
              <a:spLocks noChangeAspect="1" noChangeArrowheads="1"/>
            </p:cNvSpPr>
            <p:nvPr>
              <p:custDataLst>
                <p:tags r:id="rId8"/>
              </p:custDataLst>
            </p:nvPr>
          </p:nvSpPr>
          <p:spPr bwMode="auto">
            <a:xfrm rot="5400000">
              <a:off x="599121" y="178353"/>
              <a:ext cx="151927" cy="130971"/>
            </a:xfrm>
            <a:prstGeom prst="triangle">
              <a:avLst>
                <a:gd name="adj" fmla="val 50000"/>
              </a:avLst>
            </a:prstGeom>
            <a:solidFill>
              <a:srgbClr val="3E3D4F"/>
            </a:solidFill>
            <a:ln>
              <a:noFill/>
            </a:ln>
            <a:extLst>
              <a:ext uri="{91240B29-F687-4F45-9708-019B960494DF}">
                <a14:hiddenLine xmlns:a14="http://schemas.microsoft.com/office/drawing/2010/main" w="12700">
                  <a:solidFill>
                    <a:srgbClr val="42719B"/>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zh-CN">
                <a:solidFill>
                  <a:srgbClr val="FFFFFF"/>
                </a:solidFill>
                <a:latin typeface="+mn-lt"/>
                <a:ea typeface="+mn-ea"/>
                <a:cs typeface="+mn-ea"/>
                <a:sym typeface="+mn-lt"/>
              </a:endParaRPr>
            </a:p>
          </p:txBody>
        </p:sp>
      </p:grpSp>
      <p:grpSp>
        <p:nvGrpSpPr>
          <p:cNvPr id="53" name="组合 32"/>
          <p:cNvGrpSpPr/>
          <p:nvPr>
            <p:custDataLst>
              <p:tags r:id="rId9"/>
            </p:custDataLst>
          </p:nvPr>
        </p:nvGrpSpPr>
        <p:grpSpPr bwMode="auto">
          <a:xfrm>
            <a:off x="4563745" y="3218815"/>
            <a:ext cx="3554095" cy="365760"/>
            <a:chOff x="0" y="0"/>
            <a:chExt cx="4674447" cy="487998"/>
          </a:xfrm>
        </p:grpSpPr>
        <p:sp>
          <p:nvSpPr>
            <p:cNvPr id="54" name="矩形 33"/>
            <p:cNvSpPr>
              <a:spLocks noChangeArrowheads="1"/>
            </p:cNvSpPr>
            <p:nvPr>
              <p:custDataLst>
                <p:tags r:id="rId10"/>
              </p:custDataLst>
            </p:nvPr>
          </p:nvSpPr>
          <p:spPr bwMode="auto">
            <a:xfrm>
              <a:off x="609600" y="0"/>
              <a:ext cx="4064847" cy="487998"/>
            </a:xfrm>
            <a:prstGeom prst="rect">
              <a:avLst/>
            </a:prstGeom>
            <a:solidFill>
              <a:srgbClr val="0070C0"/>
            </a:solidFill>
            <a:ln>
              <a:noFill/>
            </a:ln>
            <a:extLst>
              <a:ext uri="{91240B29-F687-4F45-9708-019B960494DF}">
                <a14:hiddenLine xmlns:a14="http://schemas.microsoft.com/office/drawing/2010/main" w="12700">
                  <a:solidFill>
                    <a:srgbClr val="42719B"/>
                  </a:solidFill>
                  <a:bevel/>
                </a14:hiddenLine>
              </a:ext>
            </a:extLst>
          </p:spPr>
          <p:txBody>
            <a:bodyPr anchor="ctr"/>
            <a:lstStyle>
              <a:lvl1pPr indent="4572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buFont typeface="Arial" panose="020B0604020202020204" pitchFamily="34" charset="0"/>
                <a:buNone/>
              </a:pPr>
              <a:r>
                <a:rPr lang="zh-CN" altLang="en-US" dirty="0">
                  <a:solidFill>
                    <a:srgbClr val="FFFFFF"/>
                  </a:solidFill>
                  <a:latin typeface="+mn-lt"/>
                  <a:ea typeface="+mn-ea"/>
                  <a:cs typeface="+mn-ea"/>
                  <a:sym typeface="+mn-lt"/>
                </a:rPr>
                <a:t>数据库设计</a:t>
              </a:r>
              <a:endParaRPr lang="zh-CN" altLang="en-US" dirty="0">
                <a:solidFill>
                  <a:srgbClr val="FFFFFF"/>
                </a:solidFill>
                <a:latin typeface="+mn-lt"/>
                <a:ea typeface="+mn-ea"/>
                <a:cs typeface="+mn-ea"/>
                <a:sym typeface="+mn-lt"/>
              </a:endParaRPr>
            </a:p>
          </p:txBody>
        </p:sp>
        <p:sp>
          <p:nvSpPr>
            <p:cNvPr id="55" name="矩形 34"/>
            <p:cNvSpPr>
              <a:spLocks noChangeArrowheads="1"/>
            </p:cNvSpPr>
            <p:nvPr>
              <p:custDataLst>
                <p:tags r:id="rId11"/>
              </p:custDataLst>
            </p:nvPr>
          </p:nvSpPr>
          <p:spPr bwMode="auto">
            <a:xfrm>
              <a:off x="0" y="0"/>
              <a:ext cx="609600" cy="487680"/>
            </a:xfrm>
            <a:prstGeom prst="rect">
              <a:avLst/>
            </a:prstGeom>
            <a:solidFill>
              <a:schemeClr val="bg1">
                <a:lumMod val="50000"/>
              </a:scheme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buFont typeface="Arial" panose="020B0604020202020204" pitchFamily="34" charset="0"/>
                <a:buNone/>
              </a:pPr>
              <a:r>
                <a:rPr lang="en-US" altLang="zh-CN">
                  <a:solidFill>
                    <a:srgbClr val="FFFFFF"/>
                  </a:solidFill>
                  <a:latin typeface="+mn-lt"/>
                  <a:ea typeface="+mn-ea"/>
                  <a:cs typeface="+mn-ea"/>
                  <a:sym typeface="+mn-lt"/>
                </a:rPr>
                <a:t>3</a:t>
              </a:r>
              <a:endParaRPr lang="zh-CN" altLang="en-US">
                <a:solidFill>
                  <a:srgbClr val="FFFFFF"/>
                </a:solidFill>
                <a:latin typeface="+mn-lt"/>
                <a:ea typeface="+mn-ea"/>
                <a:cs typeface="+mn-ea"/>
                <a:sym typeface="+mn-lt"/>
              </a:endParaRPr>
            </a:p>
          </p:txBody>
        </p:sp>
        <p:sp>
          <p:nvSpPr>
            <p:cNvPr id="56" name="等腰三角形 35"/>
            <p:cNvSpPr>
              <a:spLocks noChangeAspect="1" noChangeArrowheads="1"/>
            </p:cNvSpPr>
            <p:nvPr>
              <p:custDataLst>
                <p:tags r:id="rId12"/>
              </p:custDataLst>
            </p:nvPr>
          </p:nvSpPr>
          <p:spPr bwMode="auto">
            <a:xfrm rot="5400000">
              <a:off x="599121" y="178353"/>
              <a:ext cx="151927" cy="130971"/>
            </a:xfrm>
            <a:prstGeom prst="triangle">
              <a:avLst>
                <a:gd name="adj" fmla="val 50000"/>
              </a:avLst>
            </a:prstGeom>
            <a:solidFill>
              <a:srgbClr val="3E3D4F"/>
            </a:solidFill>
            <a:ln>
              <a:noFill/>
            </a:ln>
            <a:extLst>
              <a:ext uri="{91240B29-F687-4F45-9708-019B960494DF}">
                <a14:hiddenLine xmlns:a14="http://schemas.microsoft.com/office/drawing/2010/main" w="12700">
                  <a:solidFill>
                    <a:srgbClr val="42719B"/>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zh-CN">
                <a:solidFill>
                  <a:srgbClr val="FFFFFF"/>
                </a:solidFill>
                <a:latin typeface="+mn-lt"/>
                <a:ea typeface="+mn-ea"/>
                <a:cs typeface="+mn-ea"/>
                <a:sym typeface="+mn-lt"/>
              </a:endParaRPr>
            </a:p>
          </p:txBody>
        </p:sp>
      </p:gr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p:tgtEl>
                                          <p:spTgt spid="41"/>
                                        </p:tgtEl>
                                        <p:attrNameLst>
                                          <p:attrName>ppt_x</p:attrName>
                                        </p:attrNameLst>
                                      </p:cBhvr>
                                      <p:tavLst>
                                        <p:tav tm="0">
                                          <p:val>
                                            <p:strVal val="#ppt_x-#ppt_w*1.125000"/>
                                          </p:val>
                                        </p:tav>
                                        <p:tav tm="100000">
                                          <p:val>
                                            <p:strVal val="#ppt_x"/>
                                          </p:val>
                                        </p:tav>
                                      </p:tavLst>
                                    </p:anim>
                                    <p:animEffect transition="in" filter="wipe(right)">
                                      <p:cBhvr>
                                        <p:cTn id="8" dur="500"/>
                                        <p:tgtEl>
                                          <p:spTgt spid="41"/>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49"/>
                                        </p:tgtEl>
                                        <p:attrNameLst>
                                          <p:attrName>style.visibility</p:attrName>
                                        </p:attrNameLst>
                                      </p:cBhvr>
                                      <p:to>
                                        <p:strVal val="visible"/>
                                      </p:to>
                                    </p:set>
                                    <p:anim calcmode="lin" valueType="num">
                                      <p:cBhvr additive="base">
                                        <p:cTn id="13" dur="500"/>
                                        <p:tgtEl>
                                          <p:spTgt spid="49"/>
                                        </p:tgtEl>
                                        <p:attrNameLst>
                                          <p:attrName>ppt_x</p:attrName>
                                        </p:attrNameLst>
                                      </p:cBhvr>
                                      <p:tavLst>
                                        <p:tav tm="0">
                                          <p:val>
                                            <p:strVal val="#ppt_x-#ppt_w*1.125000"/>
                                          </p:val>
                                        </p:tav>
                                        <p:tav tm="100000">
                                          <p:val>
                                            <p:strVal val="#ppt_x"/>
                                          </p:val>
                                        </p:tav>
                                      </p:tavLst>
                                    </p:anim>
                                    <p:animEffect transition="in" filter="wipe(right)">
                                      <p:cBhvr>
                                        <p:cTn id="14" dur="500"/>
                                        <p:tgtEl>
                                          <p:spTgt spid="49"/>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nodeType="clickEffect">
                                  <p:stCondLst>
                                    <p:cond delay="0"/>
                                  </p:stCondLst>
                                  <p:childTnLst>
                                    <p:set>
                                      <p:cBhvr>
                                        <p:cTn id="18" dur="1" fill="hold">
                                          <p:stCondLst>
                                            <p:cond delay="0"/>
                                          </p:stCondLst>
                                        </p:cTn>
                                        <p:tgtEl>
                                          <p:spTgt spid="53"/>
                                        </p:tgtEl>
                                        <p:attrNameLst>
                                          <p:attrName>style.visibility</p:attrName>
                                        </p:attrNameLst>
                                      </p:cBhvr>
                                      <p:to>
                                        <p:strVal val="visible"/>
                                      </p:to>
                                    </p:set>
                                    <p:anim calcmode="lin" valueType="num">
                                      <p:cBhvr additive="base">
                                        <p:cTn id="19" dur="500"/>
                                        <p:tgtEl>
                                          <p:spTgt spid="53"/>
                                        </p:tgtEl>
                                        <p:attrNameLst>
                                          <p:attrName>ppt_x</p:attrName>
                                        </p:attrNameLst>
                                      </p:cBhvr>
                                      <p:tavLst>
                                        <p:tav tm="0">
                                          <p:val>
                                            <p:strVal val="#ppt_x-#ppt_w*1.125000"/>
                                          </p:val>
                                        </p:tav>
                                        <p:tav tm="100000">
                                          <p:val>
                                            <p:strVal val="#ppt_x"/>
                                          </p:val>
                                        </p:tav>
                                      </p:tavLst>
                                    </p:anim>
                                    <p:animEffect transition="in" filter="wipe(right)">
                                      <p:cBhvr>
                                        <p:cTn id="20"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bwMode="auto">
      <p:bgPr>
        <a:solidFill>
          <a:srgbClr val="0070C0"/>
        </a:solidFill>
        <a:effectLst/>
      </p:bgPr>
    </p:bg>
    <p:spTree>
      <p:nvGrpSpPr>
        <p:cNvPr id="1" name=""/>
        <p:cNvGrpSpPr/>
        <p:nvPr/>
      </p:nvGrpSpPr>
      <p:grpSpPr>
        <a:xfrm>
          <a:off x="0" y="0"/>
          <a:ext cx="0" cy="0"/>
          <a:chOff x="0" y="0"/>
          <a:chExt cx="0" cy="0"/>
        </a:xfrm>
      </p:grpSpPr>
      <p:sp>
        <p:nvSpPr>
          <p:cNvPr id="5122" name="矩形 1"/>
          <p:cNvSpPr>
            <a:spLocks noChangeArrowheads="1"/>
          </p:cNvSpPr>
          <p:nvPr/>
        </p:nvSpPr>
        <p:spPr bwMode="auto">
          <a:xfrm>
            <a:off x="3183732" y="0"/>
            <a:ext cx="5960269" cy="5143500"/>
          </a:xfrm>
          <a:prstGeom prst="rect">
            <a:avLst/>
          </a:prstGeom>
          <a:solidFill>
            <a:schemeClr val="bg1"/>
          </a:solidFill>
          <a:ln>
            <a:noFill/>
          </a:ln>
          <a:extLst>
            <a:ext uri="{91240B29-F687-4F45-9708-019B960494DF}">
              <a14:hiddenLine xmlns:a14="http://schemas.microsoft.com/office/drawing/2010/main" w="12700">
                <a:solidFill>
                  <a:srgbClr val="42719B"/>
                </a:solidFill>
                <a:bevel/>
              </a14:hiddenLine>
            </a:ext>
          </a:extLst>
        </p:spPr>
        <p:txBody>
          <a:bodyPr lIns="68577" tIns="34289" rIns="68577" bIns="34289"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zh-CN">
              <a:solidFill>
                <a:srgbClr val="FFFFFF"/>
              </a:solidFill>
              <a:latin typeface="+mn-lt"/>
              <a:ea typeface="+mn-ea"/>
              <a:cs typeface="+mn-ea"/>
              <a:sym typeface="+mn-lt"/>
            </a:endParaRPr>
          </a:p>
        </p:txBody>
      </p:sp>
      <p:sp>
        <p:nvSpPr>
          <p:cNvPr id="5123" name="矩形 15"/>
          <p:cNvSpPr>
            <a:spLocks noChangeArrowheads="1"/>
          </p:cNvSpPr>
          <p:nvPr/>
        </p:nvSpPr>
        <p:spPr bwMode="auto">
          <a:xfrm>
            <a:off x="3006329" y="0"/>
            <a:ext cx="70247" cy="5143500"/>
          </a:xfrm>
          <a:prstGeom prst="rect">
            <a:avLst/>
          </a:prstGeom>
          <a:solidFill>
            <a:schemeClr val="bg1"/>
          </a:solidFill>
          <a:ln>
            <a:noFill/>
          </a:ln>
          <a:extLst>
            <a:ext uri="{91240B29-F687-4F45-9708-019B960494DF}">
              <a14:hiddenLine xmlns:a14="http://schemas.microsoft.com/office/drawing/2010/main" w="12700">
                <a:solidFill>
                  <a:srgbClr val="42719B"/>
                </a:solidFill>
                <a:bevel/>
              </a14:hiddenLine>
            </a:ext>
          </a:extLst>
        </p:spPr>
        <p:txBody>
          <a:bodyPr lIns="68577" tIns="34289" rIns="68577" bIns="34289"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zh-CN">
              <a:solidFill>
                <a:srgbClr val="FFFFFF"/>
              </a:solidFill>
              <a:latin typeface="+mn-lt"/>
              <a:ea typeface="+mn-ea"/>
              <a:cs typeface="+mn-ea"/>
              <a:sym typeface="+mn-lt"/>
            </a:endParaRPr>
          </a:p>
        </p:txBody>
      </p:sp>
      <p:sp>
        <p:nvSpPr>
          <p:cNvPr id="5125" name="文本框 52"/>
          <p:cNvSpPr>
            <a:spLocks noChangeArrowheads="1"/>
          </p:cNvSpPr>
          <p:nvPr/>
        </p:nvSpPr>
        <p:spPr bwMode="auto">
          <a:xfrm>
            <a:off x="395537" y="1275161"/>
            <a:ext cx="2502445" cy="654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7" tIns="34289" rIns="68577" bIns="3428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buFont typeface="Arial" panose="020B0604020202020204" pitchFamily="34" charset="0"/>
              <a:buNone/>
            </a:pPr>
            <a:r>
              <a:rPr lang="zh-CN" altLang="en-US" sz="3800" b="1" dirty="0">
                <a:solidFill>
                  <a:srgbClr val="FFFFFF"/>
                </a:solidFill>
                <a:latin typeface="+mn-lt"/>
                <a:ea typeface="+mn-ea"/>
                <a:cs typeface="+mn-ea"/>
                <a:sym typeface="+mn-lt"/>
              </a:rPr>
              <a:t>第一部分</a:t>
            </a:r>
            <a:endParaRPr lang="zh-CN" altLang="en-US" sz="3800" b="1" dirty="0">
              <a:solidFill>
                <a:srgbClr val="FFFFFF"/>
              </a:solidFill>
              <a:latin typeface="+mn-lt"/>
              <a:ea typeface="+mn-ea"/>
              <a:cs typeface="+mn-ea"/>
              <a:sym typeface="+mn-lt"/>
            </a:endParaRPr>
          </a:p>
        </p:txBody>
      </p:sp>
      <p:sp>
        <p:nvSpPr>
          <p:cNvPr id="20" name="矩形 19"/>
          <p:cNvSpPr/>
          <p:nvPr/>
        </p:nvSpPr>
        <p:spPr>
          <a:xfrm>
            <a:off x="3825000" y="3289797"/>
            <a:ext cx="5319000" cy="20046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solidFill>
                <a:prstClr val="white"/>
              </a:solidFill>
              <a:cs typeface="+mn-ea"/>
              <a:sym typeface="+mn-lt"/>
            </a:endParaRPr>
          </a:p>
        </p:txBody>
      </p:sp>
      <p:sp>
        <p:nvSpPr>
          <p:cNvPr id="21" name="TextBox 4"/>
          <p:cNvSpPr txBox="1"/>
          <p:nvPr/>
        </p:nvSpPr>
        <p:spPr>
          <a:xfrm>
            <a:off x="3773159" y="1711573"/>
            <a:ext cx="3337560" cy="499110"/>
          </a:xfrm>
          <a:prstGeom prst="rect">
            <a:avLst/>
          </a:prstGeom>
          <a:noFill/>
        </p:spPr>
        <p:txBody>
          <a:bodyPr wrap="none" lIns="68580" tIns="34290" rIns="68580" bIns="34290" rtlCol="0">
            <a:spAutoFit/>
          </a:bodyPr>
          <a:lstStyle/>
          <a:p>
            <a:pPr algn="l">
              <a:buClrTx/>
              <a:buSzTx/>
              <a:buFontTx/>
            </a:pPr>
            <a:r>
              <a:rPr lang="zh-CN" altLang="en-US" sz="2800" b="1" dirty="0">
                <a:solidFill>
                  <a:srgbClr val="0070C0"/>
                </a:solidFill>
                <a:cs typeface="+mn-ea"/>
                <a:sym typeface="+mn-lt"/>
              </a:rPr>
              <a:t>毕业设计</a:t>
            </a:r>
            <a:r>
              <a:rPr lang="zh-CN" altLang="en-US" sz="2800" b="1" dirty="0">
                <a:solidFill>
                  <a:srgbClr val="0070C0"/>
                </a:solidFill>
                <a:cs typeface="+mn-ea"/>
                <a:sym typeface="+mn-lt"/>
              </a:rPr>
              <a:t>的基本要求</a:t>
            </a:r>
            <a:endParaRPr lang="zh-CN" altLang="en-US" sz="2800" b="1" dirty="0">
              <a:solidFill>
                <a:srgbClr val="0070C0"/>
              </a:solidFill>
              <a:cs typeface="+mn-ea"/>
              <a:sym typeface="+mn-lt"/>
            </a:endParaRPr>
          </a:p>
        </p:txBody>
      </p:sp>
    </p:spTree>
  </p:cSld>
  <p:clrMapOvr>
    <a:masterClrMapping/>
  </p:clrMapOvr>
  <p:transition spd="med">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827405" y="987425"/>
            <a:ext cx="7737475" cy="2971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altLang="zh-CN" sz="1600" dirty="0">
                <a:solidFill>
                  <a:sysClr val="windowText" lastClr="000000"/>
                </a:solidFill>
                <a:cs typeface="+mn-ea"/>
                <a:sym typeface="+mn-lt"/>
              </a:rPr>
              <a:t>1.</a:t>
            </a:r>
            <a:r>
              <a:rPr lang="zh-CN" altLang="en-US" sz="1600" dirty="0">
                <a:solidFill>
                  <a:sysClr val="windowText" lastClr="000000"/>
                </a:solidFill>
                <a:cs typeface="+mn-ea"/>
                <a:sym typeface="+mn-lt"/>
              </a:rPr>
              <a:t>按要求格式独立撰写不少于10000字的论文，文中图表用计算机绘制。</a:t>
            </a:r>
            <a:endParaRPr lang="zh-CN" altLang="en-US" sz="1600" dirty="0">
              <a:solidFill>
                <a:sysClr val="windowText" lastClr="000000"/>
              </a:solidFill>
              <a:cs typeface="+mn-ea"/>
              <a:sym typeface="+mn-lt"/>
            </a:endParaRPr>
          </a:p>
          <a:p>
            <a:pPr>
              <a:lnSpc>
                <a:spcPct val="130000"/>
              </a:lnSpc>
            </a:pPr>
            <a:r>
              <a:rPr lang="en-US" altLang="zh-CN" sz="1600" dirty="0">
                <a:solidFill>
                  <a:sysClr val="windowText" lastClr="000000"/>
                </a:solidFill>
                <a:cs typeface="+mn-ea"/>
                <a:sym typeface="+mn-lt"/>
              </a:rPr>
              <a:t>2.</a:t>
            </a:r>
            <a:r>
              <a:rPr lang="zh-CN" altLang="en-US" sz="1600" dirty="0">
                <a:solidFill>
                  <a:sysClr val="windowText" lastClr="000000"/>
                </a:solidFill>
                <a:cs typeface="+mn-ea"/>
                <a:sym typeface="+mn-lt"/>
              </a:rPr>
              <a:t>摘要：概括论文主要设计了什么内容，如何设计的，设计效果如何。语言精练、明确，语句流畅；英文摘要须与中文摘要内容相对应；中文摘要约</a:t>
            </a:r>
            <a:r>
              <a:rPr lang="en-US" altLang="zh-CN" sz="1600" dirty="0">
                <a:solidFill>
                  <a:sysClr val="windowText" lastClr="000000"/>
                </a:solidFill>
                <a:cs typeface="+mn-ea"/>
                <a:sym typeface="+mn-lt"/>
              </a:rPr>
              <a:t>3</a:t>
            </a:r>
            <a:r>
              <a:rPr lang="zh-CN" altLang="en-US" sz="1600" dirty="0">
                <a:solidFill>
                  <a:sysClr val="windowText" lastClr="000000"/>
                </a:solidFill>
                <a:cs typeface="+mn-ea"/>
                <a:sym typeface="+mn-lt"/>
              </a:rPr>
              <a:t>00-500个汉字，英文摘要约300个实词；</a:t>
            </a:r>
            <a:endParaRPr lang="zh-CN" altLang="en-US" sz="1600" dirty="0">
              <a:solidFill>
                <a:sysClr val="windowText" lastClr="000000"/>
              </a:solidFill>
              <a:cs typeface="+mn-ea"/>
              <a:sym typeface="+mn-lt"/>
            </a:endParaRPr>
          </a:p>
          <a:p>
            <a:pPr>
              <a:lnSpc>
                <a:spcPct val="130000"/>
              </a:lnSpc>
            </a:pPr>
            <a:r>
              <a:rPr lang="en-US" altLang="zh-CN" sz="1600" dirty="0">
                <a:solidFill>
                  <a:sysClr val="windowText" lastClr="000000"/>
                </a:solidFill>
                <a:cs typeface="+mn-ea"/>
                <a:sym typeface="+mn-lt"/>
              </a:rPr>
              <a:t>3.</a:t>
            </a:r>
            <a:r>
              <a:rPr lang="zh-CN" altLang="en-US" sz="1600" dirty="0">
                <a:solidFill>
                  <a:sysClr val="windowText" lastClr="000000"/>
                </a:solidFill>
                <a:cs typeface="+mn-ea"/>
                <a:sym typeface="+mn-lt"/>
              </a:rPr>
              <a:t>关键词要反映毕业设计论文的主要内容，数量一般为</a:t>
            </a:r>
            <a:r>
              <a:rPr lang="en-US" altLang="zh-CN" sz="1600" dirty="0">
                <a:solidFill>
                  <a:sysClr val="windowText" lastClr="000000"/>
                </a:solidFill>
                <a:cs typeface="+mn-ea"/>
                <a:sym typeface="+mn-lt"/>
              </a:rPr>
              <a:t>3</a:t>
            </a:r>
            <a:r>
              <a:rPr lang="zh-CN" altLang="en-US" sz="1600" dirty="0">
                <a:solidFill>
                  <a:sysClr val="windowText" lastClr="000000"/>
                </a:solidFill>
                <a:cs typeface="+mn-ea"/>
                <a:sym typeface="+mn-lt"/>
              </a:rPr>
              <a:t>-</a:t>
            </a:r>
            <a:r>
              <a:rPr lang="en-US" altLang="zh-CN" sz="1600" dirty="0">
                <a:solidFill>
                  <a:sysClr val="windowText" lastClr="000000"/>
                </a:solidFill>
                <a:cs typeface="+mn-ea"/>
                <a:sym typeface="+mn-lt"/>
              </a:rPr>
              <a:t>5</a:t>
            </a:r>
            <a:r>
              <a:rPr lang="zh-CN" altLang="en-US" sz="1600" dirty="0">
                <a:solidFill>
                  <a:sysClr val="windowText" lastClr="000000"/>
                </a:solidFill>
                <a:cs typeface="+mn-ea"/>
                <a:sym typeface="+mn-lt"/>
              </a:rPr>
              <a:t>个。</a:t>
            </a:r>
            <a:endParaRPr lang="zh-CN" altLang="en-US" sz="1600" dirty="0">
              <a:solidFill>
                <a:sysClr val="windowText" lastClr="000000"/>
              </a:solidFill>
              <a:cs typeface="+mn-ea"/>
              <a:sym typeface="+mn-lt"/>
            </a:endParaRPr>
          </a:p>
          <a:p>
            <a:pPr algn="l">
              <a:lnSpc>
                <a:spcPct val="130000"/>
              </a:lnSpc>
              <a:buClrTx/>
              <a:buSzTx/>
              <a:buFontTx/>
            </a:pPr>
            <a:r>
              <a:rPr lang="en-US" altLang="zh-CN" sz="1600" dirty="0">
                <a:solidFill>
                  <a:sysClr val="windowText" lastClr="000000"/>
                </a:solidFill>
                <a:cs typeface="+mn-ea"/>
                <a:sym typeface="+mn-lt"/>
              </a:rPr>
              <a:t>4</a:t>
            </a:r>
            <a:r>
              <a:rPr lang="zh-CN" altLang="en-US" sz="1600" dirty="0">
                <a:solidFill>
                  <a:sysClr val="windowText" lastClr="000000"/>
                </a:solidFill>
                <a:cs typeface="+mn-ea"/>
                <a:sym typeface="+mn-lt"/>
              </a:rPr>
              <a:t>.</a:t>
            </a:r>
            <a:r>
              <a:rPr lang="en-US" altLang="zh-CN" sz="1600" dirty="0">
                <a:solidFill>
                  <a:sysClr val="windowText" lastClr="000000"/>
                </a:solidFill>
                <a:cs typeface="+mn-ea"/>
                <a:sym typeface="+mn-lt"/>
              </a:rPr>
              <a:t> </a:t>
            </a:r>
            <a:r>
              <a:rPr lang="zh-CN" altLang="en-US" sz="1600" dirty="0">
                <a:solidFill>
                  <a:sysClr val="windowText" lastClr="000000"/>
                </a:solidFill>
                <a:cs typeface="+mn-ea"/>
                <a:sym typeface="+mn-lt"/>
              </a:rPr>
              <a:t>学生需查阅到20篇以上与课题相关的文献，</a:t>
            </a:r>
            <a:endParaRPr lang="zh-CN" altLang="en-US" sz="1600" dirty="0">
              <a:solidFill>
                <a:sysClr val="windowText" lastClr="000000"/>
              </a:solidFill>
              <a:cs typeface="+mn-ea"/>
              <a:sym typeface="+mn-lt"/>
            </a:endParaRPr>
          </a:p>
          <a:p>
            <a:pPr algn="l">
              <a:lnSpc>
                <a:spcPct val="130000"/>
              </a:lnSpc>
              <a:buClrTx/>
              <a:buSzTx/>
              <a:buFontTx/>
            </a:pPr>
            <a:r>
              <a:rPr lang="en-US" altLang="zh-CN" sz="1600" dirty="0">
                <a:solidFill>
                  <a:sysClr val="windowText" lastClr="000000"/>
                </a:solidFill>
                <a:cs typeface="+mn-ea"/>
                <a:sym typeface="+mn-lt"/>
              </a:rPr>
              <a:t>5</a:t>
            </a:r>
            <a:r>
              <a:rPr lang="en-US" altLang="zh-CN" sz="1600" dirty="0">
                <a:solidFill>
                  <a:sysClr val="windowText" lastClr="000000"/>
                </a:solidFill>
                <a:cs typeface="+mn-ea"/>
                <a:sym typeface="+mn-lt"/>
              </a:rPr>
              <a:t>.</a:t>
            </a:r>
            <a:r>
              <a:rPr lang="zh-CN" altLang="en-US" sz="1600" dirty="0">
                <a:solidFill>
                  <a:sysClr val="windowText" lastClr="000000"/>
                </a:solidFill>
                <a:cs typeface="+mn-ea"/>
                <a:sym typeface="+mn-lt"/>
              </a:rPr>
              <a:t>至少翻译一篇本专业外文文献（10000个以上印刷符号），并附译文。</a:t>
            </a:r>
            <a:endParaRPr lang="zh-CN" altLang="en-US" sz="1600" dirty="0">
              <a:solidFill>
                <a:sysClr val="windowText" lastClr="000000"/>
              </a:solidFill>
              <a:cs typeface="+mn-ea"/>
              <a:sym typeface="+mn-lt"/>
            </a:endParaRPr>
          </a:p>
          <a:p>
            <a:pPr algn="l">
              <a:lnSpc>
                <a:spcPct val="130000"/>
              </a:lnSpc>
              <a:buClrTx/>
              <a:buSzTx/>
              <a:buFontTx/>
            </a:pPr>
            <a:endParaRPr lang="zh-CN" altLang="en-US" sz="1600" dirty="0">
              <a:solidFill>
                <a:sysClr val="windowText" lastClr="000000"/>
              </a:solidFill>
              <a:cs typeface="+mn-ea"/>
              <a:sym typeface="+mn-lt"/>
            </a:endParaRPr>
          </a:p>
          <a:p>
            <a:pPr algn="l">
              <a:lnSpc>
                <a:spcPct val="130000"/>
              </a:lnSpc>
              <a:buClrTx/>
              <a:buSzTx/>
              <a:buFontTx/>
            </a:pPr>
            <a:endParaRPr lang="zh-CN" altLang="en-US" sz="1600" dirty="0">
              <a:solidFill>
                <a:sysClr val="windowText" lastClr="00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513" y="104316"/>
            <a:ext cx="4093210" cy="520700"/>
          </a:xfrm>
          <a:prstGeom prst="rect">
            <a:avLst/>
          </a:prstGeom>
          <a:noFill/>
          <a:ln>
            <a:solidFill>
              <a:srgbClr val="FFFFFF">
                <a:alpha val="45882"/>
              </a:srgbClr>
            </a:solidFill>
          </a:ln>
        </p:spPr>
        <p:txBody>
          <a:bodyPr wrap="none" lIns="91438" tIns="45719" rIns="91438" bIns="45719" rtlCol="0">
            <a:spAutoFit/>
          </a:bodyPr>
          <a:lstStyle/>
          <a:p>
            <a:pPr algn="l"/>
            <a:r>
              <a:rPr lang="zh-CN" altLang="en-US" sz="2800" dirty="0">
                <a:solidFill>
                  <a:prstClr val="white"/>
                </a:solidFill>
                <a:cs typeface="+mn-ea"/>
                <a:sym typeface="+mn-lt"/>
              </a:rPr>
              <a:t>毕业设计（论文）的要求</a:t>
            </a:r>
            <a:endParaRPr lang="zh-CN" altLang="en-US" sz="2800" dirty="0">
              <a:solidFill>
                <a:prstClr val="white"/>
              </a:solidFill>
              <a:cs typeface="+mn-ea"/>
              <a:sym typeface="+mn-lt"/>
            </a:endParaRPr>
          </a:p>
        </p:txBody>
      </p:sp>
    </p:spTree>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827405" y="987425"/>
            <a:ext cx="7737475" cy="1691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30000"/>
              </a:lnSpc>
              <a:buClrTx/>
              <a:buSzTx/>
              <a:buFontTx/>
            </a:pPr>
            <a:r>
              <a:rPr lang="en-US" altLang="zh-CN" sz="1600" dirty="0">
                <a:solidFill>
                  <a:sysClr val="windowText" lastClr="000000"/>
                </a:solidFill>
                <a:cs typeface="+mn-ea"/>
                <a:sym typeface="+mn-lt"/>
              </a:rPr>
              <a:t>6</a:t>
            </a:r>
            <a:r>
              <a:rPr lang="zh-CN" altLang="en-US" sz="1600" dirty="0">
                <a:solidFill>
                  <a:sysClr val="windowText" lastClr="000000"/>
                </a:solidFill>
                <a:cs typeface="+mn-ea"/>
                <a:sym typeface="+mn-lt"/>
              </a:rPr>
              <a:t>.</a:t>
            </a:r>
            <a:r>
              <a:rPr lang="en-US" altLang="zh-CN" sz="1600" dirty="0">
                <a:solidFill>
                  <a:sysClr val="windowText" lastClr="000000"/>
                </a:solidFill>
                <a:cs typeface="+mn-ea"/>
                <a:sym typeface="+mn-lt"/>
              </a:rPr>
              <a:t> </a:t>
            </a:r>
            <a:r>
              <a:rPr lang="zh-CN" altLang="en-US" sz="1600" dirty="0">
                <a:solidFill>
                  <a:sysClr val="windowText" lastClr="000000"/>
                </a:solidFill>
                <a:cs typeface="+mn-ea"/>
                <a:sym typeface="+mn-lt"/>
              </a:rPr>
              <a:t>软件工程类题目要进行计算机软件的</a:t>
            </a:r>
            <a:r>
              <a:rPr lang="zh-CN" altLang="en-US" sz="1600" dirty="0">
                <a:solidFill>
                  <a:srgbClr val="FF0000"/>
                </a:solidFill>
                <a:cs typeface="+mn-ea"/>
                <a:sym typeface="+mn-lt"/>
              </a:rPr>
              <a:t>筹划、研制和实现</a:t>
            </a:r>
            <a:r>
              <a:rPr lang="zh-CN" altLang="en-US" sz="1600" dirty="0">
                <a:solidFill>
                  <a:sysClr val="windowText" lastClr="000000"/>
                </a:solidFill>
                <a:cs typeface="+mn-ea"/>
                <a:sym typeface="+mn-lt"/>
              </a:rPr>
              <a:t>三部分工作。学生在指导教师的指导下，侧重于</a:t>
            </a:r>
            <a:r>
              <a:rPr lang="zh-CN" altLang="en-US" sz="1600" dirty="0">
                <a:solidFill>
                  <a:srgbClr val="FF0000"/>
                </a:solidFill>
                <a:cs typeface="+mn-ea"/>
                <a:sym typeface="+mn-lt"/>
              </a:rPr>
              <a:t>软件开发能力的培养</a:t>
            </a:r>
            <a:r>
              <a:rPr lang="zh-CN" altLang="en-US" sz="1600" dirty="0">
                <a:solidFill>
                  <a:sysClr val="windowText" lastClr="000000"/>
                </a:solidFill>
                <a:cs typeface="+mn-ea"/>
                <a:sym typeface="+mn-lt"/>
              </a:rPr>
              <a:t>，按照</a:t>
            </a:r>
            <a:r>
              <a:rPr lang="zh-CN" altLang="en-US" sz="1600" dirty="0">
                <a:solidFill>
                  <a:srgbClr val="FF0000"/>
                </a:solidFill>
                <a:cs typeface="+mn-ea"/>
                <a:sym typeface="+mn-lt"/>
              </a:rPr>
              <a:t>可行性研究、需求分析、设计、实现、测试、运行与维护的软件开发过程，编制源程序并调试通过</a:t>
            </a:r>
            <a:r>
              <a:rPr lang="zh-CN" altLang="en-US" sz="1600" dirty="0">
                <a:solidFill>
                  <a:sysClr val="windowText" lastClr="000000"/>
                </a:solidFill>
                <a:cs typeface="+mn-ea"/>
                <a:sym typeface="+mn-lt"/>
              </a:rPr>
              <a:t>。</a:t>
            </a:r>
            <a:endParaRPr lang="zh-CN" altLang="en-US" sz="1600" dirty="0">
              <a:solidFill>
                <a:sysClr val="windowText" lastClr="000000"/>
              </a:solidFill>
              <a:cs typeface="+mn-ea"/>
              <a:sym typeface="+mn-lt"/>
            </a:endParaRPr>
          </a:p>
          <a:p>
            <a:pPr algn="l">
              <a:lnSpc>
                <a:spcPct val="130000"/>
              </a:lnSpc>
              <a:buClrTx/>
              <a:buSzTx/>
              <a:buFontTx/>
            </a:pPr>
            <a:r>
              <a:rPr lang="en-US" altLang="zh-CN" sz="1600" dirty="0">
                <a:solidFill>
                  <a:sysClr val="windowText" lastClr="000000"/>
                </a:solidFill>
                <a:cs typeface="+mn-ea"/>
                <a:sym typeface="+mn-lt"/>
              </a:rPr>
              <a:t>7. </a:t>
            </a:r>
            <a:r>
              <a:rPr lang="zh-CN" altLang="en-US" sz="1600" dirty="0">
                <a:solidFill>
                  <a:sysClr val="windowText" lastClr="000000"/>
                </a:solidFill>
                <a:cs typeface="+mn-ea"/>
                <a:sym typeface="+mn-lt"/>
              </a:rPr>
              <a:t>为了保证工作量要求，软件学院原则上要求学生论文中的数据库至少包含</a:t>
            </a:r>
            <a:r>
              <a:rPr lang="en-US" altLang="zh-CN" sz="1600" dirty="0">
                <a:solidFill>
                  <a:srgbClr val="FF0000"/>
                </a:solidFill>
                <a:cs typeface="+mn-ea"/>
                <a:sym typeface="+mn-lt"/>
              </a:rPr>
              <a:t>10</a:t>
            </a:r>
            <a:r>
              <a:rPr lang="zh-CN" altLang="en-US" sz="1600" dirty="0">
                <a:solidFill>
                  <a:srgbClr val="FF0000"/>
                </a:solidFill>
                <a:cs typeface="+mn-ea"/>
                <a:sym typeface="+mn-lt"/>
              </a:rPr>
              <a:t>张表</a:t>
            </a:r>
            <a:r>
              <a:rPr lang="zh-CN" altLang="en-US" sz="1600" dirty="0">
                <a:solidFill>
                  <a:sysClr val="windowText" lastClr="000000"/>
                </a:solidFill>
                <a:cs typeface="+mn-ea"/>
                <a:sym typeface="+mn-lt"/>
              </a:rPr>
              <a:t>，</a:t>
            </a:r>
            <a:r>
              <a:rPr lang="zh-CN" altLang="en-US" sz="1600" dirty="0">
                <a:solidFill>
                  <a:srgbClr val="FF0000"/>
                </a:solidFill>
                <a:cs typeface="+mn-ea"/>
                <a:sym typeface="+mn-lt"/>
              </a:rPr>
              <a:t>表之间要有一定的逻辑关系</a:t>
            </a:r>
            <a:r>
              <a:rPr lang="zh-CN" altLang="en-US" sz="1600" dirty="0">
                <a:solidFill>
                  <a:sysClr val="windowText" lastClr="000000"/>
                </a:solidFill>
                <a:cs typeface="+mn-ea"/>
                <a:sym typeface="+mn-lt"/>
              </a:rPr>
              <a:t>。</a:t>
            </a:r>
            <a:endParaRPr lang="zh-CN" altLang="en-US" sz="1600" dirty="0">
              <a:solidFill>
                <a:sysClr val="windowText" lastClr="00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513" y="104316"/>
            <a:ext cx="4093210" cy="520700"/>
          </a:xfrm>
          <a:prstGeom prst="rect">
            <a:avLst/>
          </a:prstGeom>
          <a:noFill/>
          <a:ln>
            <a:solidFill>
              <a:srgbClr val="FFFFFF">
                <a:alpha val="45882"/>
              </a:srgbClr>
            </a:solidFill>
          </a:ln>
        </p:spPr>
        <p:txBody>
          <a:bodyPr wrap="none" lIns="91438" tIns="45719" rIns="91438" bIns="45719" rtlCol="0">
            <a:spAutoFit/>
          </a:bodyPr>
          <a:lstStyle/>
          <a:p>
            <a:pPr algn="l"/>
            <a:r>
              <a:rPr lang="zh-CN" altLang="en-US" sz="2800" dirty="0">
                <a:solidFill>
                  <a:prstClr val="white"/>
                </a:solidFill>
                <a:cs typeface="+mn-ea"/>
                <a:sym typeface="+mn-lt"/>
              </a:rPr>
              <a:t>毕业设计（论文）的要求</a:t>
            </a:r>
            <a:endParaRPr lang="zh-CN" altLang="en-US" sz="2800" dirty="0">
              <a:solidFill>
                <a:prstClr val="white"/>
              </a:solidFill>
              <a:cs typeface="+mn-ea"/>
              <a:sym typeface="+mn-lt"/>
            </a:endParaRPr>
          </a:p>
        </p:txBody>
      </p:sp>
    </p:spTree>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bwMode="auto">
      <p:bgPr>
        <a:solidFill>
          <a:srgbClr val="0070C0"/>
        </a:solidFill>
        <a:effectLst/>
      </p:bgPr>
    </p:bg>
    <p:spTree>
      <p:nvGrpSpPr>
        <p:cNvPr id="1" name=""/>
        <p:cNvGrpSpPr/>
        <p:nvPr/>
      </p:nvGrpSpPr>
      <p:grpSpPr>
        <a:xfrm>
          <a:off x="0" y="0"/>
          <a:ext cx="0" cy="0"/>
          <a:chOff x="0" y="0"/>
          <a:chExt cx="0" cy="0"/>
        </a:xfrm>
      </p:grpSpPr>
      <p:sp>
        <p:nvSpPr>
          <p:cNvPr id="5122" name="矩形 1"/>
          <p:cNvSpPr>
            <a:spLocks noChangeArrowheads="1"/>
          </p:cNvSpPr>
          <p:nvPr/>
        </p:nvSpPr>
        <p:spPr bwMode="auto">
          <a:xfrm>
            <a:off x="3183732" y="0"/>
            <a:ext cx="5960269" cy="5143500"/>
          </a:xfrm>
          <a:prstGeom prst="rect">
            <a:avLst/>
          </a:prstGeom>
          <a:solidFill>
            <a:schemeClr val="bg1"/>
          </a:solidFill>
          <a:ln>
            <a:noFill/>
          </a:ln>
          <a:extLst>
            <a:ext uri="{91240B29-F687-4F45-9708-019B960494DF}">
              <a14:hiddenLine xmlns:a14="http://schemas.microsoft.com/office/drawing/2010/main" w="12700">
                <a:solidFill>
                  <a:srgbClr val="42719B"/>
                </a:solidFill>
                <a:bevel/>
              </a14:hiddenLine>
            </a:ext>
          </a:extLst>
        </p:spPr>
        <p:txBody>
          <a:bodyPr lIns="68577" tIns="34289" rIns="68577" bIns="34289"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buFont typeface="Arial" panose="020B0604020202020204" pitchFamily="34" charset="0"/>
              <a:buNone/>
            </a:pPr>
            <a:r>
              <a:rPr lang="zh-CN" altLang="en-US" dirty="0">
                <a:solidFill>
                  <a:srgbClr val="FFFFFF"/>
                </a:solidFill>
                <a:latin typeface="+mn-lt"/>
                <a:ea typeface="+mn-ea"/>
                <a:cs typeface="+mn-ea"/>
                <a:sym typeface="+mn-lt"/>
              </a:rPr>
              <a:t>论文质量存在的问题</a:t>
            </a:r>
            <a:endParaRPr lang="zh-CN" altLang="zh-CN">
              <a:solidFill>
                <a:srgbClr val="FFFFFF"/>
              </a:solidFill>
              <a:latin typeface="+mn-lt"/>
              <a:ea typeface="+mn-ea"/>
              <a:cs typeface="+mn-ea"/>
              <a:sym typeface="+mn-lt"/>
            </a:endParaRPr>
          </a:p>
        </p:txBody>
      </p:sp>
      <p:sp>
        <p:nvSpPr>
          <p:cNvPr id="5123" name="矩形 15"/>
          <p:cNvSpPr>
            <a:spLocks noChangeArrowheads="1"/>
          </p:cNvSpPr>
          <p:nvPr/>
        </p:nvSpPr>
        <p:spPr bwMode="auto">
          <a:xfrm>
            <a:off x="3006329" y="0"/>
            <a:ext cx="70247" cy="5143500"/>
          </a:xfrm>
          <a:prstGeom prst="rect">
            <a:avLst/>
          </a:prstGeom>
          <a:solidFill>
            <a:schemeClr val="bg1"/>
          </a:solidFill>
          <a:ln>
            <a:noFill/>
          </a:ln>
          <a:extLst>
            <a:ext uri="{91240B29-F687-4F45-9708-019B960494DF}">
              <a14:hiddenLine xmlns:a14="http://schemas.microsoft.com/office/drawing/2010/main" w="12700">
                <a:solidFill>
                  <a:srgbClr val="42719B"/>
                </a:solidFill>
                <a:bevel/>
              </a14:hiddenLine>
            </a:ext>
          </a:extLst>
        </p:spPr>
        <p:txBody>
          <a:bodyPr lIns="68577" tIns="34289" rIns="68577" bIns="34289"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zh-CN">
              <a:solidFill>
                <a:srgbClr val="FFFFFF"/>
              </a:solidFill>
              <a:latin typeface="+mn-lt"/>
              <a:ea typeface="+mn-ea"/>
              <a:cs typeface="+mn-ea"/>
              <a:sym typeface="+mn-lt"/>
            </a:endParaRPr>
          </a:p>
        </p:txBody>
      </p:sp>
      <p:sp>
        <p:nvSpPr>
          <p:cNvPr id="5125" name="文本框 52"/>
          <p:cNvSpPr>
            <a:spLocks noChangeArrowheads="1"/>
          </p:cNvSpPr>
          <p:nvPr/>
        </p:nvSpPr>
        <p:spPr bwMode="auto">
          <a:xfrm>
            <a:off x="395537" y="1275161"/>
            <a:ext cx="2502445" cy="651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7" tIns="34289" rIns="68577" bIns="3428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buFont typeface="Arial" panose="020B0604020202020204" pitchFamily="34" charset="0"/>
              <a:buNone/>
            </a:pPr>
            <a:r>
              <a:rPr lang="zh-CN" altLang="en-US" sz="3800" b="1" dirty="0">
                <a:solidFill>
                  <a:srgbClr val="FFFFFF"/>
                </a:solidFill>
                <a:latin typeface="+mn-lt"/>
                <a:ea typeface="+mn-ea"/>
                <a:cs typeface="+mn-ea"/>
                <a:sym typeface="+mn-lt"/>
              </a:rPr>
              <a:t>第</a:t>
            </a:r>
            <a:r>
              <a:rPr lang="zh-CN" altLang="en-US" sz="3800" b="1" dirty="0">
                <a:solidFill>
                  <a:srgbClr val="FFFFFF"/>
                </a:solidFill>
                <a:latin typeface="+mn-lt"/>
                <a:ea typeface="+mn-ea"/>
                <a:cs typeface="+mn-ea"/>
                <a:sym typeface="+mn-lt"/>
              </a:rPr>
              <a:t>二部分</a:t>
            </a:r>
            <a:endParaRPr lang="zh-CN" altLang="en-US" sz="3800" b="1" dirty="0">
              <a:solidFill>
                <a:srgbClr val="FFFFFF"/>
              </a:solidFill>
              <a:latin typeface="+mn-lt"/>
              <a:ea typeface="+mn-ea"/>
              <a:cs typeface="+mn-ea"/>
              <a:sym typeface="+mn-lt"/>
            </a:endParaRPr>
          </a:p>
        </p:txBody>
      </p:sp>
      <p:sp>
        <p:nvSpPr>
          <p:cNvPr id="12" name="TextBox 23"/>
          <p:cNvSpPr txBox="1"/>
          <p:nvPr/>
        </p:nvSpPr>
        <p:spPr>
          <a:xfrm>
            <a:off x="3851667" y="1826933"/>
            <a:ext cx="1683385" cy="297815"/>
          </a:xfrm>
          <a:prstGeom prst="rect">
            <a:avLst/>
          </a:prstGeom>
          <a:noFill/>
        </p:spPr>
        <p:txBody>
          <a:bodyPr wrap="none" lIns="68579" tIns="34289" rIns="68579" bIns="34289" rtlCol="0">
            <a:spAutoFit/>
          </a:bodyPr>
          <a:lstStyle/>
          <a:p>
            <a:pPr marL="213995" indent="-213995">
              <a:buFont typeface="Wingdings" panose="05000000000000000000" pitchFamily="2" charset="2"/>
              <a:buChar char="p"/>
            </a:pPr>
            <a:r>
              <a:rPr lang="zh-CN" altLang="en-US" sz="1500" dirty="0">
                <a:solidFill>
                  <a:prstClr val="black">
                    <a:lumMod val="65000"/>
                    <a:lumOff val="35000"/>
                  </a:prstClr>
                </a:solidFill>
                <a:cs typeface="+mn-ea"/>
                <a:sym typeface="+mn-lt"/>
              </a:rPr>
              <a:t>工作量</a:t>
            </a:r>
            <a:r>
              <a:rPr lang="zh-CN" altLang="en-US" sz="1500" dirty="0">
                <a:solidFill>
                  <a:prstClr val="black">
                    <a:lumMod val="65000"/>
                    <a:lumOff val="35000"/>
                  </a:prstClr>
                </a:solidFill>
                <a:cs typeface="+mn-ea"/>
                <a:sym typeface="+mn-lt"/>
              </a:rPr>
              <a:t>严重不足</a:t>
            </a:r>
            <a:endParaRPr lang="zh-CN" altLang="en-US" sz="1500" dirty="0">
              <a:solidFill>
                <a:prstClr val="black">
                  <a:lumMod val="65000"/>
                  <a:lumOff val="35000"/>
                </a:prstClr>
              </a:solidFill>
              <a:cs typeface="+mn-ea"/>
              <a:sym typeface="+mn-lt"/>
            </a:endParaRPr>
          </a:p>
        </p:txBody>
      </p:sp>
      <p:sp>
        <p:nvSpPr>
          <p:cNvPr id="13" name="TextBox 24"/>
          <p:cNvSpPr txBox="1"/>
          <p:nvPr/>
        </p:nvSpPr>
        <p:spPr>
          <a:xfrm>
            <a:off x="3851667" y="2167293"/>
            <a:ext cx="3218815" cy="297815"/>
          </a:xfrm>
          <a:prstGeom prst="rect">
            <a:avLst/>
          </a:prstGeom>
          <a:noFill/>
        </p:spPr>
        <p:txBody>
          <a:bodyPr wrap="none" lIns="68579" tIns="34289" rIns="68579" bIns="34289" rtlCol="0">
            <a:spAutoFit/>
          </a:bodyPr>
          <a:lstStyle/>
          <a:p>
            <a:pPr marL="213995" indent="-213995">
              <a:buFont typeface="Wingdings" panose="05000000000000000000" pitchFamily="2" charset="2"/>
              <a:buChar char="p"/>
            </a:pPr>
            <a:r>
              <a:rPr lang="zh-CN" altLang="en-US" sz="1500" dirty="0">
                <a:solidFill>
                  <a:prstClr val="black">
                    <a:lumMod val="65000"/>
                    <a:lumOff val="35000"/>
                  </a:prstClr>
                </a:solidFill>
                <a:cs typeface="+mn-ea"/>
                <a:sym typeface="+mn-lt"/>
              </a:rPr>
              <a:t>没有</a:t>
            </a:r>
            <a:r>
              <a:rPr lang="en-US" altLang="zh-CN" sz="1500" dirty="0">
                <a:solidFill>
                  <a:prstClr val="black">
                    <a:lumMod val="65000"/>
                    <a:lumOff val="35000"/>
                  </a:prstClr>
                </a:solidFill>
                <a:cs typeface="+mn-ea"/>
                <a:sym typeface="+mn-lt"/>
              </a:rPr>
              <a:t>ER</a:t>
            </a:r>
            <a:r>
              <a:rPr lang="zh-CN" altLang="en-US" sz="1500" dirty="0">
                <a:solidFill>
                  <a:prstClr val="black">
                    <a:lumMod val="65000"/>
                    <a:lumOff val="35000"/>
                  </a:prstClr>
                </a:solidFill>
                <a:cs typeface="+mn-ea"/>
                <a:sym typeface="+mn-lt"/>
              </a:rPr>
              <a:t>图，或者</a:t>
            </a:r>
            <a:r>
              <a:rPr lang="en-US" altLang="zh-CN" sz="1500" dirty="0">
                <a:solidFill>
                  <a:prstClr val="black">
                    <a:lumMod val="65000"/>
                    <a:lumOff val="35000"/>
                  </a:prstClr>
                </a:solidFill>
                <a:cs typeface="+mn-ea"/>
                <a:sym typeface="+mn-lt"/>
              </a:rPr>
              <a:t>ER</a:t>
            </a:r>
            <a:r>
              <a:rPr lang="zh-CN" altLang="en-US" sz="1500" dirty="0">
                <a:solidFill>
                  <a:prstClr val="black">
                    <a:lumMod val="65000"/>
                    <a:lumOff val="35000"/>
                  </a:prstClr>
                </a:solidFill>
                <a:cs typeface="+mn-ea"/>
                <a:sym typeface="+mn-lt"/>
              </a:rPr>
              <a:t>图存在明显</a:t>
            </a:r>
            <a:r>
              <a:rPr lang="zh-CN" altLang="en-US" sz="1500" dirty="0">
                <a:solidFill>
                  <a:prstClr val="black">
                    <a:lumMod val="65000"/>
                    <a:lumOff val="35000"/>
                  </a:prstClr>
                </a:solidFill>
                <a:cs typeface="+mn-ea"/>
                <a:sym typeface="+mn-lt"/>
              </a:rPr>
              <a:t>错误</a:t>
            </a:r>
            <a:endParaRPr lang="zh-CN" altLang="en-US" sz="1500" dirty="0">
              <a:solidFill>
                <a:prstClr val="black">
                  <a:lumMod val="65000"/>
                  <a:lumOff val="35000"/>
                </a:prstClr>
              </a:solidFill>
              <a:cs typeface="+mn-ea"/>
              <a:sym typeface="+mn-lt"/>
            </a:endParaRPr>
          </a:p>
        </p:txBody>
      </p:sp>
      <p:sp>
        <p:nvSpPr>
          <p:cNvPr id="14" name="TextBox 25"/>
          <p:cNvSpPr txBox="1"/>
          <p:nvPr/>
        </p:nvSpPr>
        <p:spPr>
          <a:xfrm>
            <a:off x="3851667" y="2507653"/>
            <a:ext cx="4546600" cy="297815"/>
          </a:xfrm>
          <a:prstGeom prst="rect">
            <a:avLst/>
          </a:prstGeom>
          <a:noFill/>
        </p:spPr>
        <p:txBody>
          <a:bodyPr wrap="none" lIns="68579" tIns="34289" rIns="68579" bIns="34289" rtlCol="0">
            <a:spAutoFit/>
          </a:bodyPr>
          <a:lstStyle/>
          <a:p>
            <a:pPr marL="213995" indent="-213995">
              <a:buFont typeface="Wingdings" panose="05000000000000000000" pitchFamily="2" charset="2"/>
              <a:buChar char="p"/>
            </a:pPr>
            <a:r>
              <a:rPr lang="zh-CN" altLang="en-US" sz="1500" dirty="0">
                <a:solidFill>
                  <a:prstClr val="black">
                    <a:lumMod val="65000"/>
                    <a:lumOff val="35000"/>
                  </a:prstClr>
                </a:solidFill>
                <a:cs typeface="+mn-ea"/>
                <a:sym typeface="+mn-lt"/>
              </a:rPr>
              <a:t>数据库中表与</a:t>
            </a:r>
            <a:r>
              <a:rPr lang="en-US" altLang="zh-CN" sz="1500" dirty="0">
                <a:solidFill>
                  <a:prstClr val="black">
                    <a:lumMod val="65000"/>
                    <a:lumOff val="35000"/>
                  </a:prstClr>
                </a:solidFill>
                <a:cs typeface="+mn-ea"/>
                <a:sym typeface="+mn-lt"/>
              </a:rPr>
              <a:t>ER</a:t>
            </a:r>
            <a:r>
              <a:rPr lang="zh-CN" altLang="en-US" sz="1500" dirty="0">
                <a:solidFill>
                  <a:prstClr val="black">
                    <a:lumMod val="65000"/>
                    <a:lumOff val="35000"/>
                  </a:prstClr>
                </a:solidFill>
                <a:cs typeface="+mn-ea"/>
                <a:sym typeface="+mn-lt"/>
              </a:rPr>
              <a:t>图不匹配，与系统主要功能</a:t>
            </a:r>
            <a:r>
              <a:rPr lang="zh-CN" altLang="en-US" sz="1500" dirty="0">
                <a:solidFill>
                  <a:prstClr val="black">
                    <a:lumMod val="65000"/>
                    <a:lumOff val="35000"/>
                  </a:prstClr>
                </a:solidFill>
                <a:cs typeface="+mn-ea"/>
                <a:sym typeface="+mn-lt"/>
              </a:rPr>
              <a:t>不匹配</a:t>
            </a:r>
            <a:endParaRPr lang="zh-CN" altLang="en-US" sz="1500" dirty="0">
              <a:solidFill>
                <a:prstClr val="black">
                  <a:lumMod val="65000"/>
                  <a:lumOff val="35000"/>
                </a:prstClr>
              </a:solidFill>
              <a:cs typeface="+mn-ea"/>
              <a:sym typeface="+mn-lt"/>
            </a:endParaRPr>
          </a:p>
        </p:txBody>
      </p:sp>
      <p:sp>
        <p:nvSpPr>
          <p:cNvPr id="16" name="TextBox 4"/>
          <p:cNvSpPr txBox="1"/>
          <p:nvPr/>
        </p:nvSpPr>
        <p:spPr>
          <a:xfrm>
            <a:off x="3773159" y="1203598"/>
            <a:ext cx="3337560" cy="499110"/>
          </a:xfrm>
          <a:prstGeom prst="rect">
            <a:avLst/>
          </a:prstGeom>
          <a:noFill/>
        </p:spPr>
        <p:txBody>
          <a:bodyPr wrap="none" lIns="68580" tIns="34290" rIns="68580" bIns="34290" rtlCol="0">
            <a:spAutoFit/>
          </a:bodyPr>
          <a:lstStyle/>
          <a:p>
            <a:pPr algn="l">
              <a:buClrTx/>
              <a:buSzTx/>
              <a:buFontTx/>
            </a:pPr>
            <a:r>
              <a:rPr lang="zh-CN" altLang="en-US" sz="2800" b="1" dirty="0">
                <a:solidFill>
                  <a:srgbClr val="0070C0"/>
                </a:solidFill>
                <a:cs typeface="+mn-ea"/>
                <a:sym typeface="+mn-lt"/>
              </a:rPr>
              <a:t>论文质量存在的问题</a:t>
            </a:r>
            <a:endParaRPr lang="zh-CN" altLang="en-US" sz="2800" b="1" dirty="0">
              <a:solidFill>
                <a:srgbClr val="0070C0"/>
              </a:solidFill>
              <a:cs typeface="+mn-ea"/>
              <a:sym typeface="+mn-lt"/>
            </a:endParaRPr>
          </a:p>
        </p:txBody>
      </p:sp>
      <p:sp>
        <p:nvSpPr>
          <p:cNvPr id="18" name="矩形 17"/>
          <p:cNvSpPr/>
          <p:nvPr/>
        </p:nvSpPr>
        <p:spPr>
          <a:xfrm>
            <a:off x="3851949" y="4291386"/>
            <a:ext cx="5319000" cy="20046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solidFill>
                <a:prstClr val="white"/>
              </a:solidFill>
              <a:cs typeface="+mn-ea"/>
              <a:sym typeface="+mn-lt"/>
            </a:endParaRPr>
          </a:p>
        </p:txBody>
      </p:sp>
      <p:sp>
        <p:nvSpPr>
          <p:cNvPr id="19" name="TextBox 25"/>
          <p:cNvSpPr txBox="1"/>
          <p:nvPr/>
        </p:nvSpPr>
        <p:spPr>
          <a:xfrm>
            <a:off x="3851667" y="2848013"/>
            <a:ext cx="1683385" cy="297815"/>
          </a:xfrm>
          <a:prstGeom prst="rect">
            <a:avLst/>
          </a:prstGeom>
          <a:noFill/>
        </p:spPr>
        <p:txBody>
          <a:bodyPr wrap="none" lIns="68579" tIns="34289" rIns="68579" bIns="34289" rtlCol="0">
            <a:spAutoFit/>
          </a:bodyPr>
          <a:lstStyle/>
          <a:p>
            <a:pPr marL="213995" indent="-213995">
              <a:buFont typeface="Wingdings" panose="05000000000000000000" pitchFamily="2" charset="2"/>
              <a:buChar char="p"/>
            </a:pPr>
            <a:r>
              <a:rPr lang="zh-CN" altLang="en-US" sz="1500" dirty="0">
                <a:solidFill>
                  <a:prstClr val="black">
                    <a:lumMod val="65000"/>
                    <a:lumOff val="35000"/>
                  </a:prstClr>
                </a:solidFill>
                <a:cs typeface="+mn-ea"/>
                <a:sym typeface="+mn-lt"/>
              </a:rPr>
              <a:t>题目和内容</a:t>
            </a:r>
            <a:r>
              <a:rPr lang="zh-CN" altLang="en-US" sz="1500" dirty="0">
                <a:solidFill>
                  <a:prstClr val="black">
                    <a:lumMod val="65000"/>
                    <a:lumOff val="35000"/>
                  </a:prstClr>
                </a:solidFill>
                <a:cs typeface="+mn-ea"/>
                <a:sym typeface="+mn-lt"/>
              </a:rPr>
              <a:t>不符</a:t>
            </a:r>
            <a:endParaRPr lang="zh-CN" altLang="en-US" sz="1500" dirty="0">
              <a:solidFill>
                <a:prstClr val="black">
                  <a:lumMod val="65000"/>
                  <a:lumOff val="35000"/>
                </a:prstClr>
              </a:solidFill>
              <a:cs typeface="+mn-ea"/>
              <a:sym typeface="+mn-lt"/>
            </a:endParaRPr>
          </a:p>
        </p:txBody>
      </p:sp>
      <p:sp>
        <p:nvSpPr>
          <p:cNvPr id="2" name="TextBox 25"/>
          <p:cNvSpPr txBox="1"/>
          <p:nvPr/>
        </p:nvSpPr>
        <p:spPr>
          <a:xfrm>
            <a:off x="3851667" y="3188373"/>
            <a:ext cx="1873885" cy="297815"/>
          </a:xfrm>
          <a:prstGeom prst="rect">
            <a:avLst/>
          </a:prstGeom>
          <a:noFill/>
        </p:spPr>
        <p:txBody>
          <a:bodyPr wrap="none" lIns="68579" tIns="34289" rIns="68579" bIns="34289" rtlCol="0">
            <a:spAutoFit/>
          </a:bodyPr>
          <a:p>
            <a:pPr marL="213995" indent="-213995">
              <a:buFont typeface="Wingdings" panose="05000000000000000000" pitchFamily="2" charset="2"/>
              <a:buChar char="p"/>
            </a:pPr>
            <a:r>
              <a:rPr lang="zh-CN" altLang="en-US" sz="1500" dirty="0">
                <a:solidFill>
                  <a:prstClr val="black">
                    <a:lumMod val="65000"/>
                    <a:lumOff val="35000"/>
                  </a:prstClr>
                </a:solidFill>
                <a:cs typeface="+mn-ea"/>
                <a:sym typeface="+mn-lt"/>
              </a:rPr>
              <a:t>表格采用图片</a:t>
            </a:r>
            <a:r>
              <a:rPr lang="zh-CN" altLang="en-US" sz="1500" dirty="0">
                <a:solidFill>
                  <a:prstClr val="black">
                    <a:lumMod val="65000"/>
                    <a:lumOff val="35000"/>
                  </a:prstClr>
                </a:solidFill>
                <a:cs typeface="+mn-ea"/>
                <a:sym typeface="+mn-lt"/>
              </a:rPr>
              <a:t>形式</a:t>
            </a:r>
            <a:endParaRPr lang="zh-CN" altLang="en-US" sz="1500" dirty="0">
              <a:solidFill>
                <a:prstClr val="black">
                  <a:lumMod val="65000"/>
                  <a:lumOff val="35000"/>
                </a:prstClr>
              </a:solidFill>
              <a:cs typeface="+mn-ea"/>
              <a:sym typeface="+mn-lt"/>
            </a:endParaRPr>
          </a:p>
        </p:txBody>
      </p:sp>
      <p:sp>
        <p:nvSpPr>
          <p:cNvPr id="3" name="TextBox 25"/>
          <p:cNvSpPr txBox="1"/>
          <p:nvPr/>
        </p:nvSpPr>
        <p:spPr>
          <a:xfrm>
            <a:off x="3851667" y="3528733"/>
            <a:ext cx="2826385" cy="297815"/>
          </a:xfrm>
          <a:prstGeom prst="rect">
            <a:avLst/>
          </a:prstGeom>
          <a:noFill/>
        </p:spPr>
        <p:txBody>
          <a:bodyPr wrap="none" lIns="68579" tIns="34289" rIns="68579" bIns="34289" rtlCol="0">
            <a:spAutoFit/>
          </a:bodyPr>
          <a:p>
            <a:pPr marL="213995" indent="-213995">
              <a:buFont typeface="Wingdings" panose="05000000000000000000" pitchFamily="2" charset="2"/>
              <a:buChar char="p"/>
            </a:pPr>
            <a:r>
              <a:rPr lang="zh-CN" altLang="en-US" sz="1500" dirty="0">
                <a:solidFill>
                  <a:prstClr val="black">
                    <a:lumMod val="65000"/>
                    <a:lumOff val="35000"/>
                  </a:prstClr>
                </a:solidFill>
                <a:cs typeface="+mn-ea"/>
                <a:sym typeface="+mn-lt"/>
              </a:rPr>
              <a:t>为规避查重，出现的各种</a:t>
            </a:r>
            <a:r>
              <a:rPr lang="zh-CN" altLang="en-US" sz="1500" dirty="0">
                <a:solidFill>
                  <a:prstClr val="black">
                    <a:lumMod val="65000"/>
                    <a:lumOff val="35000"/>
                  </a:prstClr>
                </a:solidFill>
                <a:cs typeface="+mn-ea"/>
                <a:sym typeface="+mn-lt"/>
              </a:rPr>
              <a:t>问题</a:t>
            </a:r>
            <a:endParaRPr lang="zh-CN" altLang="en-US" sz="1500" dirty="0">
              <a:solidFill>
                <a:prstClr val="black">
                  <a:lumMod val="65000"/>
                  <a:lumOff val="35000"/>
                </a:prstClr>
              </a:solidFill>
              <a:cs typeface="+mn-ea"/>
              <a:sym typeface="+mn-lt"/>
            </a:endParaRPr>
          </a:p>
        </p:txBody>
      </p:sp>
      <p:sp>
        <p:nvSpPr>
          <p:cNvPr id="4" name="TextBox 25"/>
          <p:cNvSpPr txBox="1"/>
          <p:nvPr/>
        </p:nvSpPr>
        <p:spPr>
          <a:xfrm>
            <a:off x="3851667" y="3869093"/>
            <a:ext cx="3969385" cy="297815"/>
          </a:xfrm>
          <a:prstGeom prst="rect">
            <a:avLst/>
          </a:prstGeom>
          <a:noFill/>
        </p:spPr>
        <p:txBody>
          <a:bodyPr wrap="none" lIns="68579" tIns="34289" rIns="68579" bIns="34289" rtlCol="0">
            <a:spAutoFit/>
          </a:bodyPr>
          <a:p>
            <a:pPr marL="213995" indent="-213995">
              <a:buFont typeface="Wingdings" panose="05000000000000000000" pitchFamily="2" charset="2"/>
              <a:buChar char="p"/>
            </a:pPr>
            <a:r>
              <a:rPr lang="zh-CN" altLang="en-US" sz="1500" dirty="0">
                <a:solidFill>
                  <a:prstClr val="black">
                    <a:lumMod val="65000"/>
                    <a:lumOff val="35000"/>
                  </a:prstClr>
                </a:solidFill>
                <a:cs typeface="+mn-ea"/>
                <a:sym typeface="+mn-lt"/>
              </a:rPr>
              <a:t>代码完全抄袭，有的使用了课程设计的代码</a:t>
            </a:r>
            <a:endParaRPr lang="en-US" altLang="zh-CN" sz="1500" dirty="0">
              <a:solidFill>
                <a:prstClr val="black">
                  <a:lumMod val="65000"/>
                  <a:lumOff val="35000"/>
                </a:prstClr>
              </a:solidFill>
              <a:cs typeface="+mn-ea"/>
              <a:sym typeface="+mn-lt"/>
            </a:endParaRPr>
          </a:p>
        </p:txBody>
      </p:sp>
    </p:spTree>
  </p:cSld>
  <p:clrMapOvr>
    <a:masterClrMapping/>
  </p:clrMapOvr>
  <p:transition spd="med">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251460" y="699135"/>
            <a:ext cx="7737475"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30000"/>
              </a:lnSpc>
              <a:buClrTx/>
              <a:buSzTx/>
              <a:buFontTx/>
            </a:pPr>
            <a:r>
              <a:rPr lang="zh-CN" altLang="en-US" sz="1600" dirty="0">
                <a:solidFill>
                  <a:sysClr val="windowText" lastClr="000000"/>
                </a:solidFill>
                <a:cs typeface="+mn-ea"/>
                <a:sym typeface="+mn-lt"/>
              </a:rPr>
              <a:t>例如：基于SpringBoot的智能打车系统的设计与实现：</a:t>
            </a:r>
            <a:endParaRPr lang="zh-CN" altLang="en-US" sz="1600" dirty="0">
              <a:solidFill>
                <a:sysClr val="windowText" lastClr="000000"/>
              </a:solidFill>
              <a:cs typeface="+mn-ea"/>
              <a:sym typeface="+mn-lt"/>
            </a:endParaRPr>
          </a:p>
          <a:p>
            <a:pPr algn="l">
              <a:lnSpc>
                <a:spcPct val="130000"/>
              </a:lnSpc>
              <a:buClrTx/>
              <a:buSzTx/>
              <a:buFontTx/>
            </a:pPr>
            <a:r>
              <a:rPr lang="zh-CN" altLang="en-US" sz="1600" dirty="0">
                <a:solidFill>
                  <a:srgbClr val="FF0000"/>
                </a:solidFill>
                <a:cs typeface="+mn-ea"/>
                <a:sym typeface="+mn-lt"/>
              </a:rPr>
              <a:t>ER图存在明显错误，</a:t>
            </a:r>
            <a:r>
              <a:rPr lang="zh-CN" altLang="en-US" sz="1600" dirty="0">
                <a:solidFill>
                  <a:srgbClr val="FF0000"/>
                </a:solidFill>
                <a:cs typeface="+mn-ea"/>
                <a:sym typeface="+mn-lt"/>
              </a:rPr>
              <a:t>数据库表格较少。</a:t>
            </a:r>
            <a:endParaRPr lang="zh-CN" altLang="en-US" sz="1600" dirty="0">
              <a:solidFill>
                <a:srgbClr val="FF0000"/>
              </a:solidFill>
              <a:cs typeface="+mn-ea"/>
              <a:sym typeface="+mn-lt"/>
            </a:endParaRPr>
          </a:p>
          <a:p>
            <a:pPr algn="l">
              <a:lnSpc>
                <a:spcPct val="130000"/>
              </a:lnSpc>
              <a:buClrTx/>
              <a:buSzTx/>
              <a:buFontTx/>
            </a:pPr>
            <a:endParaRPr lang="zh-CN" altLang="en-US" sz="1600" dirty="0">
              <a:solidFill>
                <a:sysClr val="windowText" lastClr="00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513" y="104316"/>
            <a:ext cx="3382010" cy="520700"/>
          </a:xfrm>
          <a:prstGeom prst="rect">
            <a:avLst/>
          </a:prstGeom>
          <a:noFill/>
          <a:ln>
            <a:solidFill>
              <a:srgbClr val="FFFFFF">
                <a:alpha val="45882"/>
              </a:srgbClr>
            </a:solidFill>
          </a:ln>
        </p:spPr>
        <p:txBody>
          <a:bodyPr wrap="none" lIns="91438" tIns="45719" rIns="91438" bIns="45719" rtlCol="0">
            <a:spAutoFit/>
          </a:bodyPr>
          <a:lstStyle/>
          <a:p>
            <a:pPr algn="l">
              <a:buClrTx/>
              <a:buSzTx/>
              <a:buFontTx/>
            </a:pPr>
            <a:r>
              <a:rPr lang="zh-CN" altLang="en-US" sz="2800" dirty="0">
                <a:solidFill>
                  <a:prstClr val="white"/>
                </a:solidFill>
                <a:cs typeface="+mn-ea"/>
                <a:sym typeface="+mn-lt"/>
              </a:rPr>
              <a:t>论文质量存在的问题</a:t>
            </a:r>
            <a:endParaRPr lang="zh-CN" altLang="en-US" sz="2800" dirty="0">
              <a:solidFill>
                <a:prstClr val="white"/>
              </a:solidFill>
              <a:cs typeface="+mn-ea"/>
              <a:sym typeface="+mn-lt"/>
            </a:endParaRPr>
          </a:p>
        </p:txBody>
      </p:sp>
      <p:pic>
        <p:nvPicPr>
          <p:cNvPr id="45440392" name="图片 1"/>
          <p:cNvPicPr>
            <a:picLocks noChangeAspect="1"/>
          </p:cNvPicPr>
          <p:nvPr/>
        </p:nvPicPr>
        <p:blipFill>
          <a:blip r:embed="rId1"/>
          <a:stretch>
            <a:fillRect/>
          </a:stretch>
        </p:blipFill>
        <p:spPr>
          <a:xfrm>
            <a:off x="5363845" y="1491615"/>
            <a:ext cx="3575050" cy="3522345"/>
          </a:xfrm>
          <a:prstGeom prst="rect">
            <a:avLst/>
          </a:prstGeom>
        </p:spPr>
      </p:pic>
      <p:pic>
        <p:nvPicPr>
          <p:cNvPr id="4" name="图片 3"/>
          <p:cNvPicPr>
            <a:picLocks noChangeAspect="1"/>
          </p:cNvPicPr>
          <p:nvPr/>
        </p:nvPicPr>
        <p:blipFill>
          <a:blip r:embed="rId2"/>
          <a:stretch>
            <a:fillRect/>
          </a:stretch>
        </p:blipFill>
        <p:spPr>
          <a:xfrm>
            <a:off x="323215" y="1707515"/>
            <a:ext cx="3368675" cy="3225165"/>
          </a:xfrm>
          <a:prstGeom prst="rect">
            <a:avLst/>
          </a:prstGeom>
        </p:spPr>
      </p:pic>
    </p:spTree>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251460" y="699135"/>
            <a:ext cx="7737475"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30000"/>
              </a:lnSpc>
              <a:buClrTx/>
              <a:buSzTx/>
              <a:buFontTx/>
            </a:pPr>
            <a:r>
              <a:rPr lang="zh-CN" altLang="en-US" sz="1600" dirty="0">
                <a:solidFill>
                  <a:sysClr val="windowText" lastClr="000000"/>
                </a:solidFill>
                <a:cs typeface="+mn-ea"/>
                <a:sym typeface="+mn-lt"/>
              </a:rPr>
              <a:t>例如：基于Spring Boot+UniAPP的在线刷题软件的设计与实现</a:t>
            </a:r>
            <a:endParaRPr lang="zh-CN" altLang="en-US" sz="1600" dirty="0">
              <a:solidFill>
                <a:sysClr val="windowText" lastClr="000000"/>
              </a:solidFill>
              <a:cs typeface="+mn-ea"/>
              <a:sym typeface="+mn-lt"/>
            </a:endParaRPr>
          </a:p>
          <a:p>
            <a:pPr algn="l">
              <a:lnSpc>
                <a:spcPct val="130000"/>
              </a:lnSpc>
              <a:buClrTx/>
              <a:buSzTx/>
              <a:buFontTx/>
            </a:pPr>
            <a:r>
              <a:rPr lang="zh-CN" altLang="en-US" sz="1600" dirty="0">
                <a:solidFill>
                  <a:srgbClr val="FF0000"/>
                </a:solidFill>
                <a:cs typeface="+mn-ea"/>
                <a:sym typeface="+mn-lt"/>
              </a:rPr>
              <a:t>ER图存在明显错误，数据库表格逻辑</a:t>
            </a:r>
            <a:r>
              <a:rPr lang="zh-CN" altLang="en-US" sz="1600" dirty="0">
                <a:solidFill>
                  <a:srgbClr val="FF0000"/>
                </a:solidFill>
                <a:cs typeface="+mn-ea"/>
                <a:sym typeface="+mn-lt"/>
              </a:rPr>
              <a:t>混乱。</a:t>
            </a:r>
            <a:endParaRPr lang="zh-CN" altLang="en-US" sz="1600" dirty="0">
              <a:solidFill>
                <a:srgbClr val="FF0000"/>
              </a:solidFill>
              <a:cs typeface="+mn-ea"/>
              <a:sym typeface="+mn-lt"/>
            </a:endParaRPr>
          </a:p>
          <a:p>
            <a:pPr algn="l">
              <a:lnSpc>
                <a:spcPct val="130000"/>
              </a:lnSpc>
              <a:buClrTx/>
              <a:buSzTx/>
              <a:buFontTx/>
            </a:pPr>
            <a:endParaRPr lang="zh-CN" altLang="en-US" sz="1600" dirty="0">
              <a:solidFill>
                <a:sysClr val="windowText" lastClr="00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513" y="104316"/>
            <a:ext cx="3382010" cy="520700"/>
          </a:xfrm>
          <a:prstGeom prst="rect">
            <a:avLst/>
          </a:prstGeom>
          <a:noFill/>
          <a:ln>
            <a:solidFill>
              <a:srgbClr val="FFFFFF">
                <a:alpha val="45882"/>
              </a:srgbClr>
            </a:solidFill>
          </a:ln>
        </p:spPr>
        <p:txBody>
          <a:bodyPr wrap="none" lIns="91438" tIns="45719" rIns="91438" bIns="45719" rtlCol="0">
            <a:spAutoFit/>
          </a:bodyPr>
          <a:lstStyle/>
          <a:p>
            <a:pPr algn="l">
              <a:buClrTx/>
              <a:buSzTx/>
              <a:buFontTx/>
            </a:pPr>
            <a:r>
              <a:rPr lang="zh-CN" altLang="en-US" sz="2800" dirty="0">
                <a:solidFill>
                  <a:prstClr val="white"/>
                </a:solidFill>
                <a:cs typeface="+mn-ea"/>
                <a:sym typeface="+mn-lt"/>
              </a:rPr>
              <a:t>论文质量存在的问题</a:t>
            </a:r>
            <a:endParaRPr lang="zh-CN" altLang="en-US" sz="2800" dirty="0">
              <a:solidFill>
                <a:prstClr val="white"/>
              </a:solidFill>
              <a:cs typeface="+mn-ea"/>
              <a:sym typeface="+mn-lt"/>
            </a:endParaRPr>
          </a:p>
        </p:txBody>
      </p:sp>
      <p:pic>
        <p:nvPicPr>
          <p:cNvPr id="10" name="图片 10"/>
          <p:cNvPicPr>
            <a:picLocks noChangeAspect="1"/>
          </p:cNvPicPr>
          <p:nvPr/>
        </p:nvPicPr>
        <p:blipFill>
          <a:blip r:embed="rId1"/>
          <a:stretch>
            <a:fillRect/>
          </a:stretch>
        </p:blipFill>
        <p:spPr>
          <a:xfrm>
            <a:off x="4427855" y="1779270"/>
            <a:ext cx="4546600" cy="3020695"/>
          </a:xfrm>
          <a:prstGeom prst="rect">
            <a:avLst/>
          </a:prstGeom>
        </p:spPr>
      </p:pic>
      <p:pic>
        <p:nvPicPr>
          <p:cNvPr id="2" name="图片 1"/>
          <p:cNvPicPr>
            <a:picLocks noChangeAspect="1"/>
          </p:cNvPicPr>
          <p:nvPr/>
        </p:nvPicPr>
        <p:blipFill>
          <a:blip r:embed="rId2"/>
          <a:stretch>
            <a:fillRect/>
          </a:stretch>
        </p:blipFill>
        <p:spPr>
          <a:xfrm>
            <a:off x="323215" y="1491615"/>
            <a:ext cx="3837940" cy="3356610"/>
          </a:xfrm>
          <a:prstGeom prst="rect">
            <a:avLst/>
          </a:prstGeom>
        </p:spPr>
      </p:pic>
    </p:spTree>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123190" y="987425"/>
            <a:ext cx="3952240" cy="730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30000"/>
              </a:lnSpc>
              <a:buClrTx/>
              <a:buSzTx/>
              <a:buFontTx/>
            </a:pPr>
            <a:r>
              <a:rPr lang="en-US" altLang="zh-CN" sz="1600" dirty="0">
                <a:solidFill>
                  <a:srgbClr val="FF0000"/>
                </a:solidFill>
                <a:cs typeface="+mn-ea"/>
                <a:sym typeface="+mn-lt"/>
              </a:rPr>
              <a:t>ER</a:t>
            </a:r>
            <a:r>
              <a:rPr lang="zh-CN" altLang="en-US" sz="1600" dirty="0">
                <a:solidFill>
                  <a:srgbClr val="FF0000"/>
                </a:solidFill>
                <a:cs typeface="+mn-ea"/>
                <a:sym typeface="+mn-lt"/>
              </a:rPr>
              <a:t>图描述的是系统各实体之间的关系，不是逻辑功能或</a:t>
            </a:r>
            <a:r>
              <a:rPr lang="zh-CN" altLang="en-US" sz="1600" dirty="0">
                <a:solidFill>
                  <a:srgbClr val="FF0000"/>
                </a:solidFill>
                <a:cs typeface="+mn-ea"/>
                <a:sym typeface="+mn-lt"/>
              </a:rPr>
              <a:t>操作关系。</a:t>
            </a:r>
            <a:endParaRPr lang="zh-CN" altLang="en-US" sz="1600" dirty="0">
              <a:solidFill>
                <a:sysClr val="windowText" lastClr="00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513" y="104316"/>
            <a:ext cx="3382010" cy="520700"/>
          </a:xfrm>
          <a:prstGeom prst="rect">
            <a:avLst/>
          </a:prstGeom>
          <a:noFill/>
          <a:ln>
            <a:solidFill>
              <a:srgbClr val="FFFFFF">
                <a:alpha val="45882"/>
              </a:srgbClr>
            </a:solidFill>
          </a:ln>
        </p:spPr>
        <p:txBody>
          <a:bodyPr wrap="none" lIns="91438" tIns="45719" rIns="91438" bIns="45719" rtlCol="0">
            <a:spAutoFit/>
          </a:bodyPr>
          <a:lstStyle/>
          <a:p>
            <a:pPr>
              <a:buClrTx/>
              <a:buSzTx/>
              <a:buFontTx/>
            </a:pPr>
            <a:r>
              <a:rPr lang="zh-CN" altLang="en-US" sz="2800" dirty="0">
                <a:solidFill>
                  <a:prstClr val="white"/>
                </a:solidFill>
                <a:cs typeface="+mn-ea"/>
                <a:sym typeface="+mn-lt"/>
              </a:rPr>
              <a:t>论文质量存在的问题</a:t>
            </a:r>
            <a:endParaRPr lang="zh-CN" altLang="en-US" sz="2800" dirty="0">
              <a:solidFill>
                <a:prstClr val="white"/>
              </a:solidFill>
              <a:cs typeface="+mn-ea"/>
              <a:sym typeface="+mn-lt"/>
            </a:endParaRPr>
          </a:p>
        </p:txBody>
      </p:sp>
      <p:pic>
        <p:nvPicPr>
          <p:cNvPr id="2" name="图片 -2147482390" descr="E-R"/>
          <p:cNvPicPr>
            <a:picLocks noChangeAspect="1"/>
          </p:cNvPicPr>
          <p:nvPr/>
        </p:nvPicPr>
        <p:blipFill>
          <a:blip r:embed="rId1"/>
          <a:stretch>
            <a:fillRect/>
          </a:stretch>
        </p:blipFill>
        <p:spPr>
          <a:xfrm>
            <a:off x="4283710" y="843280"/>
            <a:ext cx="4609465" cy="4057015"/>
          </a:xfrm>
          <a:prstGeom prst="rect">
            <a:avLst/>
          </a:prstGeom>
          <a:noFill/>
          <a:ln w="9525">
            <a:noFill/>
          </a:ln>
        </p:spPr>
      </p:pic>
    </p:spTree>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357505" y="987425"/>
            <a:ext cx="3717925" cy="4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30000"/>
              </a:lnSpc>
              <a:buClrTx/>
              <a:buSzTx/>
              <a:buFontTx/>
            </a:pPr>
            <a:r>
              <a:rPr lang="zh-CN" altLang="en-US" sz="1600" dirty="0">
                <a:solidFill>
                  <a:srgbClr val="FF0000"/>
                </a:solidFill>
                <a:cs typeface="+mn-ea"/>
                <a:sym typeface="+mn-lt"/>
              </a:rPr>
              <a:t>表的列类型选择</a:t>
            </a:r>
            <a:r>
              <a:rPr lang="zh-CN" altLang="en-US" sz="1600" dirty="0">
                <a:solidFill>
                  <a:srgbClr val="FF0000"/>
                </a:solidFill>
                <a:cs typeface="+mn-ea"/>
                <a:sym typeface="+mn-lt"/>
              </a:rPr>
              <a:t>错误</a:t>
            </a:r>
            <a:endParaRPr lang="zh-CN" altLang="en-US" sz="1600" dirty="0">
              <a:solidFill>
                <a:srgbClr val="FF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513" y="104316"/>
            <a:ext cx="3382010" cy="520700"/>
          </a:xfrm>
          <a:prstGeom prst="rect">
            <a:avLst/>
          </a:prstGeom>
          <a:noFill/>
          <a:ln>
            <a:solidFill>
              <a:srgbClr val="FFFFFF">
                <a:alpha val="45882"/>
              </a:srgbClr>
            </a:solidFill>
          </a:ln>
        </p:spPr>
        <p:txBody>
          <a:bodyPr wrap="none" lIns="91438" tIns="45719" rIns="91438" bIns="45719" rtlCol="0">
            <a:spAutoFit/>
          </a:bodyPr>
          <a:lstStyle/>
          <a:p>
            <a:pPr>
              <a:buClrTx/>
              <a:buSzTx/>
              <a:buFontTx/>
            </a:pPr>
            <a:r>
              <a:rPr lang="zh-CN" altLang="en-US" sz="2800" dirty="0">
                <a:solidFill>
                  <a:prstClr val="white"/>
                </a:solidFill>
                <a:cs typeface="+mn-ea"/>
                <a:sym typeface="+mn-lt"/>
              </a:rPr>
              <a:t>论文质量存在的问题</a:t>
            </a:r>
            <a:endParaRPr lang="zh-CN" altLang="en-US" sz="2800" dirty="0">
              <a:solidFill>
                <a:prstClr val="white"/>
              </a:solidFill>
              <a:cs typeface="+mn-ea"/>
              <a:sym typeface="+mn-lt"/>
            </a:endParaRPr>
          </a:p>
        </p:txBody>
      </p:sp>
      <p:pic>
        <p:nvPicPr>
          <p:cNvPr id="2" name="图片 1"/>
          <p:cNvPicPr>
            <a:picLocks noChangeAspect="1"/>
          </p:cNvPicPr>
          <p:nvPr/>
        </p:nvPicPr>
        <p:blipFill>
          <a:blip r:embed="rId1"/>
          <a:stretch>
            <a:fillRect/>
          </a:stretch>
        </p:blipFill>
        <p:spPr>
          <a:xfrm>
            <a:off x="4159250" y="1059180"/>
            <a:ext cx="4948555" cy="2827655"/>
          </a:xfrm>
          <a:prstGeom prst="rect">
            <a:avLst/>
          </a:prstGeom>
        </p:spPr>
      </p:pic>
    </p:spTree>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357505" y="987425"/>
            <a:ext cx="3760470" cy="2011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30000"/>
              </a:lnSpc>
              <a:buClrTx/>
              <a:buSzTx/>
              <a:buFontTx/>
            </a:pPr>
            <a:r>
              <a:rPr lang="zh-CN" altLang="en-US" sz="1600" dirty="0">
                <a:solidFill>
                  <a:prstClr val="black">
                    <a:lumMod val="65000"/>
                    <a:lumOff val="35000"/>
                  </a:prstClr>
                </a:solidFill>
                <a:cs typeface="+mn-ea"/>
                <a:sym typeface="+mn-lt"/>
              </a:rPr>
              <a:t>基于Spring Boot的外卖管理系统的设计与实现：题目与内容</a:t>
            </a:r>
            <a:r>
              <a:rPr lang="zh-CN" altLang="en-US" sz="1600" dirty="0">
                <a:solidFill>
                  <a:prstClr val="black">
                    <a:lumMod val="65000"/>
                    <a:lumOff val="35000"/>
                  </a:prstClr>
                </a:solidFill>
                <a:cs typeface="+mn-ea"/>
                <a:sym typeface="+mn-lt"/>
              </a:rPr>
              <a:t>不对</a:t>
            </a:r>
            <a:endParaRPr lang="zh-CN" altLang="en-US" sz="1600" dirty="0">
              <a:solidFill>
                <a:prstClr val="black">
                  <a:lumMod val="65000"/>
                  <a:lumOff val="35000"/>
                </a:prstClr>
              </a:solidFill>
              <a:cs typeface="+mn-ea"/>
              <a:sym typeface="+mn-lt"/>
            </a:endParaRPr>
          </a:p>
          <a:p>
            <a:pPr algn="l">
              <a:lnSpc>
                <a:spcPct val="130000"/>
              </a:lnSpc>
              <a:buClrTx/>
              <a:buSzTx/>
              <a:buFontTx/>
            </a:pPr>
            <a:endParaRPr lang="zh-CN" altLang="en-US" sz="1600" dirty="0">
              <a:solidFill>
                <a:prstClr val="black">
                  <a:lumMod val="65000"/>
                  <a:lumOff val="35000"/>
                </a:prstClr>
              </a:solidFill>
              <a:cs typeface="+mn-ea"/>
              <a:sym typeface="+mn-lt"/>
            </a:endParaRPr>
          </a:p>
          <a:p>
            <a:pPr algn="l">
              <a:lnSpc>
                <a:spcPct val="130000"/>
              </a:lnSpc>
              <a:buClrTx/>
              <a:buSzTx/>
              <a:buFontTx/>
            </a:pPr>
            <a:r>
              <a:rPr lang="zh-CN" altLang="en-US" sz="1600" dirty="0">
                <a:solidFill>
                  <a:prstClr val="black">
                    <a:lumMod val="65000"/>
                    <a:lumOff val="35000"/>
                  </a:prstClr>
                </a:solidFill>
                <a:cs typeface="+mn-ea"/>
                <a:sym typeface="+mn-lt"/>
              </a:rPr>
              <a:t>数据库中表与</a:t>
            </a:r>
            <a:r>
              <a:rPr lang="en-US" altLang="zh-CN" sz="1600" dirty="0">
                <a:solidFill>
                  <a:prstClr val="black">
                    <a:lumMod val="65000"/>
                    <a:lumOff val="35000"/>
                  </a:prstClr>
                </a:solidFill>
                <a:cs typeface="+mn-ea"/>
                <a:sym typeface="+mn-lt"/>
              </a:rPr>
              <a:t>ER</a:t>
            </a:r>
            <a:r>
              <a:rPr lang="zh-CN" altLang="en-US" sz="1600" dirty="0">
                <a:solidFill>
                  <a:prstClr val="black">
                    <a:lumMod val="65000"/>
                    <a:lumOff val="35000"/>
                  </a:prstClr>
                </a:solidFill>
                <a:cs typeface="+mn-ea"/>
                <a:sym typeface="+mn-lt"/>
              </a:rPr>
              <a:t>图不匹配，与系统主要功能不匹配，</a:t>
            </a:r>
            <a:r>
              <a:rPr lang="zh-CN" altLang="en-US" sz="1600" dirty="0">
                <a:solidFill>
                  <a:srgbClr val="FF0000"/>
                </a:solidFill>
                <a:cs typeface="+mn-ea"/>
                <a:sym typeface="+mn-lt"/>
              </a:rPr>
              <a:t>表里面逻辑混乱</a:t>
            </a:r>
            <a:endParaRPr lang="zh-CN" altLang="en-US" sz="1600" dirty="0">
              <a:solidFill>
                <a:srgbClr val="FF0000"/>
              </a:solidFill>
              <a:cs typeface="+mn-ea"/>
              <a:sym typeface="+mn-lt"/>
            </a:endParaRPr>
          </a:p>
          <a:p>
            <a:pPr algn="l">
              <a:lnSpc>
                <a:spcPct val="130000"/>
              </a:lnSpc>
              <a:buClrTx/>
              <a:buSzTx/>
              <a:buFontTx/>
            </a:pPr>
            <a:endParaRPr lang="zh-CN" altLang="en-US" sz="1600" dirty="0">
              <a:solidFill>
                <a:srgbClr val="FF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513" y="104316"/>
            <a:ext cx="3382010" cy="520700"/>
          </a:xfrm>
          <a:prstGeom prst="rect">
            <a:avLst/>
          </a:prstGeom>
          <a:noFill/>
          <a:ln>
            <a:solidFill>
              <a:srgbClr val="FFFFFF">
                <a:alpha val="45882"/>
              </a:srgbClr>
            </a:solidFill>
          </a:ln>
        </p:spPr>
        <p:txBody>
          <a:bodyPr wrap="none" lIns="91438" tIns="45719" rIns="91438" bIns="45719" rtlCol="0">
            <a:spAutoFit/>
          </a:bodyPr>
          <a:lstStyle/>
          <a:p>
            <a:pPr>
              <a:buClrTx/>
              <a:buSzTx/>
              <a:buFontTx/>
            </a:pPr>
            <a:r>
              <a:rPr lang="zh-CN" altLang="en-US" sz="2800" dirty="0">
                <a:solidFill>
                  <a:prstClr val="white"/>
                </a:solidFill>
                <a:cs typeface="+mn-ea"/>
                <a:sym typeface="+mn-lt"/>
              </a:rPr>
              <a:t>论文质量存在的问题</a:t>
            </a:r>
            <a:endParaRPr lang="zh-CN" altLang="en-US" sz="2800" dirty="0">
              <a:solidFill>
                <a:prstClr val="white"/>
              </a:solidFill>
              <a:cs typeface="+mn-ea"/>
              <a:sym typeface="+mn-lt"/>
            </a:endParaRPr>
          </a:p>
        </p:txBody>
      </p:sp>
      <p:pic>
        <p:nvPicPr>
          <p:cNvPr id="3" name="图片 2"/>
          <p:cNvPicPr>
            <a:picLocks noChangeAspect="1"/>
          </p:cNvPicPr>
          <p:nvPr/>
        </p:nvPicPr>
        <p:blipFill>
          <a:blip r:embed="rId1"/>
          <a:stretch>
            <a:fillRect/>
          </a:stretch>
        </p:blipFill>
        <p:spPr>
          <a:xfrm>
            <a:off x="4284345" y="771525"/>
            <a:ext cx="4890135" cy="3896360"/>
          </a:xfrm>
          <a:prstGeom prst="rect">
            <a:avLst/>
          </a:prstGeom>
        </p:spPr>
      </p:pic>
    </p:spTree>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357505" y="987425"/>
            <a:ext cx="3760470" cy="2011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30000"/>
              </a:lnSpc>
              <a:buClrTx/>
              <a:buSzTx/>
              <a:buFontTx/>
            </a:pPr>
            <a:r>
              <a:rPr lang="zh-CN" altLang="en-US" sz="1600" dirty="0">
                <a:solidFill>
                  <a:prstClr val="black">
                    <a:lumMod val="65000"/>
                    <a:lumOff val="35000"/>
                  </a:prstClr>
                </a:solidFill>
                <a:cs typeface="+mn-ea"/>
                <a:sym typeface="+mn-lt"/>
              </a:rPr>
              <a:t>基于Spring Boot的外卖管理系统的设计与实现：题目与内容</a:t>
            </a:r>
            <a:r>
              <a:rPr lang="zh-CN" altLang="en-US" sz="1600" dirty="0">
                <a:solidFill>
                  <a:prstClr val="black">
                    <a:lumMod val="65000"/>
                    <a:lumOff val="35000"/>
                  </a:prstClr>
                </a:solidFill>
                <a:cs typeface="+mn-ea"/>
                <a:sym typeface="+mn-lt"/>
              </a:rPr>
              <a:t>不对</a:t>
            </a:r>
            <a:endParaRPr lang="zh-CN" altLang="en-US" sz="1600" dirty="0">
              <a:solidFill>
                <a:prstClr val="black">
                  <a:lumMod val="65000"/>
                  <a:lumOff val="35000"/>
                </a:prstClr>
              </a:solidFill>
              <a:cs typeface="+mn-ea"/>
              <a:sym typeface="+mn-lt"/>
            </a:endParaRPr>
          </a:p>
          <a:p>
            <a:pPr algn="l">
              <a:lnSpc>
                <a:spcPct val="130000"/>
              </a:lnSpc>
              <a:buClrTx/>
              <a:buSzTx/>
              <a:buFontTx/>
            </a:pPr>
            <a:endParaRPr lang="zh-CN" altLang="en-US" sz="1600" dirty="0">
              <a:solidFill>
                <a:prstClr val="black">
                  <a:lumMod val="65000"/>
                  <a:lumOff val="35000"/>
                </a:prstClr>
              </a:solidFill>
              <a:cs typeface="+mn-ea"/>
              <a:sym typeface="+mn-lt"/>
            </a:endParaRPr>
          </a:p>
          <a:p>
            <a:pPr algn="l">
              <a:lnSpc>
                <a:spcPct val="130000"/>
              </a:lnSpc>
              <a:buClrTx/>
              <a:buSzTx/>
              <a:buFontTx/>
            </a:pPr>
            <a:r>
              <a:rPr lang="zh-CN" altLang="en-US" sz="1600" dirty="0">
                <a:solidFill>
                  <a:prstClr val="black">
                    <a:lumMod val="65000"/>
                    <a:lumOff val="35000"/>
                  </a:prstClr>
                </a:solidFill>
                <a:cs typeface="+mn-ea"/>
                <a:sym typeface="+mn-lt"/>
              </a:rPr>
              <a:t>数据库中表与</a:t>
            </a:r>
            <a:r>
              <a:rPr lang="en-US" altLang="zh-CN" sz="1600" dirty="0">
                <a:solidFill>
                  <a:prstClr val="black">
                    <a:lumMod val="65000"/>
                    <a:lumOff val="35000"/>
                  </a:prstClr>
                </a:solidFill>
                <a:cs typeface="+mn-ea"/>
                <a:sym typeface="+mn-lt"/>
              </a:rPr>
              <a:t>ER</a:t>
            </a:r>
            <a:r>
              <a:rPr lang="zh-CN" altLang="en-US" sz="1600" dirty="0">
                <a:solidFill>
                  <a:prstClr val="black">
                    <a:lumMod val="65000"/>
                    <a:lumOff val="35000"/>
                  </a:prstClr>
                </a:solidFill>
                <a:cs typeface="+mn-ea"/>
                <a:sym typeface="+mn-lt"/>
              </a:rPr>
              <a:t>图不匹配，与系统主要功能不匹配，</a:t>
            </a:r>
            <a:r>
              <a:rPr lang="zh-CN" altLang="en-US" sz="1600" dirty="0">
                <a:solidFill>
                  <a:srgbClr val="FF0000"/>
                </a:solidFill>
                <a:cs typeface="+mn-ea"/>
                <a:sym typeface="+mn-lt"/>
              </a:rPr>
              <a:t>表里面逻辑混乱</a:t>
            </a:r>
            <a:endParaRPr lang="zh-CN" altLang="en-US" sz="1600" dirty="0">
              <a:solidFill>
                <a:srgbClr val="FF0000"/>
              </a:solidFill>
              <a:cs typeface="+mn-ea"/>
              <a:sym typeface="+mn-lt"/>
            </a:endParaRPr>
          </a:p>
          <a:p>
            <a:pPr algn="l">
              <a:lnSpc>
                <a:spcPct val="130000"/>
              </a:lnSpc>
              <a:buClrTx/>
              <a:buSzTx/>
              <a:buFontTx/>
            </a:pPr>
            <a:endParaRPr lang="zh-CN" altLang="en-US" sz="1600" dirty="0">
              <a:solidFill>
                <a:srgbClr val="FF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513" y="104316"/>
            <a:ext cx="3382010" cy="520700"/>
          </a:xfrm>
          <a:prstGeom prst="rect">
            <a:avLst/>
          </a:prstGeom>
          <a:noFill/>
          <a:ln>
            <a:solidFill>
              <a:srgbClr val="FFFFFF">
                <a:alpha val="45882"/>
              </a:srgbClr>
            </a:solidFill>
          </a:ln>
        </p:spPr>
        <p:txBody>
          <a:bodyPr wrap="none" lIns="91438" tIns="45719" rIns="91438" bIns="45719" rtlCol="0">
            <a:spAutoFit/>
          </a:bodyPr>
          <a:lstStyle/>
          <a:p>
            <a:pPr>
              <a:buClrTx/>
              <a:buSzTx/>
              <a:buFontTx/>
            </a:pPr>
            <a:r>
              <a:rPr lang="zh-CN" altLang="en-US" sz="2800" dirty="0">
                <a:solidFill>
                  <a:prstClr val="white"/>
                </a:solidFill>
                <a:cs typeface="+mn-ea"/>
                <a:sym typeface="+mn-lt"/>
              </a:rPr>
              <a:t>论文质量存在的问题</a:t>
            </a:r>
            <a:endParaRPr lang="zh-CN" altLang="en-US" sz="2800" dirty="0">
              <a:solidFill>
                <a:prstClr val="white"/>
              </a:solidFill>
              <a:cs typeface="+mn-ea"/>
              <a:sym typeface="+mn-lt"/>
            </a:endParaRPr>
          </a:p>
        </p:txBody>
      </p:sp>
      <p:graphicFrame>
        <p:nvGraphicFramePr>
          <p:cNvPr id="2" name="Object 25"/>
          <p:cNvGraphicFramePr>
            <a:graphicFrameLocks noChangeAspect="1"/>
          </p:cNvGraphicFramePr>
          <p:nvPr/>
        </p:nvGraphicFramePr>
        <p:xfrm>
          <a:off x="4787900" y="1059180"/>
          <a:ext cx="4043680" cy="3404870"/>
        </p:xfrm>
        <a:graphic>
          <a:graphicData uri="http://schemas.openxmlformats.org/presentationml/2006/ole">
            <mc:AlternateContent xmlns:mc="http://schemas.openxmlformats.org/markup-compatibility/2006">
              <mc:Choice xmlns:v="urn:schemas-microsoft-com:vml" Requires="v">
                <p:oleObj spid="_x0000_s3076" name="" r:id="rId1" imgW="5911215" imgH="4984115" progId="Visio.Drawing.11">
                  <p:embed/>
                </p:oleObj>
              </mc:Choice>
              <mc:Fallback>
                <p:oleObj name="" r:id="rId1" imgW="5911215" imgH="4984115" progId="Visio.Drawing.11">
                  <p:embed/>
                  <p:pic>
                    <p:nvPicPr>
                      <p:cNvPr id="0" name="图片 3075"/>
                      <p:cNvPicPr/>
                      <p:nvPr/>
                    </p:nvPicPr>
                    <p:blipFill>
                      <a:blip r:embed="rId2"/>
                      <a:stretch>
                        <a:fillRect/>
                      </a:stretch>
                    </p:blipFill>
                    <p:spPr>
                      <a:xfrm>
                        <a:off x="4787900" y="1059180"/>
                        <a:ext cx="4043680" cy="3404870"/>
                      </a:xfrm>
                      <a:prstGeom prst="rect">
                        <a:avLst/>
                      </a:prstGeom>
                      <a:noFill/>
                      <a:ln w="38100">
                        <a:noFill/>
                        <a:miter/>
                      </a:ln>
                    </p:spPr>
                  </p:pic>
                </p:oleObj>
              </mc:Fallback>
            </mc:AlternateContent>
          </a:graphicData>
        </a:graphic>
      </p:graphicFrame>
      <p:pic>
        <p:nvPicPr>
          <p:cNvPr id="3" name="图片 2"/>
          <p:cNvPicPr>
            <a:picLocks noChangeAspect="1"/>
          </p:cNvPicPr>
          <p:nvPr/>
        </p:nvPicPr>
        <p:blipFill>
          <a:blip r:embed="rId3"/>
          <a:stretch>
            <a:fillRect/>
          </a:stretch>
        </p:blipFill>
        <p:spPr>
          <a:xfrm>
            <a:off x="323850" y="2715260"/>
            <a:ext cx="4073525" cy="2113915"/>
          </a:xfrm>
          <a:prstGeom prst="rect">
            <a:avLst/>
          </a:prstGeom>
        </p:spPr>
      </p:pic>
    </p:spTree>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139700" y="771525"/>
            <a:ext cx="4948555"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30000"/>
              </a:lnSpc>
              <a:buClrTx/>
              <a:buSzTx/>
              <a:buFontTx/>
            </a:pPr>
            <a:r>
              <a:rPr lang="zh-CN" altLang="en-US" sz="1600" dirty="0">
                <a:solidFill>
                  <a:prstClr val="black">
                    <a:lumMod val="65000"/>
                    <a:lumOff val="35000"/>
                  </a:prstClr>
                </a:solidFill>
                <a:cs typeface="+mn-ea"/>
                <a:sym typeface="+mn-lt"/>
              </a:rPr>
              <a:t>数据库中表与</a:t>
            </a:r>
            <a:r>
              <a:rPr lang="en-US" altLang="zh-CN" sz="1600" dirty="0">
                <a:solidFill>
                  <a:prstClr val="black">
                    <a:lumMod val="65000"/>
                    <a:lumOff val="35000"/>
                  </a:prstClr>
                </a:solidFill>
                <a:cs typeface="+mn-ea"/>
                <a:sym typeface="+mn-lt"/>
              </a:rPr>
              <a:t>ER</a:t>
            </a:r>
            <a:r>
              <a:rPr lang="zh-CN" altLang="en-US" sz="1600" dirty="0">
                <a:solidFill>
                  <a:prstClr val="black">
                    <a:lumMod val="65000"/>
                    <a:lumOff val="35000"/>
                  </a:prstClr>
                </a:solidFill>
                <a:cs typeface="+mn-ea"/>
                <a:sym typeface="+mn-lt"/>
              </a:rPr>
              <a:t>图不匹配，与系统主要功能不匹配</a:t>
            </a:r>
            <a:endParaRPr lang="zh-CN" altLang="en-US" sz="1600" dirty="0">
              <a:solidFill>
                <a:sysClr val="windowText" lastClr="000000"/>
              </a:solidFill>
              <a:cs typeface="+mn-ea"/>
              <a:sym typeface="+mn-lt"/>
            </a:endParaRPr>
          </a:p>
          <a:p>
            <a:pPr algn="l">
              <a:lnSpc>
                <a:spcPct val="130000"/>
              </a:lnSpc>
              <a:buClrTx/>
              <a:buSzTx/>
              <a:buFontTx/>
            </a:pPr>
            <a:r>
              <a:rPr lang="zh-CN" altLang="en-US" sz="1600" dirty="0">
                <a:solidFill>
                  <a:srgbClr val="FF0000"/>
                </a:solidFill>
                <a:cs typeface="+mn-ea"/>
                <a:sym typeface="+mn-lt"/>
              </a:rPr>
              <a:t>表里面逻辑混乱</a:t>
            </a:r>
            <a:endParaRPr lang="zh-CN" altLang="en-US" sz="1600" dirty="0">
              <a:solidFill>
                <a:srgbClr val="FF0000"/>
              </a:solidFill>
              <a:cs typeface="+mn-ea"/>
              <a:sym typeface="+mn-lt"/>
            </a:endParaRPr>
          </a:p>
          <a:p>
            <a:pPr algn="l">
              <a:lnSpc>
                <a:spcPct val="130000"/>
              </a:lnSpc>
              <a:buClrTx/>
              <a:buSzTx/>
              <a:buFontTx/>
            </a:pPr>
            <a:r>
              <a:rPr lang="zh-CN" altLang="en-US" sz="1600" dirty="0">
                <a:solidFill>
                  <a:srgbClr val="FF0000"/>
                </a:solidFill>
                <a:cs typeface="+mn-ea"/>
                <a:sym typeface="+mn-lt"/>
              </a:rPr>
              <a:t>表的列类型选择</a:t>
            </a:r>
            <a:r>
              <a:rPr lang="zh-CN" altLang="en-US" sz="1600" dirty="0">
                <a:solidFill>
                  <a:srgbClr val="FF0000"/>
                </a:solidFill>
                <a:cs typeface="+mn-ea"/>
                <a:sym typeface="+mn-lt"/>
              </a:rPr>
              <a:t>错误</a:t>
            </a:r>
            <a:endParaRPr lang="zh-CN" altLang="en-US" sz="1600" dirty="0">
              <a:solidFill>
                <a:srgbClr val="FF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513" y="104316"/>
            <a:ext cx="3382010" cy="520700"/>
          </a:xfrm>
          <a:prstGeom prst="rect">
            <a:avLst/>
          </a:prstGeom>
          <a:noFill/>
          <a:ln>
            <a:solidFill>
              <a:srgbClr val="FFFFFF">
                <a:alpha val="45882"/>
              </a:srgbClr>
            </a:solidFill>
          </a:ln>
        </p:spPr>
        <p:txBody>
          <a:bodyPr wrap="none" lIns="91438" tIns="45719" rIns="91438" bIns="45719" rtlCol="0">
            <a:spAutoFit/>
          </a:bodyPr>
          <a:lstStyle/>
          <a:p>
            <a:pPr>
              <a:buClrTx/>
              <a:buSzTx/>
              <a:buFontTx/>
            </a:pPr>
            <a:r>
              <a:rPr lang="zh-CN" altLang="en-US" sz="2800" dirty="0">
                <a:solidFill>
                  <a:prstClr val="white"/>
                </a:solidFill>
                <a:cs typeface="+mn-ea"/>
                <a:sym typeface="+mn-lt"/>
              </a:rPr>
              <a:t>论文质量存在的问题</a:t>
            </a:r>
            <a:endParaRPr lang="zh-CN" altLang="en-US" sz="2800" dirty="0">
              <a:solidFill>
                <a:prstClr val="white"/>
              </a:solidFill>
              <a:cs typeface="+mn-ea"/>
              <a:sym typeface="+mn-lt"/>
            </a:endParaRPr>
          </a:p>
        </p:txBody>
      </p:sp>
      <p:pic>
        <p:nvPicPr>
          <p:cNvPr id="2" name="图片 105" descr="商城ER图"/>
          <p:cNvPicPr>
            <a:picLocks noChangeAspect="1"/>
          </p:cNvPicPr>
          <p:nvPr/>
        </p:nvPicPr>
        <p:blipFill>
          <a:blip r:embed="rId1"/>
          <a:stretch>
            <a:fillRect/>
          </a:stretch>
        </p:blipFill>
        <p:spPr>
          <a:xfrm>
            <a:off x="4716145" y="987425"/>
            <a:ext cx="4217670" cy="3017520"/>
          </a:xfrm>
          <a:prstGeom prst="rect">
            <a:avLst/>
          </a:prstGeom>
          <a:noFill/>
          <a:ln w="9525">
            <a:noFill/>
          </a:ln>
        </p:spPr>
      </p:pic>
      <p:pic>
        <p:nvPicPr>
          <p:cNvPr id="3" name="图片 2"/>
          <p:cNvPicPr>
            <a:picLocks noChangeAspect="1"/>
          </p:cNvPicPr>
          <p:nvPr/>
        </p:nvPicPr>
        <p:blipFill>
          <a:blip r:embed="rId2"/>
          <a:stretch>
            <a:fillRect/>
          </a:stretch>
        </p:blipFill>
        <p:spPr>
          <a:xfrm>
            <a:off x="394970" y="2355850"/>
            <a:ext cx="4101465" cy="2597785"/>
          </a:xfrm>
          <a:prstGeom prst="rect">
            <a:avLst/>
          </a:prstGeom>
        </p:spPr>
      </p:pic>
    </p:spTree>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318135" y="987425"/>
            <a:ext cx="3757295" cy="4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30000"/>
              </a:lnSpc>
              <a:buClrTx/>
              <a:buSzTx/>
              <a:buFontTx/>
            </a:pPr>
            <a:r>
              <a:rPr lang="zh-CN" altLang="en-US" sz="1600" dirty="0">
                <a:solidFill>
                  <a:srgbClr val="FF0000"/>
                </a:solidFill>
                <a:cs typeface="+mn-ea"/>
                <a:sym typeface="+mn-lt"/>
              </a:rPr>
              <a:t>同样的表多次</a:t>
            </a:r>
            <a:r>
              <a:rPr lang="zh-CN" altLang="en-US" sz="1600" dirty="0">
                <a:solidFill>
                  <a:srgbClr val="FF0000"/>
                </a:solidFill>
                <a:cs typeface="+mn-ea"/>
                <a:sym typeface="+mn-lt"/>
              </a:rPr>
              <a:t>出现</a:t>
            </a:r>
            <a:endParaRPr lang="zh-CN" altLang="en-US" sz="1600" dirty="0">
              <a:solidFill>
                <a:srgbClr val="FF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513" y="104316"/>
            <a:ext cx="3382010" cy="520700"/>
          </a:xfrm>
          <a:prstGeom prst="rect">
            <a:avLst/>
          </a:prstGeom>
          <a:noFill/>
          <a:ln>
            <a:solidFill>
              <a:srgbClr val="FFFFFF">
                <a:alpha val="45882"/>
              </a:srgbClr>
            </a:solidFill>
          </a:ln>
        </p:spPr>
        <p:txBody>
          <a:bodyPr wrap="none" lIns="91438" tIns="45719" rIns="91438" bIns="45719" rtlCol="0">
            <a:spAutoFit/>
          </a:bodyPr>
          <a:lstStyle/>
          <a:p>
            <a:pPr>
              <a:buClrTx/>
              <a:buSzTx/>
              <a:buFontTx/>
            </a:pPr>
            <a:r>
              <a:rPr lang="zh-CN" altLang="en-US" sz="2800" dirty="0">
                <a:solidFill>
                  <a:prstClr val="white"/>
                </a:solidFill>
                <a:cs typeface="+mn-ea"/>
                <a:sym typeface="+mn-lt"/>
              </a:rPr>
              <a:t>论文质量存在的问题</a:t>
            </a:r>
            <a:endParaRPr lang="zh-CN" altLang="en-US" sz="2800" dirty="0">
              <a:solidFill>
                <a:prstClr val="white"/>
              </a:solidFill>
              <a:cs typeface="+mn-ea"/>
              <a:sym typeface="+mn-lt"/>
            </a:endParaRPr>
          </a:p>
        </p:txBody>
      </p:sp>
      <p:pic>
        <p:nvPicPr>
          <p:cNvPr id="4" name="图片 3"/>
          <p:cNvPicPr>
            <a:picLocks noChangeAspect="1"/>
          </p:cNvPicPr>
          <p:nvPr/>
        </p:nvPicPr>
        <p:blipFill>
          <a:blip r:embed="rId1"/>
          <a:stretch>
            <a:fillRect/>
          </a:stretch>
        </p:blipFill>
        <p:spPr>
          <a:xfrm>
            <a:off x="4500245" y="1059180"/>
            <a:ext cx="4272915" cy="2785110"/>
          </a:xfrm>
          <a:prstGeom prst="rect">
            <a:avLst/>
          </a:prstGeom>
        </p:spPr>
      </p:pic>
      <p:pic>
        <p:nvPicPr>
          <p:cNvPr id="5" name="图片 4"/>
          <p:cNvPicPr>
            <a:picLocks noChangeAspect="1"/>
          </p:cNvPicPr>
          <p:nvPr/>
        </p:nvPicPr>
        <p:blipFill>
          <a:blip r:embed="rId2"/>
          <a:stretch>
            <a:fillRect/>
          </a:stretch>
        </p:blipFill>
        <p:spPr>
          <a:xfrm>
            <a:off x="441325" y="1851660"/>
            <a:ext cx="3634105" cy="2404110"/>
          </a:xfrm>
          <a:prstGeom prst="rect">
            <a:avLst/>
          </a:prstGeom>
        </p:spPr>
      </p:pic>
    </p:spTree>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318135" y="771525"/>
            <a:ext cx="4618990" cy="4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30000"/>
              </a:lnSpc>
              <a:buClrTx/>
              <a:buSzTx/>
              <a:buFontTx/>
            </a:pPr>
            <a:r>
              <a:rPr lang="zh-CN" altLang="en-US" sz="1600" dirty="0">
                <a:solidFill>
                  <a:srgbClr val="FF0000"/>
                </a:solidFill>
                <a:cs typeface="+mn-ea"/>
                <a:sym typeface="+mn-lt"/>
              </a:rPr>
              <a:t>基于SSM的教务云管理服务平台设计与实现</a:t>
            </a:r>
            <a:endParaRPr lang="zh-CN" altLang="en-US" sz="1600" dirty="0">
              <a:solidFill>
                <a:srgbClr val="FF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513" y="104316"/>
            <a:ext cx="3382010" cy="520700"/>
          </a:xfrm>
          <a:prstGeom prst="rect">
            <a:avLst/>
          </a:prstGeom>
          <a:noFill/>
          <a:ln>
            <a:solidFill>
              <a:srgbClr val="FFFFFF">
                <a:alpha val="45882"/>
              </a:srgbClr>
            </a:solidFill>
          </a:ln>
        </p:spPr>
        <p:txBody>
          <a:bodyPr wrap="none" lIns="91438" tIns="45719" rIns="91438" bIns="45719" rtlCol="0">
            <a:spAutoFit/>
          </a:bodyPr>
          <a:lstStyle/>
          <a:p>
            <a:pPr>
              <a:buClrTx/>
              <a:buSzTx/>
              <a:buFontTx/>
            </a:pPr>
            <a:r>
              <a:rPr lang="zh-CN" altLang="en-US" sz="2800" dirty="0">
                <a:solidFill>
                  <a:prstClr val="white"/>
                </a:solidFill>
                <a:cs typeface="+mn-ea"/>
                <a:sym typeface="+mn-lt"/>
              </a:rPr>
              <a:t>论文质量存在的问题</a:t>
            </a:r>
            <a:endParaRPr lang="zh-CN" altLang="en-US" sz="2800" dirty="0">
              <a:solidFill>
                <a:prstClr val="white"/>
              </a:solidFill>
              <a:cs typeface="+mn-ea"/>
              <a:sym typeface="+mn-lt"/>
            </a:endParaRPr>
          </a:p>
        </p:txBody>
      </p:sp>
      <p:pic>
        <p:nvPicPr>
          <p:cNvPr id="2" name="图片 -2147482623"/>
          <p:cNvPicPr>
            <a:picLocks noChangeAspect="1"/>
          </p:cNvPicPr>
          <p:nvPr/>
        </p:nvPicPr>
        <p:blipFill>
          <a:blip r:embed="rId1"/>
          <a:stretch>
            <a:fillRect/>
          </a:stretch>
        </p:blipFill>
        <p:spPr>
          <a:xfrm>
            <a:off x="4860290" y="1635125"/>
            <a:ext cx="4034155" cy="2724150"/>
          </a:xfrm>
          <a:prstGeom prst="rect">
            <a:avLst/>
          </a:prstGeom>
          <a:noFill/>
          <a:ln w="9525">
            <a:noFill/>
          </a:ln>
        </p:spPr>
      </p:pic>
      <p:pic>
        <p:nvPicPr>
          <p:cNvPr id="3" name="图片 2"/>
          <p:cNvPicPr>
            <a:picLocks noChangeAspect="1"/>
          </p:cNvPicPr>
          <p:nvPr/>
        </p:nvPicPr>
        <p:blipFill>
          <a:blip r:embed="rId2"/>
          <a:stretch>
            <a:fillRect/>
          </a:stretch>
        </p:blipFill>
        <p:spPr>
          <a:xfrm>
            <a:off x="395605" y="1131570"/>
            <a:ext cx="3785235" cy="3709670"/>
          </a:xfrm>
          <a:prstGeom prst="rect">
            <a:avLst/>
          </a:prstGeom>
        </p:spPr>
      </p:pic>
    </p:spTree>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318135" y="771525"/>
            <a:ext cx="4618990" cy="4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30000"/>
              </a:lnSpc>
              <a:buClrTx/>
              <a:buSzTx/>
              <a:buFontTx/>
            </a:pPr>
            <a:r>
              <a:rPr lang="zh-CN" altLang="en-US" sz="1600" dirty="0">
                <a:solidFill>
                  <a:srgbClr val="FF0000"/>
                </a:solidFill>
                <a:cs typeface="+mn-ea"/>
                <a:sym typeface="+mn-lt"/>
              </a:rPr>
              <a:t>基于SSM的教务云管理服务平台设计与实现</a:t>
            </a:r>
            <a:endParaRPr lang="zh-CN" altLang="en-US" sz="1600" dirty="0">
              <a:solidFill>
                <a:srgbClr val="FF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513" y="104316"/>
            <a:ext cx="3382010" cy="520700"/>
          </a:xfrm>
          <a:prstGeom prst="rect">
            <a:avLst/>
          </a:prstGeom>
          <a:noFill/>
          <a:ln>
            <a:solidFill>
              <a:srgbClr val="FFFFFF">
                <a:alpha val="45882"/>
              </a:srgbClr>
            </a:solidFill>
          </a:ln>
        </p:spPr>
        <p:txBody>
          <a:bodyPr wrap="none" lIns="91438" tIns="45719" rIns="91438" bIns="45719" rtlCol="0">
            <a:spAutoFit/>
          </a:bodyPr>
          <a:lstStyle/>
          <a:p>
            <a:pPr>
              <a:buClrTx/>
              <a:buSzTx/>
              <a:buFontTx/>
            </a:pPr>
            <a:r>
              <a:rPr lang="zh-CN" altLang="en-US" sz="2800" dirty="0">
                <a:solidFill>
                  <a:prstClr val="white"/>
                </a:solidFill>
                <a:cs typeface="+mn-ea"/>
                <a:sym typeface="+mn-lt"/>
              </a:rPr>
              <a:t>论文质量存在的问题</a:t>
            </a:r>
            <a:endParaRPr lang="zh-CN" altLang="en-US" sz="2800" dirty="0">
              <a:solidFill>
                <a:prstClr val="white"/>
              </a:solidFill>
              <a:cs typeface="+mn-ea"/>
              <a:sym typeface="+mn-lt"/>
            </a:endParaRPr>
          </a:p>
        </p:txBody>
      </p:sp>
      <p:pic>
        <p:nvPicPr>
          <p:cNvPr id="2" name="图片 -2147482623"/>
          <p:cNvPicPr>
            <a:picLocks noChangeAspect="1"/>
          </p:cNvPicPr>
          <p:nvPr/>
        </p:nvPicPr>
        <p:blipFill>
          <a:blip r:embed="rId1"/>
          <a:stretch>
            <a:fillRect/>
          </a:stretch>
        </p:blipFill>
        <p:spPr>
          <a:xfrm>
            <a:off x="4860290" y="1635125"/>
            <a:ext cx="4034155" cy="2724150"/>
          </a:xfrm>
          <a:prstGeom prst="rect">
            <a:avLst/>
          </a:prstGeom>
          <a:noFill/>
          <a:ln w="9525">
            <a:noFill/>
          </a:ln>
        </p:spPr>
      </p:pic>
      <p:pic>
        <p:nvPicPr>
          <p:cNvPr id="4" name="图片 3"/>
          <p:cNvPicPr>
            <a:picLocks noChangeAspect="1"/>
          </p:cNvPicPr>
          <p:nvPr/>
        </p:nvPicPr>
        <p:blipFill>
          <a:blip r:embed="rId2"/>
          <a:stretch>
            <a:fillRect/>
          </a:stretch>
        </p:blipFill>
        <p:spPr>
          <a:xfrm>
            <a:off x="395605" y="1182370"/>
            <a:ext cx="2165985" cy="4253230"/>
          </a:xfrm>
          <a:prstGeom prst="rect">
            <a:avLst/>
          </a:prstGeom>
        </p:spPr>
      </p:pic>
    </p:spTree>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318135" y="771525"/>
            <a:ext cx="5478145" cy="730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30000"/>
              </a:lnSpc>
              <a:buClrTx/>
              <a:buSzTx/>
              <a:buFontTx/>
            </a:pPr>
            <a:r>
              <a:rPr lang="zh-CN" altLang="en-US" sz="1600" dirty="0">
                <a:solidFill>
                  <a:srgbClr val="FF0000"/>
                </a:solidFill>
                <a:cs typeface="+mn-ea"/>
                <a:sym typeface="+mn-lt"/>
              </a:rPr>
              <a:t>基于SpringBoot的仓库信息管理系统</a:t>
            </a:r>
            <a:endParaRPr lang="zh-CN" altLang="en-US" sz="1600" dirty="0">
              <a:solidFill>
                <a:srgbClr val="FF0000"/>
              </a:solidFill>
              <a:cs typeface="+mn-ea"/>
              <a:sym typeface="+mn-lt"/>
            </a:endParaRPr>
          </a:p>
          <a:p>
            <a:pPr algn="l">
              <a:lnSpc>
                <a:spcPct val="130000"/>
              </a:lnSpc>
              <a:buClrTx/>
              <a:buSzTx/>
              <a:buFontTx/>
            </a:pPr>
            <a:r>
              <a:rPr lang="zh-CN" altLang="en-US" sz="1600" dirty="0">
                <a:solidFill>
                  <a:srgbClr val="FF0000"/>
                </a:solidFill>
                <a:cs typeface="+mn-ea"/>
                <a:sym typeface="+mn-lt"/>
              </a:rPr>
              <a:t>的设计与实现</a:t>
            </a:r>
            <a:endParaRPr lang="zh-CN" altLang="en-US" sz="1600" dirty="0">
              <a:solidFill>
                <a:srgbClr val="FF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513" y="104316"/>
            <a:ext cx="3382010" cy="520700"/>
          </a:xfrm>
          <a:prstGeom prst="rect">
            <a:avLst/>
          </a:prstGeom>
          <a:noFill/>
          <a:ln>
            <a:solidFill>
              <a:srgbClr val="FFFFFF">
                <a:alpha val="45882"/>
              </a:srgbClr>
            </a:solidFill>
          </a:ln>
        </p:spPr>
        <p:txBody>
          <a:bodyPr wrap="none" lIns="91438" tIns="45719" rIns="91438" bIns="45719" rtlCol="0">
            <a:spAutoFit/>
          </a:bodyPr>
          <a:lstStyle/>
          <a:p>
            <a:pPr>
              <a:buClrTx/>
              <a:buSzTx/>
              <a:buFontTx/>
            </a:pPr>
            <a:r>
              <a:rPr lang="zh-CN" altLang="en-US" sz="2800" dirty="0">
                <a:solidFill>
                  <a:prstClr val="white"/>
                </a:solidFill>
                <a:cs typeface="+mn-ea"/>
                <a:sym typeface="+mn-lt"/>
              </a:rPr>
              <a:t>论文质量存在的问题</a:t>
            </a:r>
            <a:endParaRPr lang="zh-CN" altLang="en-US" sz="2800" dirty="0">
              <a:solidFill>
                <a:prstClr val="white"/>
              </a:solidFill>
              <a:cs typeface="+mn-ea"/>
              <a:sym typeface="+mn-lt"/>
            </a:endParaRPr>
          </a:p>
        </p:txBody>
      </p:sp>
      <p:pic>
        <p:nvPicPr>
          <p:cNvPr id="779581405"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851910" y="699135"/>
            <a:ext cx="5278755" cy="4122420"/>
          </a:xfrm>
          <a:prstGeom prst="rect">
            <a:avLst/>
          </a:prstGeom>
        </p:spPr>
      </p:pic>
      <p:pic>
        <p:nvPicPr>
          <p:cNvPr id="3" name="图片 2"/>
          <p:cNvPicPr>
            <a:picLocks noChangeAspect="1"/>
          </p:cNvPicPr>
          <p:nvPr/>
        </p:nvPicPr>
        <p:blipFill>
          <a:blip r:embed="rId2"/>
          <a:stretch>
            <a:fillRect/>
          </a:stretch>
        </p:blipFill>
        <p:spPr>
          <a:xfrm>
            <a:off x="229235" y="1554480"/>
            <a:ext cx="3467100" cy="2033905"/>
          </a:xfrm>
          <a:prstGeom prst="rect">
            <a:avLst/>
          </a:prstGeom>
        </p:spPr>
      </p:pic>
      <p:sp>
        <p:nvSpPr>
          <p:cNvPr id="5" name="矩形 4"/>
          <p:cNvSpPr>
            <a:spLocks noChangeArrowheads="1"/>
          </p:cNvSpPr>
          <p:nvPr/>
        </p:nvSpPr>
        <p:spPr bwMode="auto">
          <a:xfrm>
            <a:off x="229235" y="3795395"/>
            <a:ext cx="5478145" cy="4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gn="l">
              <a:lnSpc>
                <a:spcPct val="130000"/>
              </a:lnSpc>
              <a:buClrTx/>
              <a:buSzTx/>
              <a:buFontTx/>
            </a:pPr>
            <a:r>
              <a:rPr lang="zh-CN" altLang="en-US" sz="1600" dirty="0">
                <a:solidFill>
                  <a:srgbClr val="FF0000"/>
                </a:solidFill>
                <a:cs typeface="+mn-ea"/>
                <a:sym typeface="+mn-lt"/>
              </a:rPr>
              <a:t>出库、入库功能都没有。</a:t>
            </a:r>
            <a:endParaRPr lang="en-US" altLang="zh-CN" sz="1600" dirty="0">
              <a:solidFill>
                <a:srgbClr val="FF0000"/>
              </a:solidFill>
              <a:cs typeface="+mn-ea"/>
              <a:sym typeface="+mn-lt"/>
            </a:endParaRPr>
          </a:p>
        </p:txBody>
      </p:sp>
    </p:spTree>
  </p:cSld>
  <p:clrMapOvr>
    <a:masterClrMapping/>
  </p:clrMapOvr>
  <p:transition spd="slow">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318135" y="771525"/>
            <a:ext cx="5478145" cy="4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30000"/>
              </a:lnSpc>
              <a:buClrTx/>
              <a:buSzTx/>
              <a:buFontTx/>
            </a:pPr>
            <a:r>
              <a:rPr lang="zh-CN" altLang="en-US" sz="1600" dirty="0">
                <a:solidFill>
                  <a:srgbClr val="FF0000"/>
                </a:solidFill>
                <a:cs typeface="+mn-ea"/>
                <a:sym typeface="+mn-lt"/>
              </a:rPr>
              <a:t>基于SSM的旅游管理信息系统的设计与实现</a:t>
            </a:r>
            <a:endParaRPr lang="zh-CN" altLang="en-US" sz="1600" dirty="0">
              <a:solidFill>
                <a:srgbClr val="FF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513" y="104316"/>
            <a:ext cx="3382010" cy="520700"/>
          </a:xfrm>
          <a:prstGeom prst="rect">
            <a:avLst/>
          </a:prstGeom>
          <a:noFill/>
          <a:ln>
            <a:solidFill>
              <a:srgbClr val="FFFFFF">
                <a:alpha val="45882"/>
              </a:srgbClr>
            </a:solidFill>
          </a:ln>
        </p:spPr>
        <p:txBody>
          <a:bodyPr wrap="none" lIns="91438" tIns="45719" rIns="91438" bIns="45719" rtlCol="0">
            <a:spAutoFit/>
          </a:bodyPr>
          <a:lstStyle/>
          <a:p>
            <a:pPr>
              <a:buClrTx/>
              <a:buSzTx/>
              <a:buFontTx/>
            </a:pPr>
            <a:r>
              <a:rPr lang="zh-CN" altLang="en-US" sz="2800" dirty="0">
                <a:solidFill>
                  <a:prstClr val="white"/>
                </a:solidFill>
                <a:cs typeface="+mn-ea"/>
                <a:sym typeface="+mn-lt"/>
              </a:rPr>
              <a:t>论文质量存在的问题</a:t>
            </a:r>
            <a:endParaRPr lang="zh-CN" altLang="en-US" sz="2800" dirty="0">
              <a:solidFill>
                <a:prstClr val="white"/>
              </a:solidFill>
              <a:cs typeface="+mn-ea"/>
              <a:sym typeface="+mn-lt"/>
            </a:endParaRPr>
          </a:p>
        </p:txBody>
      </p:sp>
      <p:sp>
        <p:nvSpPr>
          <p:cNvPr id="5" name="矩形 4"/>
          <p:cNvSpPr>
            <a:spLocks noChangeArrowheads="1"/>
          </p:cNvSpPr>
          <p:nvPr/>
        </p:nvSpPr>
        <p:spPr bwMode="auto">
          <a:xfrm>
            <a:off x="2267585" y="2427605"/>
            <a:ext cx="1648460" cy="730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gn="l">
              <a:lnSpc>
                <a:spcPct val="130000"/>
              </a:lnSpc>
              <a:buClrTx/>
              <a:buSzTx/>
              <a:buFontTx/>
            </a:pPr>
            <a:r>
              <a:rPr lang="zh-CN" altLang="en-US" sz="1600" dirty="0">
                <a:solidFill>
                  <a:srgbClr val="FF0000"/>
                </a:solidFill>
                <a:cs typeface="+mn-ea"/>
                <a:sym typeface="+mn-lt"/>
              </a:rPr>
              <a:t>里面主要写了</a:t>
            </a:r>
            <a:r>
              <a:rPr lang="zh-CN" altLang="en-US" sz="1600" dirty="0">
                <a:solidFill>
                  <a:srgbClr val="FF0000"/>
                </a:solidFill>
                <a:cs typeface="+mn-ea"/>
                <a:sym typeface="+mn-lt"/>
              </a:rPr>
              <a:t>订餐</a:t>
            </a:r>
            <a:endParaRPr lang="en-US" altLang="zh-CN" sz="1600" dirty="0">
              <a:solidFill>
                <a:srgbClr val="FF0000"/>
              </a:solidFill>
              <a:cs typeface="+mn-ea"/>
              <a:sym typeface="+mn-lt"/>
            </a:endParaRPr>
          </a:p>
        </p:txBody>
      </p:sp>
      <p:pic>
        <p:nvPicPr>
          <p:cNvPr id="2" name="图片 -2147482544"/>
          <p:cNvPicPr>
            <a:picLocks noChangeAspect="1"/>
          </p:cNvPicPr>
          <p:nvPr/>
        </p:nvPicPr>
        <p:blipFill>
          <a:blip r:embed="rId1"/>
          <a:stretch>
            <a:fillRect/>
          </a:stretch>
        </p:blipFill>
        <p:spPr>
          <a:xfrm>
            <a:off x="4079240" y="1061720"/>
            <a:ext cx="4943475" cy="3237230"/>
          </a:xfrm>
          <a:prstGeom prst="rect">
            <a:avLst/>
          </a:prstGeom>
          <a:noFill/>
          <a:ln w="9525">
            <a:noFill/>
          </a:ln>
        </p:spPr>
      </p:pic>
      <p:pic>
        <p:nvPicPr>
          <p:cNvPr id="3" name="图片 2"/>
          <p:cNvPicPr>
            <a:picLocks noChangeAspect="1"/>
          </p:cNvPicPr>
          <p:nvPr/>
        </p:nvPicPr>
        <p:blipFill>
          <a:blip r:embed="rId2"/>
          <a:stretch>
            <a:fillRect/>
          </a:stretch>
        </p:blipFill>
        <p:spPr>
          <a:xfrm>
            <a:off x="-107950" y="1131570"/>
            <a:ext cx="2340610" cy="4072255"/>
          </a:xfrm>
          <a:prstGeom prst="rect">
            <a:avLst/>
          </a:prstGeom>
        </p:spPr>
      </p:pic>
    </p:spTree>
  </p:cSld>
  <p:clrMapOvr>
    <a:masterClrMapping/>
  </p:clrMapOvr>
  <p:transition spd="slow">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318135" y="771525"/>
            <a:ext cx="5478145" cy="4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30000"/>
              </a:lnSpc>
              <a:buClrTx/>
              <a:buSzTx/>
              <a:buFontTx/>
            </a:pPr>
            <a:r>
              <a:rPr lang="zh-CN" altLang="en-US" sz="1600" dirty="0">
                <a:solidFill>
                  <a:srgbClr val="FF0000"/>
                </a:solidFill>
                <a:cs typeface="+mn-ea"/>
                <a:sym typeface="+mn-lt"/>
              </a:rPr>
              <a:t>基于SSM的旅游管理信息系统的设计与实现</a:t>
            </a:r>
            <a:endParaRPr lang="zh-CN" altLang="en-US" sz="1600" dirty="0">
              <a:solidFill>
                <a:srgbClr val="FF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513" y="104316"/>
            <a:ext cx="3382010" cy="520700"/>
          </a:xfrm>
          <a:prstGeom prst="rect">
            <a:avLst/>
          </a:prstGeom>
          <a:noFill/>
          <a:ln>
            <a:solidFill>
              <a:srgbClr val="FFFFFF">
                <a:alpha val="45882"/>
              </a:srgbClr>
            </a:solidFill>
          </a:ln>
        </p:spPr>
        <p:txBody>
          <a:bodyPr wrap="none" lIns="91438" tIns="45719" rIns="91438" bIns="45719" rtlCol="0">
            <a:spAutoFit/>
          </a:bodyPr>
          <a:lstStyle/>
          <a:p>
            <a:pPr>
              <a:buClrTx/>
              <a:buSzTx/>
              <a:buFontTx/>
            </a:pPr>
            <a:r>
              <a:rPr lang="zh-CN" altLang="en-US" sz="2800" dirty="0">
                <a:solidFill>
                  <a:prstClr val="white"/>
                </a:solidFill>
                <a:cs typeface="+mn-ea"/>
                <a:sym typeface="+mn-lt"/>
              </a:rPr>
              <a:t>论文质量存在的问题</a:t>
            </a:r>
            <a:endParaRPr lang="zh-CN" altLang="en-US" sz="2800" dirty="0">
              <a:solidFill>
                <a:prstClr val="white"/>
              </a:solidFill>
              <a:cs typeface="+mn-ea"/>
              <a:sym typeface="+mn-lt"/>
            </a:endParaRPr>
          </a:p>
        </p:txBody>
      </p:sp>
      <p:sp>
        <p:nvSpPr>
          <p:cNvPr id="5" name="矩形 4"/>
          <p:cNvSpPr>
            <a:spLocks noChangeArrowheads="1"/>
          </p:cNvSpPr>
          <p:nvPr/>
        </p:nvSpPr>
        <p:spPr bwMode="auto">
          <a:xfrm>
            <a:off x="2267585" y="2427605"/>
            <a:ext cx="1648460" cy="730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algn="l">
              <a:lnSpc>
                <a:spcPct val="130000"/>
              </a:lnSpc>
              <a:buClrTx/>
              <a:buSzTx/>
              <a:buFontTx/>
            </a:pPr>
            <a:r>
              <a:rPr lang="zh-CN" altLang="en-US" sz="1600" dirty="0">
                <a:solidFill>
                  <a:srgbClr val="FF0000"/>
                </a:solidFill>
                <a:cs typeface="+mn-ea"/>
                <a:sym typeface="+mn-lt"/>
              </a:rPr>
              <a:t>里面主要写了</a:t>
            </a:r>
            <a:r>
              <a:rPr lang="zh-CN" altLang="en-US" sz="1600" dirty="0">
                <a:solidFill>
                  <a:srgbClr val="FF0000"/>
                </a:solidFill>
                <a:cs typeface="+mn-ea"/>
                <a:sym typeface="+mn-lt"/>
              </a:rPr>
              <a:t>订餐</a:t>
            </a:r>
            <a:endParaRPr lang="en-US" altLang="zh-CN" sz="1600" dirty="0">
              <a:solidFill>
                <a:srgbClr val="FF0000"/>
              </a:solidFill>
              <a:cs typeface="+mn-ea"/>
              <a:sym typeface="+mn-lt"/>
            </a:endParaRPr>
          </a:p>
        </p:txBody>
      </p:sp>
      <p:pic>
        <p:nvPicPr>
          <p:cNvPr id="2" name="图片 -2147482544"/>
          <p:cNvPicPr>
            <a:picLocks noChangeAspect="1"/>
          </p:cNvPicPr>
          <p:nvPr/>
        </p:nvPicPr>
        <p:blipFill>
          <a:blip r:embed="rId1"/>
          <a:stretch>
            <a:fillRect/>
          </a:stretch>
        </p:blipFill>
        <p:spPr>
          <a:xfrm>
            <a:off x="4079240" y="1061720"/>
            <a:ext cx="4943475" cy="3237230"/>
          </a:xfrm>
          <a:prstGeom prst="rect">
            <a:avLst/>
          </a:prstGeom>
          <a:noFill/>
          <a:ln w="9525">
            <a:noFill/>
          </a:ln>
        </p:spPr>
      </p:pic>
      <p:pic>
        <p:nvPicPr>
          <p:cNvPr id="3" name="图片 2"/>
          <p:cNvPicPr>
            <a:picLocks noChangeAspect="1"/>
          </p:cNvPicPr>
          <p:nvPr/>
        </p:nvPicPr>
        <p:blipFill>
          <a:blip r:embed="rId2"/>
          <a:stretch>
            <a:fillRect/>
          </a:stretch>
        </p:blipFill>
        <p:spPr>
          <a:xfrm>
            <a:off x="-107950" y="1131570"/>
            <a:ext cx="2340610" cy="4072255"/>
          </a:xfrm>
          <a:prstGeom prst="rect">
            <a:avLst/>
          </a:prstGeom>
        </p:spPr>
      </p:pic>
    </p:spTree>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318135" y="771525"/>
            <a:ext cx="5478145" cy="4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30000"/>
              </a:lnSpc>
              <a:buClrTx/>
              <a:buSzTx/>
              <a:buFontTx/>
            </a:pPr>
            <a:r>
              <a:rPr lang="zh-CN" altLang="en-US" sz="1600" dirty="0">
                <a:solidFill>
                  <a:srgbClr val="FF0000"/>
                </a:solidFill>
                <a:cs typeface="+mn-ea"/>
                <a:sym typeface="+mn-lt"/>
              </a:rPr>
              <a:t>基于Spring Boot的股票预测系统的设计与实现</a:t>
            </a:r>
            <a:endParaRPr lang="zh-CN" altLang="en-US" sz="1600" dirty="0">
              <a:solidFill>
                <a:srgbClr val="FF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513" y="104316"/>
            <a:ext cx="3382010" cy="520700"/>
          </a:xfrm>
          <a:prstGeom prst="rect">
            <a:avLst/>
          </a:prstGeom>
          <a:noFill/>
          <a:ln>
            <a:solidFill>
              <a:srgbClr val="FFFFFF">
                <a:alpha val="45882"/>
              </a:srgbClr>
            </a:solidFill>
          </a:ln>
        </p:spPr>
        <p:txBody>
          <a:bodyPr wrap="none" lIns="91438" tIns="45719" rIns="91438" bIns="45719" rtlCol="0">
            <a:spAutoFit/>
          </a:bodyPr>
          <a:lstStyle/>
          <a:p>
            <a:pPr>
              <a:buClrTx/>
              <a:buSzTx/>
              <a:buFontTx/>
            </a:pPr>
            <a:r>
              <a:rPr lang="zh-CN" altLang="en-US" sz="2800" dirty="0">
                <a:solidFill>
                  <a:prstClr val="white"/>
                </a:solidFill>
                <a:cs typeface="+mn-ea"/>
                <a:sym typeface="+mn-lt"/>
              </a:rPr>
              <a:t>论文质量存在的问题</a:t>
            </a:r>
            <a:endParaRPr lang="zh-CN" altLang="en-US" sz="2800" dirty="0">
              <a:solidFill>
                <a:prstClr val="white"/>
              </a:solidFill>
              <a:cs typeface="+mn-ea"/>
              <a:sym typeface="+mn-lt"/>
            </a:endParaRPr>
          </a:p>
        </p:txBody>
      </p:sp>
      <p:pic>
        <p:nvPicPr>
          <p:cNvPr id="4" name="图片 3"/>
          <p:cNvPicPr>
            <a:picLocks noChangeAspect="1"/>
          </p:cNvPicPr>
          <p:nvPr/>
        </p:nvPicPr>
        <p:blipFill>
          <a:blip r:embed="rId1"/>
          <a:stretch>
            <a:fillRect/>
          </a:stretch>
        </p:blipFill>
        <p:spPr>
          <a:xfrm>
            <a:off x="395605" y="1275080"/>
            <a:ext cx="4061460" cy="3120390"/>
          </a:xfrm>
          <a:prstGeom prst="rect">
            <a:avLst/>
          </a:prstGeom>
        </p:spPr>
      </p:pic>
      <p:pic>
        <p:nvPicPr>
          <p:cNvPr id="6" name="图片 5"/>
          <p:cNvPicPr>
            <a:picLocks noChangeAspect="1"/>
          </p:cNvPicPr>
          <p:nvPr/>
        </p:nvPicPr>
        <p:blipFill>
          <a:blip r:embed="rId2"/>
          <a:stretch>
            <a:fillRect/>
          </a:stretch>
        </p:blipFill>
        <p:spPr>
          <a:xfrm>
            <a:off x="4499610" y="1347470"/>
            <a:ext cx="4635500" cy="3451860"/>
          </a:xfrm>
          <a:prstGeom prst="rect">
            <a:avLst/>
          </a:prstGeom>
        </p:spPr>
      </p:pic>
    </p:spTree>
  </p:cSld>
  <p:clrMapOvr>
    <a:masterClrMapping/>
  </p:clrMapOvr>
  <p:transition spd="slow">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318135" y="771525"/>
            <a:ext cx="5478145" cy="4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30000"/>
              </a:lnSpc>
              <a:buClrTx/>
              <a:buSzTx/>
              <a:buFontTx/>
            </a:pPr>
            <a:r>
              <a:rPr lang="zh-CN" altLang="en-US" sz="1600" dirty="0">
                <a:solidFill>
                  <a:srgbClr val="FF0000"/>
                </a:solidFill>
                <a:cs typeface="+mn-ea"/>
                <a:sym typeface="+mn-lt"/>
              </a:rPr>
              <a:t>程序代码都是</a:t>
            </a:r>
            <a:r>
              <a:rPr lang="zh-CN" altLang="en-US" sz="1600" dirty="0">
                <a:solidFill>
                  <a:srgbClr val="FF0000"/>
                </a:solidFill>
                <a:cs typeface="+mn-ea"/>
                <a:sym typeface="+mn-lt"/>
              </a:rPr>
              <a:t>以前日期</a:t>
            </a:r>
            <a:endParaRPr lang="zh-CN" altLang="en-US" sz="1600" dirty="0">
              <a:solidFill>
                <a:srgbClr val="FF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513" y="104316"/>
            <a:ext cx="3382010" cy="520700"/>
          </a:xfrm>
          <a:prstGeom prst="rect">
            <a:avLst/>
          </a:prstGeom>
          <a:noFill/>
          <a:ln>
            <a:solidFill>
              <a:srgbClr val="FFFFFF">
                <a:alpha val="45882"/>
              </a:srgbClr>
            </a:solidFill>
          </a:ln>
        </p:spPr>
        <p:txBody>
          <a:bodyPr wrap="none" lIns="91438" tIns="45719" rIns="91438" bIns="45719" rtlCol="0">
            <a:spAutoFit/>
          </a:bodyPr>
          <a:lstStyle/>
          <a:p>
            <a:pPr>
              <a:buClrTx/>
              <a:buSzTx/>
              <a:buFontTx/>
            </a:pPr>
            <a:r>
              <a:rPr lang="zh-CN" altLang="en-US" sz="2800" dirty="0">
                <a:solidFill>
                  <a:prstClr val="white"/>
                </a:solidFill>
                <a:cs typeface="+mn-ea"/>
                <a:sym typeface="+mn-lt"/>
              </a:rPr>
              <a:t>论文质量存在的问题</a:t>
            </a:r>
            <a:endParaRPr lang="zh-CN" altLang="en-US" sz="2800" dirty="0">
              <a:solidFill>
                <a:prstClr val="white"/>
              </a:solidFill>
              <a:cs typeface="+mn-ea"/>
              <a:sym typeface="+mn-lt"/>
            </a:endParaRPr>
          </a:p>
        </p:txBody>
      </p:sp>
      <p:pic>
        <p:nvPicPr>
          <p:cNvPr id="2" name="图片 1"/>
          <p:cNvPicPr>
            <a:picLocks noChangeAspect="1"/>
          </p:cNvPicPr>
          <p:nvPr/>
        </p:nvPicPr>
        <p:blipFill>
          <a:blip r:embed="rId1"/>
          <a:stretch>
            <a:fillRect/>
          </a:stretch>
        </p:blipFill>
        <p:spPr>
          <a:xfrm>
            <a:off x="467360" y="1419225"/>
            <a:ext cx="4824730" cy="971550"/>
          </a:xfrm>
          <a:prstGeom prst="rect">
            <a:avLst/>
          </a:prstGeom>
        </p:spPr>
      </p:pic>
      <p:pic>
        <p:nvPicPr>
          <p:cNvPr id="3" name="图片 2"/>
          <p:cNvPicPr>
            <a:picLocks noChangeAspect="1"/>
          </p:cNvPicPr>
          <p:nvPr/>
        </p:nvPicPr>
        <p:blipFill>
          <a:blip r:embed="rId2"/>
          <a:stretch>
            <a:fillRect/>
          </a:stretch>
        </p:blipFill>
        <p:spPr>
          <a:xfrm>
            <a:off x="467360" y="2499360"/>
            <a:ext cx="5124450" cy="195580"/>
          </a:xfrm>
          <a:prstGeom prst="rect">
            <a:avLst/>
          </a:prstGeom>
        </p:spPr>
      </p:pic>
    </p:spTree>
  </p:cSld>
  <p:clrMapOvr>
    <a:masterClrMapping/>
  </p:clrMapOvr>
  <p:transition spd="slow">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bwMode="auto">
      <p:bgPr>
        <a:solidFill>
          <a:srgbClr val="0070C0"/>
        </a:solidFill>
        <a:effectLst/>
      </p:bgPr>
    </p:bg>
    <p:spTree>
      <p:nvGrpSpPr>
        <p:cNvPr id="1" name=""/>
        <p:cNvGrpSpPr/>
        <p:nvPr/>
      </p:nvGrpSpPr>
      <p:grpSpPr>
        <a:xfrm>
          <a:off x="0" y="0"/>
          <a:ext cx="0" cy="0"/>
          <a:chOff x="0" y="0"/>
          <a:chExt cx="0" cy="0"/>
        </a:xfrm>
      </p:grpSpPr>
      <p:sp>
        <p:nvSpPr>
          <p:cNvPr id="5122" name="矩形 1"/>
          <p:cNvSpPr>
            <a:spLocks noChangeArrowheads="1"/>
          </p:cNvSpPr>
          <p:nvPr/>
        </p:nvSpPr>
        <p:spPr bwMode="auto">
          <a:xfrm>
            <a:off x="3184367" y="0"/>
            <a:ext cx="5960269" cy="5143500"/>
          </a:xfrm>
          <a:prstGeom prst="rect">
            <a:avLst/>
          </a:prstGeom>
          <a:solidFill>
            <a:schemeClr val="bg1"/>
          </a:solidFill>
          <a:ln>
            <a:noFill/>
          </a:ln>
          <a:extLst>
            <a:ext uri="{91240B29-F687-4F45-9708-019B960494DF}">
              <a14:hiddenLine xmlns:a14="http://schemas.microsoft.com/office/drawing/2010/main" w="12700">
                <a:solidFill>
                  <a:srgbClr val="42719B"/>
                </a:solidFill>
                <a:bevel/>
              </a14:hiddenLine>
            </a:ext>
          </a:extLst>
        </p:spPr>
        <p:txBody>
          <a:bodyPr lIns="68577" tIns="34289" rIns="68577" bIns="34289"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zh-CN">
              <a:solidFill>
                <a:srgbClr val="FFFFFF"/>
              </a:solidFill>
              <a:latin typeface="+mn-lt"/>
              <a:ea typeface="+mn-ea"/>
              <a:cs typeface="+mn-ea"/>
              <a:sym typeface="+mn-lt"/>
            </a:endParaRPr>
          </a:p>
        </p:txBody>
      </p:sp>
      <p:sp>
        <p:nvSpPr>
          <p:cNvPr id="5123" name="矩形 15"/>
          <p:cNvSpPr>
            <a:spLocks noChangeArrowheads="1"/>
          </p:cNvSpPr>
          <p:nvPr/>
        </p:nvSpPr>
        <p:spPr bwMode="auto">
          <a:xfrm>
            <a:off x="3006329" y="0"/>
            <a:ext cx="70247" cy="5143500"/>
          </a:xfrm>
          <a:prstGeom prst="rect">
            <a:avLst/>
          </a:prstGeom>
          <a:solidFill>
            <a:schemeClr val="bg1"/>
          </a:solidFill>
          <a:ln>
            <a:noFill/>
          </a:ln>
          <a:extLst>
            <a:ext uri="{91240B29-F687-4F45-9708-019B960494DF}">
              <a14:hiddenLine xmlns:a14="http://schemas.microsoft.com/office/drawing/2010/main" w="12700">
                <a:solidFill>
                  <a:srgbClr val="42719B"/>
                </a:solidFill>
                <a:bevel/>
              </a14:hiddenLine>
            </a:ext>
          </a:extLst>
        </p:spPr>
        <p:txBody>
          <a:bodyPr lIns="68577" tIns="34289" rIns="68577" bIns="34289"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buFont typeface="Arial" panose="020B0604020202020204" pitchFamily="34" charset="0"/>
              <a:buNone/>
            </a:pPr>
            <a:endParaRPr lang="zh-CN" altLang="zh-CN">
              <a:solidFill>
                <a:srgbClr val="FFFFFF"/>
              </a:solidFill>
              <a:latin typeface="+mn-lt"/>
              <a:ea typeface="+mn-ea"/>
              <a:cs typeface="+mn-ea"/>
              <a:sym typeface="+mn-lt"/>
            </a:endParaRPr>
          </a:p>
        </p:txBody>
      </p:sp>
      <p:sp>
        <p:nvSpPr>
          <p:cNvPr id="5125" name="文本框 52"/>
          <p:cNvSpPr>
            <a:spLocks noChangeArrowheads="1"/>
          </p:cNvSpPr>
          <p:nvPr/>
        </p:nvSpPr>
        <p:spPr bwMode="auto">
          <a:xfrm>
            <a:off x="395537" y="1275161"/>
            <a:ext cx="2502445" cy="651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7" tIns="34289" rIns="68577" bIns="3428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buFont typeface="Arial" panose="020B0604020202020204" pitchFamily="34" charset="0"/>
              <a:buNone/>
            </a:pPr>
            <a:r>
              <a:rPr lang="zh-CN" altLang="en-US" sz="3800" b="1" dirty="0">
                <a:solidFill>
                  <a:srgbClr val="FFFFFF"/>
                </a:solidFill>
                <a:latin typeface="+mn-lt"/>
                <a:ea typeface="+mn-ea"/>
                <a:cs typeface="+mn-ea"/>
                <a:sym typeface="+mn-lt"/>
              </a:rPr>
              <a:t>第</a:t>
            </a:r>
            <a:r>
              <a:rPr lang="zh-CN" altLang="en-US" sz="3800" b="1" dirty="0">
                <a:solidFill>
                  <a:srgbClr val="FFFFFF"/>
                </a:solidFill>
                <a:latin typeface="+mn-lt"/>
                <a:ea typeface="+mn-ea"/>
                <a:cs typeface="+mn-ea"/>
                <a:sym typeface="+mn-lt"/>
              </a:rPr>
              <a:t>三部分</a:t>
            </a:r>
            <a:endParaRPr lang="zh-CN" altLang="en-US" sz="3800" b="1" dirty="0">
              <a:solidFill>
                <a:srgbClr val="FFFFFF"/>
              </a:solidFill>
              <a:latin typeface="+mn-lt"/>
              <a:ea typeface="+mn-ea"/>
              <a:cs typeface="+mn-ea"/>
              <a:sym typeface="+mn-lt"/>
            </a:endParaRPr>
          </a:p>
        </p:txBody>
      </p:sp>
      <p:sp>
        <p:nvSpPr>
          <p:cNvPr id="21" name="TextBox 23"/>
          <p:cNvSpPr txBox="1"/>
          <p:nvPr/>
        </p:nvSpPr>
        <p:spPr>
          <a:xfrm>
            <a:off x="3773159" y="2292388"/>
            <a:ext cx="736600" cy="297815"/>
          </a:xfrm>
          <a:prstGeom prst="rect">
            <a:avLst/>
          </a:prstGeom>
          <a:noFill/>
        </p:spPr>
        <p:txBody>
          <a:bodyPr wrap="none" lIns="68579" tIns="34289" rIns="68579" bIns="34289" rtlCol="0">
            <a:spAutoFit/>
          </a:bodyPr>
          <a:lstStyle/>
          <a:p>
            <a:pPr marL="213995" indent="-213995">
              <a:buFont typeface="Wingdings" panose="05000000000000000000" pitchFamily="2" charset="2"/>
              <a:buChar char="p"/>
            </a:pPr>
            <a:r>
              <a:rPr lang="en-US" altLang="zh-CN" sz="1500" dirty="0">
                <a:solidFill>
                  <a:prstClr val="black">
                    <a:lumMod val="65000"/>
                    <a:lumOff val="35000"/>
                  </a:prstClr>
                </a:solidFill>
                <a:cs typeface="+mn-ea"/>
                <a:sym typeface="+mn-lt"/>
              </a:rPr>
              <a:t>ER</a:t>
            </a:r>
            <a:r>
              <a:rPr lang="zh-CN" altLang="en-US" sz="1500" dirty="0">
                <a:solidFill>
                  <a:prstClr val="black">
                    <a:lumMod val="65000"/>
                    <a:lumOff val="35000"/>
                  </a:prstClr>
                </a:solidFill>
                <a:cs typeface="+mn-ea"/>
                <a:sym typeface="+mn-lt"/>
              </a:rPr>
              <a:t>图</a:t>
            </a:r>
            <a:endParaRPr lang="zh-CN" altLang="en-US" sz="1500" dirty="0">
              <a:solidFill>
                <a:prstClr val="black">
                  <a:lumMod val="65000"/>
                  <a:lumOff val="35000"/>
                </a:prstClr>
              </a:solidFill>
              <a:cs typeface="+mn-ea"/>
              <a:sym typeface="+mn-lt"/>
            </a:endParaRPr>
          </a:p>
        </p:txBody>
      </p:sp>
      <p:sp>
        <p:nvSpPr>
          <p:cNvPr id="22" name="TextBox 24"/>
          <p:cNvSpPr txBox="1"/>
          <p:nvPr/>
        </p:nvSpPr>
        <p:spPr>
          <a:xfrm>
            <a:off x="3773159" y="2656243"/>
            <a:ext cx="2641600" cy="297815"/>
          </a:xfrm>
          <a:prstGeom prst="rect">
            <a:avLst/>
          </a:prstGeom>
          <a:noFill/>
        </p:spPr>
        <p:txBody>
          <a:bodyPr wrap="none" lIns="68579" tIns="34289" rIns="68579" bIns="34289" rtlCol="0">
            <a:spAutoFit/>
          </a:bodyPr>
          <a:lstStyle/>
          <a:p>
            <a:pPr marL="213995" indent="-213995">
              <a:buFont typeface="Wingdings" panose="05000000000000000000" pitchFamily="2" charset="2"/>
              <a:buChar char="p"/>
            </a:pPr>
            <a:r>
              <a:rPr lang="en-US" altLang="zh-CN" sz="1500" dirty="0">
                <a:solidFill>
                  <a:prstClr val="black">
                    <a:lumMod val="65000"/>
                    <a:lumOff val="35000"/>
                  </a:prstClr>
                </a:solidFill>
                <a:cs typeface="+mn-ea"/>
                <a:sym typeface="+mn-lt"/>
              </a:rPr>
              <a:t>ER</a:t>
            </a:r>
            <a:r>
              <a:rPr lang="zh-CN" altLang="en-US" sz="1500" dirty="0">
                <a:solidFill>
                  <a:prstClr val="black">
                    <a:lumMod val="65000"/>
                    <a:lumOff val="35000"/>
                  </a:prstClr>
                </a:solidFill>
                <a:cs typeface="+mn-ea"/>
                <a:sym typeface="+mn-lt"/>
              </a:rPr>
              <a:t>图</a:t>
            </a:r>
            <a:r>
              <a:rPr lang="zh-CN" altLang="en-US" sz="1500" dirty="0">
                <a:solidFill>
                  <a:prstClr val="black">
                    <a:lumMod val="65000"/>
                    <a:lumOff val="35000"/>
                  </a:prstClr>
                </a:solidFill>
                <a:cs typeface="+mn-ea"/>
                <a:sym typeface="+mn-lt"/>
              </a:rPr>
              <a:t>转换为数据库表</a:t>
            </a:r>
            <a:r>
              <a:rPr lang="zh-CN" altLang="en-US" sz="1500" dirty="0">
                <a:solidFill>
                  <a:prstClr val="black">
                    <a:lumMod val="65000"/>
                    <a:lumOff val="35000"/>
                  </a:prstClr>
                </a:solidFill>
                <a:cs typeface="+mn-ea"/>
                <a:sym typeface="+mn-lt"/>
              </a:rPr>
              <a:t>的结构</a:t>
            </a:r>
            <a:endParaRPr lang="zh-CN" altLang="en-US" sz="1500" dirty="0">
              <a:solidFill>
                <a:prstClr val="black">
                  <a:lumMod val="65000"/>
                  <a:lumOff val="35000"/>
                </a:prstClr>
              </a:solidFill>
              <a:cs typeface="+mn-ea"/>
              <a:sym typeface="+mn-lt"/>
            </a:endParaRPr>
          </a:p>
        </p:txBody>
      </p:sp>
      <p:sp>
        <p:nvSpPr>
          <p:cNvPr id="25" name="TextBox 4"/>
          <p:cNvSpPr txBox="1"/>
          <p:nvPr/>
        </p:nvSpPr>
        <p:spPr>
          <a:xfrm>
            <a:off x="3773159" y="1203598"/>
            <a:ext cx="1915160" cy="499110"/>
          </a:xfrm>
          <a:prstGeom prst="rect">
            <a:avLst/>
          </a:prstGeom>
          <a:noFill/>
        </p:spPr>
        <p:txBody>
          <a:bodyPr wrap="none" lIns="68580" tIns="34290" rIns="68580" bIns="34290" rtlCol="0">
            <a:spAutoFit/>
          </a:bodyPr>
          <a:lstStyle/>
          <a:p>
            <a:pPr algn="l">
              <a:buClrTx/>
              <a:buSzTx/>
              <a:buFontTx/>
            </a:pPr>
            <a:r>
              <a:rPr lang="zh-CN" altLang="en-US" sz="2800" b="1" dirty="0">
                <a:solidFill>
                  <a:srgbClr val="0070C0"/>
                </a:solidFill>
                <a:cs typeface="+mn-ea"/>
                <a:sym typeface="+mn-lt"/>
              </a:rPr>
              <a:t>数据库设计</a:t>
            </a:r>
            <a:endParaRPr lang="zh-CN" altLang="en-US" sz="2800" b="1" dirty="0">
              <a:solidFill>
                <a:srgbClr val="0070C0"/>
              </a:solidFill>
              <a:cs typeface="+mn-ea"/>
              <a:sym typeface="+mn-lt"/>
            </a:endParaRPr>
          </a:p>
        </p:txBody>
      </p:sp>
      <p:sp>
        <p:nvSpPr>
          <p:cNvPr id="27" name="矩形 26"/>
          <p:cNvSpPr/>
          <p:nvPr/>
        </p:nvSpPr>
        <p:spPr>
          <a:xfrm>
            <a:off x="3825279" y="3434076"/>
            <a:ext cx="5319000" cy="20046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algn="ctr"/>
            <a:endParaRPr lang="zh-CN" altLang="en-US">
              <a:solidFill>
                <a:prstClr val="white"/>
              </a:solidFill>
              <a:cs typeface="+mn-ea"/>
              <a:sym typeface="+mn-lt"/>
            </a:endParaRPr>
          </a:p>
        </p:txBody>
      </p:sp>
      <p:sp>
        <p:nvSpPr>
          <p:cNvPr id="3" name="TextBox 23"/>
          <p:cNvSpPr txBox="1"/>
          <p:nvPr/>
        </p:nvSpPr>
        <p:spPr>
          <a:xfrm>
            <a:off x="3773170" y="1928495"/>
            <a:ext cx="2872740" cy="297815"/>
          </a:xfrm>
          <a:prstGeom prst="rect">
            <a:avLst/>
          </a:prstGeom>
          <a:noFill/>
        </p:spPr>
        <p:txBody>
          <a:bodyPr wrap="square" lIns="68579" tIns="34289" rIns="68579" bIns="34289" rtlCol="0">
            <a:spAutoFit/>
          </a:bodyPr>
          <a:p>
            <a:pPr marL="213995" indent="-213995" algn="l">
              <a:buClrTx/>
              <a:buSzTx/>
              <a:buFont typeface="Wingdings" panose="05000000000000000000" pitchFamily="2" charset="2"/>
              <a:buChar char="p"/>
            </a:pPr>
            <a:r>
              <a:rPr lang="zh-CN" altLang="en-US" sz="1500" dirty="0">
                <a:solidFill>
                  <a:prstClr val="black">
                    <a:lumMod val="65000"/>
                    <a:lumOff val="35000"/>
                  </a:prstClr>
                </a:solidFill>
                <a:cs typeface="+mn-ea"/>
                <a:sym typeface="+mn-lt"/>
              </a:rPr>
              <a:t>数据库设计的基本步骤</a:t>
            </a:r>
            <a:endParaRPr lang="zh-CN" altLang="en-US" sz="1500" dirty="0">
              <a:solidFill>
                <a:prstClr val="black">
                  <a:lumMod val="65000"/>
                  <a:lumOff val="35000"/>
                </a:prstClr>
              </a:solidFill>
              <a:cs typeface="+mn-ea"/>
              <a:sym typeface="+mn-lt"/>
            </a:endParaRPr>
          </a:p>
        </p:txBody>
      </p:sp>
    </p:spTree>
  </p:cSld>
  <p:clrMapOvr>
    <a:masterClrMapping/>
  </p:clrMapOvr>
  <p:transition spd="med">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830580" y="699135"/>
            <a:ext cx="7737475" cy="57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altLang="zh-CN" sz="2400" dirty="0">
                <a:solidFill>
                  <a:sysClr val="windowText" lastClr="000000"/>
                </a:solidFill>
                <a:cs typeface="+mn-ea"/>
                <a:sym typeface="+mn-lt"/>
              </a:rPr>
              <a:t>1</a:t>
            </a:r>
            <a:r>
              <a:rPr lang="zh-CN" altLang="en-US" sz="2400" dirty="0">
                <a:solidFill>
                  <a:sysClr val="windowText" lastClr="000000"/>
                </a:solidFill>
                <a:cs typeface="+mn-ea"/>
                <a:sym typeface="+mn-lt"/>
              </a:rPr>
              <a:t>. 数据库设计的基本步骤</a:t>
            </a:r>
            <a:endParaRPr lang="zh-CN" altLang="en-US" sz="2400" dirty="0">
              <a:solidFill>
                <a:sysClr val="windowText" lastClr="00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2182495" cy="520700"/>
          </a:xfrm>
          <a:prstGeom prst="rect">
            <a:avLst/>
          </a:prstGeom>
          <a:noFill/>
          <a:ln>
            <a:solidFill>
              <a:srgbClr val="FFFFFF">
                <a:alpha val="45882"/>
              </a:srgbClr>
            </a:solidFill>
          </a:ln>
        </p:spPr>
        <p:txBody>
          <a:bodyPr wrap="square" lIns="91438" tIns="45719" rIns="91438" bIns="45719" rtlCol="0">
            <a:spAutoFit/>
          </a:bodyPr>
          <a:lstStyle/>
          <a:p>
            <a:r>
              <a:rPr lang="zh-CN" altLang="en-US" sz="2800" b="1" dirty="0">
                <a:solidFill>
                  <a:schemeClr val="bg1"/>
                </a:solidFill>
                <a:cs typeface="+mn-ea"/>
                <a:sym typeface="+mn-lt"/>
              </a:rPr>
              <a:t>数据库设计</a:t>
            </a:r>
            <a:endParaRPr lang="zh-CN" altLang="en-US" sz="2800" b="1" dirty="0">
              <a:solidFill>
                <a:schemeClr val="bg1"/>
              </a:solidFill>
              <a:cs typeface="+mn-ea"/>
              <a:sym typeface="+mn-lt"/>
            </a:endParaRPr>
          </a:p>
        </p:txBody>
      </p:sp>
      <p:sp>
        <p:nvSpPr>
          <p:cNvPr id="3" name="文本框 2"/>
          <p:cNvSpPr txBox="1"/>
          <p:nvPr/>
        </p:nvSpPr>
        <p:spPr>
          <a:xfrm>
            <a:off x="822325" y="1419225"/>
            <a:ext cx="8052435" cy="645160"/>
          </a:xfrm>
          <a:prstGeom prst="rect">
            <a:avLst/>
          </a:prstGeom>
          <a:noFill/>
        </p:spPr>
        <p:txBody>
          <a:bodyPr wrap="square" rtlCol="0" anchor="t">
            <a:spAutoFit/>
          </a:bodyPr>
          <a:p>
            <a:r>
              <a:rPr lang="zh-CN" altLang="en-US"/>
              <a:t>需求分析、概念结构设计、逻辑结构设计、数据库物理设计、数据库实施、数据库运行和维护</a:t>
            </a:r>
            <a:endParaRPr lang="zh-CN" altLang="en-US"/>
          </a:p>
        </p:txBody>
      </p:sp>
      <p:graphicFrame>
        <p:nvGraphicFramePr>
          <p:cNvPr id="5" name="表格 4"/>
          <p:cNvGraphicFramePr/>
          <p:nvPr>
            <p:custDataLst>
              <p:tags r:id="rId1"/>
            </p:custDataLst>
          </p:nvPr>
        </p:nvGraphicFramePr>
        <p:xfrm>
          <a:off x="828040" y="2118360"/>
          <a:ext cx="7740015" cy="2497455"/>
        </p:xfrm>
        <a:graphic>
          <a:graphicData uri="http://schemas.openxmlformats.org/drawingml/2006/table">
            <a:tbl>
              <a:tblPr/>
              <a:tblGrid>
                <a:gridCol w="1242060"/>
                <a:gridCol w="3439795"/>
                <a:gridCol w="3058160"/>
              </a:tblGrid>
              <a:tr h="259715">
                <a:tc rowSpan="2">
                  <a:txBody>
                    <a:bodyPr/>
                    <a:p>
                      <a:pPr indent="0" algn="l">
                        <a:lnSpc>
                          <a:spcPct val="100000"/>
                        </a:lnSpc>
                        <a:buNone/>
                      </a:pPr>
                      <a:r>
                        <a:rPr lang="en-US" sz="1400" b="0">
                          <a:solidFill>
                            <a:srgbClr val="FF0000"/>
                          </a:solidFill>
                          <a:latin typeface="宋体" panose="02010600030101010101" pitchFamily="2" charset="-122"/>
                          <a:ea typeface="宋体" panose="02010600030101010101" pitchFamily="2" charset="-122"/>
                          <a:cs typeface="宋体" panose="02010600030101010101" pitchFamily="2" charset="-122"/>
                        </a:rPr>
                        <a:t>设计阶段</a:t>
                      </a:r>
                      <a:endParaRPr lang="en-US" altLang="en-US" sz="1400" b="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p>
                      <a:pPr indent="0" algn="ctr">
                        <a:lnSpc>
                          <a:spcPct val="100000"/>
                        </a:lnSpc>
                        <a:buNone/>
                      </a:pPr>
                      <a:r>
                        <a:rPr lang="en-US" sz="1400" b="0">
                          <a:solidFill>
                            <a:srgbClr val="FF0000"/>
                          </a:solidFill>
                          <a:latin typeface="宋体" panose="02010600030101010101" pitchFamily="2" charset="-122"/>
                          <a:ea typeface="宋体" panose="02010600030101010101" pitchFamily="2" charset="-122"/>
                          <a:cs typeface="宋体" panose="02010600030101010101" pitchFamily="2" charset="-122"/>
                        </a:rPr>
                        <a:t>设计描述</a:t>
                      </a:r>
                      <a:endParaRPr lang="en-US" altLang="en-US" sz="1400" b="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236220">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p>
                      <a:pPr indent="0">
                        <a:lnSpc>
                          <a:spcPct val="100000"/>
                        </a:lnSpc>
                        <a:buNone/>
                      </a:pPr>
                      <a:r>
                        <a:rPr lang="en-US" sz="1400" b="0">
                          <a:solidFill>
                            <a:srgbClr val="FF0000"/>
                          </a:solidFill>
                          <a:latin typeface="宋体" panose="02010600030101010101" pitchFamily="2" charset="-122"/>
                          <a:ea typeface="宋体" panose="02010600030101010101" pitchFamily="2" charset="-122"/>
                          <a:cs typeface="宋体" panose="02010600030101010101" pitchFamily="2" charset="-122"/>
                        </a:rPr>
                        <a:t>数据</a:t>
                      </a:r>
                      <a:endParaRPr lang="en-US" altLang="en-US" sz="1400" b="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nSpc>
                          <a:spcPct val="100000"/>
                        </a:lnSpc>
                        <a:buNone/>
                      </a:pPr>
                      <a:r>
                        <a:rPr lang="en-US" sz="1400" b="0">
                          <a:solidFill>
                            <a:srgbClr val="FF0000"/>
                          </a:solidFill>
                          <a:latin typeface="宋体" panose="02010600030101010101" pitchFamily="2" charset="-122"/>
                          <a:ea typeface="宋体" panose="02010600030101010101" pitchFamily="2" charset="-122"/>
                          <a:cs typeface="宋体" panose="02010600030101010101" pitchFamily="2" charset="-122"/>
                        </a:rPr>
                        <a:t>处理</a:t>
                      </a:r>
                      <a:endParaRPr lang="en-US" altLang="en-US" sz="1400" b="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71805">
                <a:tc>
                  <a:txBody>
                    <a:bodyPr/>
                    <a:p>
                      <a:pPr indent="0" algn="l">
                        <a:lnSpc>
                          <a:spcPct val="100000"/>
                        </a:lnSpc>
                        <a:buNone/>
                      </a:pPr>
                      <a:r>
                        <a:rPr lang="en-US" sz="1400" b="0">
                          <a:solidFill>
                            <a:srgbClr val="FF0000"/>
                          </a:solidFill>
                          <a:latin typeface="宋体" panose="02010600030101010101" pitchFamily="2" charset="-122"/>
                          <a:ea typeface="宋体" panose="02010600030101010101" pitchFamily="2" charset="-122"/>
                          <a:cs typeface="宋体" panose="02010600030101010101" pitchFamily="2" charset="-122"/>
                        </a:rPr>
                        <a:t>需求分析 </a:t>
                      </a:r>
                      <a:endParaRPr lang="en-US" altLang="en-US" sz="1400" b="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nSpc>
                          <a:spcPct val="100000"/>
                        </a:lnSpc>
                        <a:buNone/>
                      </a:pPr>
                      <a:r>
                        <a:rPr lang="en-US" sz="1400" b="0">
                          <a:latin typeface="宋体" panose="02010600030101010101" pitchFamily="2" charset="-122"/>
                          <a:ea typeface="宋体" panose="02010600030101010101" pitchFamily="2" charset="-122"/>
                          <a:cs typeface="宋体" panose="02010600030101010101" pitchFamily="2" charset="-122"/>
                        </a:rPr>
                        <a:t>数据字典、数据项、数据流、数据存储的描述</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nSpc>
                          <a:spcPct val="100000"/>
                        </a:lnSpc>
                        <a:buNone/>
                      </a:pPr>
                      <a:r>
                        <a:rPr lang="en-US" sz="1400" b="0">
                          <a:latin typeface="宋体" panose="02010600030101010101" pitchFamily="2" charset="-122"/>
                          <a:ea typeface="宋体" panose="02010600030101010101" pitchFamily="2" charset="-122"/>
                          <a:cs typeface="宋体" panose="02010600030101010101" pitchFamily="2" charset="-122"/>
                        </a:rPr>
                        <a:t>数据流图和判定树、数据字典中处理过程的描述</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72440">
                <a:tc>
                  <a:txBody>
                    <a:bodyPr/>
                    <a:p>
                      <a:pPr indent="0" algn="l">
                        <a:lnSpc>
                          <a:spcPct val="100000"/>
                        </a:lnSpc>
                        <a:buNone/>
                      </a:pPr>
                      <a:r>
                        <a:rPr lang="en-US" sz="1400" b="0">
                          <a:solidFill>
                            <a:srgbClr val="FF0000"/>
                          </a:solidFill>
                          <a:latin typeface="宋体" panose="02010600030101010101" pitchFamily="2" charset="-122"/>
                          <a:ea typeface="宋体" panose="02010600030101010101" pitchFamily="2" charset="-122"/>
                          <a:cs typeface="宋体" panose="02010600030101010101" pitchFamily="2" charset="-122"/>
                        </a:rPr>
                        <a:t>概念结构设计</a:t>
                      </a:r>
                      <a:endParaRPr lang="en-US" altLang="en-US" sz="1400" b="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nSpc>
                          <a:spcPct val="100000"/>
                        </a:lnSpc>
                        <a:buNone/>
                      </a:pPr>
                      <a:r>
                        <a:rPr lang="en-US" sz="1400" b="1">
                          <a:solidFill>
                            <a:srgbClr val="008AF2"/>
                          </a:solidFill>
                          <a:latin typeface="宋体" panose="02010600030101010101" pitchFamily="2" charset="-122"/>
                          <a:ea typeface="宋体" panose="02010600030101010101" pitchFamily="2" charset="-122"/>
                          <a:cs typeface="宋体" panose="02010600030101010101" pitchFamily="2" charset="-122"/>
                        </a:rPr>
                        <a:t>概念模型(ER图)、数据字典</a:t>
                      </a:r>
                      <a:endParaRPr lang="en-US" altLang="en-US" sz="1400" b="1">
                        <a:solidFill>
                          <a:srgbClr val="008AF2"/>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nSpc>
                          <a:spcPct val="100000"/>
                        </a:lnSpc>
                        <a:buNone/>
                      </a:pPr>
                      <a:r>
                        <a:rPr lang="en-US" sz="1400" b="0">
                          <a:latin typeface="宋体" panose="02010600030101010101" pitchFamily="2" charset="-122"/>
                          <a:ea typeface="宋体" panose="02010600030101010101" pitchFamily="2" charset="-122"/>
                          <a:cs typeface="宋体" panose="02010600030101010101" pitchFamily="2" charset="-122"/>
                        </a:rPr>
                        <a:t>系统说明书 (系统要求、方案、概图、数据流图)</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0990">
                <a:tc>
                  <a:txBody>
                    <a:bodyPr/>
                    <a:p>
                      <a:pPr indent="0" algn="l">
                        <a:lnSpc>
                          <a:spcPct val="100000"/>
                        </a:lnSpc>
                        <a:buNone/>
                      </a:pPr>
                      <a:r>
                        <a:rPr lang="en-US" sz="1400" b="0">
                          <a:solidFill>
                            <a:srgbClr val="FF0000"/>
                          </a:solidFill>
                          <a:latin typeface="宋体" panose="02010600030101010101" pitchFamily="2" charset="-122"/>
                          <a:ea typeface="宋体" panose="02010600030101010101" pitchFamily="2" charset="-122"/>
                          <a:cs typeface="宋体" panose="02010600030101010101" pitchFamily="2" charset="-122"/>
                        </a:rPr>
                        <a:t>逻辑结构设计</a:t>
                      </a:r>
                      <a:endParaRPr lang="en-US" altLang="en-US" sz="1400" b="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nSpc>
                          <a:spcPct val="100000"/>
                        </a:lnSpc>
                        <a:buNone/>
                      </a:pPr>
                      <a:r>
                        <a:rPr lang="en-US" sz="1400" b="1">
                          <a:solidFill>
                            <a:srgbClr val="008AF2"/>
                          </a:solidFill>
                          <a:latin typeface="宋体" panose="02010600030101010101" pitchFamily="2" charset="-122"/>
                          <a:ea typeface="宋体" panose="02010600030101010101" pitchFamily="2" charset="-122"/>
                          <a:cs typeface="宋体" panose="02010600030101010101" pitchFamily="2" charset="-122"/>
                        </a:rPr>
                        <a:t>某种数据模型(如关系)</a:t>
                      </a:r>
                      <a:endParaRPr lang="en-US" altLang="en-US" sz="1400" b="1">
                        <a:solidFill>
                          <a:srgbClr val="008AF2"/>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nSpc>
                          <a:spcPct val="100000"/>
                        </a:lnSpc>
                        <a:buNone/>
                      </a:pPr>
                      <a:r>
                        <a:rPr lang="en-US" sz="1400" b="0">
                          <a:latin typeface="宋体" panose="02010600030101010101" pitchFamily="2" charset="-122"/>
                          <a:ea typeface="宋体" panose="02010600030101010101" pitchFamily="2" charset="-122"/>
                          <a:cs typeface="宋体" panose="02010600030101010101" pitchFamily="2" charset="-122"/>
                        </a:rPr>
                        <a:t>系统结构图(模块结构)</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3365">
                <a:tc>
                  <a:txBody>
                    <a:bodyPr/>
                    <a:p>
                      <a:pPr indent="0" algn="l">
                        <a:lnSpc>
                          <a:spcPct val="100000"/>
                        </a:lnSpc>
                        <a:buNone/>
                      </a:pPr>
                      <a:r>
                        <a:rPr lang="en-US" sz="1400" b="0">
                          <a:solidFill>
                            <a:srgbClr val="FF0000"/>
                          </a:solidFill>
                          <a:latin typeface="宋体" panose="02010600030101010101" pitchFamily="2" charset="-122"/>
                          <a:ea typeface="宋体" panose="02010600030101010101" pitchFamily="2" charset="-122"/>
                          <a:cs typeface="宋体" panose="02010600030101010101" pitchFamily="2" charset="-122"/>
                        </a:rPr>
                        <a:t>物理设计 </a:t>
                      </a:r>
                      <a:endParaRPr lang="en-US" altLang="en-US" sz="1400" b="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nSpc>
                          <a:spcPct val="100000"/>
                        </a:lnSpc>
                        <a:buNone/>
                      </a:pPr>
                      <a:r>
                        <a:rPr lang="en-US" sz="1400" b="1">
                          <a:solidFill>
                            <a:srgbClr val="008AF2"/>
                          </a:solidFill>
                          <a:latin typeface="宋体" panose="02010600030101010101" pitchFamily="2" charset="-122"/>
                          <a:ea typeface="宋体" panose="02010600030101010101" pitchFamily="2" charset="-122"/>
                          <a:cs typeface="宋体" panose="02010600030101010101" pitchFamily="2" charset="-122"/>
                        </a:rPr>
                        <a:t>存储安排、方法选择、存取路径建立</a:t>
                      </a:r>
                      <a:endParaRPr lang="en-US" altLang="en-US" sz="1400" b="1">
                        <a:solidFill>
                          <a:srgbClr val="008AF2"/>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nSpc>
                          <a:spcPct val="100000"/>
                        </a:lnSpc>
                        <a:buNone/>
                      </a:pPr>
                      <a:r>
                        <a:rPr lang="en-US" sz="1400" b="0">
                          <a:latin typeface="宋体" panose="02010600030101010101" pitchFamily="2" charset="-122"/>
                          <a:ea typeface="宋体" panose="02010600030101010101" pitchFamily="2" charset="-122"/>
                          <a:cs typeface="宋体" panose="02010600030101010101" pitchFamily="2" charset="-122"/>
                        </a:rPr>
                        <a:t>模块设计</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1460">
                <a:tc>
                  <a:txBody>
                    <a:bodyPr/>
                    <a:p>
                      <a:pPr indent="0" algn="l">
                        <a:lnSpc>
                          <a:spcPct val="100000"/>
                        </a:lnSpc>
                        <a:buNone/>
                      </a:pPr>
                      <a:r>
                        <a:rPr lang="en-US" sz="1400" b="0">
                          <a:solidFill>
                            <a:srgbClr val="FF0000"/>
                          </a:solidFill>
                          <a:latin typeface="宋体" panose="02010600030101010101" pitchFamily="2" charset="-122"/>
                          <a:ea typeface="宋体" panose="02010600030101010101" pitchFamily="2" charset="-122"/>
                          <a:cs typeface="宋体" panose="02010600030101010101" pitchFamily="2" charset="-122"/>
                        </a:rPr>
                        <a:t>实施阶段 </a:t>
                      </a:r>
                      <a:endParaRPr lang="en-US" altLang="en-US" sz="1400" b="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nSpc>
                          <a:spcPct val="100000"/>
                        </a:lnSpc>
                        <a:buNone/>
                      </a:pPr>
                      <a:r>
                        <a:rPr lang="en-US" sz="1400" b="0">
                          <a:latin typeface="宋体" panose="02010600030101010101" pitchFamily="2" charset="-122"/>
                          <a:ea typeface="宋体" panose="02010600030101010101" pitchFamily="2" charset="-122"/>
                          <a:cs typeface="宋体" panose="02010600030101010101" pitchFamily="2" charset="-122"/>
                        </a:rPr>
                        <a:t>编写模式、装入数据、数据库试运行</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nSpc>
                          <a:spcPct val="100000"/>
                        </a:lnSpc>
                        <a:buNone/>
                      </a:pPr>
                      <a:r>
                        <a:rPr lang="en-US" sz="1400" b="0">
                          <a:latin typeface="宋体" panose="02010600030101010101" pitchFamily="2" charset="-122"/>
                          <a:ea typeface="宋体" panose="02010600030101010101" pitchFamily="2" charset="-122"/>
                          <a:cs typeface="宋体" panose="02010600030101010101" pitchFamily="2" charset="-122"/>
                        </a:rPr>
                        <a:t>程序编码、编译联结、测试 </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1460">
                <a:tc>
                  <a:txBody>
                    <a:bodyPr/>
                    <a:p>
                      <a:pPr indent="0" algn="l">
                        <a:lnSpc>
                          <a:spcPct val="100000"/>
                        </a:lnSpc>
                        <a:buNone/>
                      </a:pPr>
                      <a:r>
                        <a:rPr lang="en-US" sz="1400" b="0">
                          <a:solidFill>
                            <a:srgbClr val="FF0000"/>
                          </a:solidFill>
                          <a:latin typeface="宋体" panose="02010600030101010101" pitchFamily="2" charset="-122"/>
                          <a:ea typeface="宋体" panose="02010600030101010101" pitchFamily="2" charset="-122"/>
                          <a:cs typeface="宋体" panose="02010600030101010101" pitchFamily="2" charset="-122"/>
                        </a:rPr>
                        <a:t>运行维护</a:t>
                      </a:r>
                      <a:endParaRPr lang="en-US" altLang="en-US" sz="1400" b="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nSpc>
                          <a:spcPct val="100000"/>
                        </a:lnSpc>
                        <a:buNone/>
                      </a:pPr>
                      <a:r>
                        <a:rPr lang="en-US" sz="1400" b="0">
                          <a:latin typeface="宋体" panose="02010600030101010101" pitchFamily="2" charset="-122"/>
                          <a:ea typeface="宋体" panose="02010600030101010101" pitchFamily="2" charset="-122"/>
                          <a:cs typeface="宋体" panose="02010600030101010101" pitchFamily="2" charset="-122"/>
                        </a:rPr>
                        <a:t>性能监测、转储/恢复、数据库重组和重构</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nSpc>
                          <a:spcPct val="100000"/>
                        </a:lnSpc>
                        <a:buNone/>
                      </a:pPr>
                      <a:r>
                        <a:rPr lang="en-US" sz="1400" b="0">
                          <a:latin typeface="宋体" panose="02010600030101010101" pitchFamily="2" charset="-122"/>
                          <a:ea typeface="宋体" panose="02010600030101010101" pitchFamily="2" charset="-122"/>
                          <a:cs typeface="宋体" panose="02010600030101010101" pitchFamily="2" charset="-122"/>
                        </a:rPr>
                        <a:t>新旧系统转换、运行、维护</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spd="slow">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229235" y="771525"/>
            <a:ext cx="8670925" cy="348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1600" dirty="0">
                <a:solidFill>
                  <a:sysClr val="windowText" lastClr="000000"/>
                </a:solidFill>
                <a:cs typeface="+mn-ea"/>
                <a:sym typeface="+mn-lt"/>
              </a:rPr>
              <a:t>例</a:t>
            </a:r>
            <a:r>
              <a:rPr lang="en-US" altLang="zh-CN" sz="1600" dirty="0">
                <a:solidFill>
                  <a:sysClr val="windowText" lastClr="000000"/>
                </a:solidFill>
                <a:cs typeface="+mn-ea"/>
                <a:sym typeface="+mn-lt"/>
              </a:rPr>
              <a:t>1</a:t>
            </a:r>
            <a:r>
              <a:rPr lang="zh-CN" altLang="en-US" sz="1600" dirty="0">
                <a:solidFill>
                  <a:sysClr val="windowText" lastClr="000000"/>
                </a:solidFill>
                <a:cs typeface="+mn-ea"/>
                <a:sym typeface="+mn-lt"/>
              </a:rPr>
              <a:t>：某银行建设金融管理系统</a:t>
            </a:r>
            <a:endParaRPr lang="zh-CN" altLang="en-US" sz="1600" dirty="0">
              <a:solidFill>
                <a:sysClr val="windowText" lastClr="000000"/>
              </a:solidFill>
              <a:cs typeface="+mn-ea"/>
              <a:sym typeface="+mn-lt"/>
            </a:endParaRPr>
          </a:p>
          <a:p>
            <a:pPr algn="l">
              <a:lnSpc>
                <a:spcPct val="130000"/>
              </a:lnSpc>
              <a:buClrTx/>
              <a:buSzTx/>
              <a:buFontTx/>
            </a:pPr>
            <a:r>
              <a:rPr lang="zh-CN" altLang="en-US" sz="1400" dirty="0">
                <a:solidFill>
                  <a:sysClr val="windowText" lastClr="000000"/>
                </a:solidFill>
                <a:cs typeface="+mn-ea"/>
                <a:sym typeface="+mn-lt"/>
              </a:rPr>
              <a:t>系统功能要求</a:t>
            </a:r>
            <a:endParaRPr lang="zh-CN" altLang="en-US" sz="1400" dirty="0">
              <a:solidFill>
                <a:sysClr val="windowText" lastClr="000000"/>
              </a:solidFill>
              <a:cs typeface="+mn-ea"/>
              <a:sym typeface="+mn-lt"/>
            </a:endParaRPr>
          </a:p>
          <a:p>
            <a:pPr algn="l">
              <a:lnSpc>
                <a:spcPct val="130000"/>
              </a:lnSpc>
              <a:buClrTx/>
              <a:buSzTx/>
              <a:buFontTx/>
            </a:pPr>
            <a:r>
              <a:rPr lang="zh-CN" altLang="en-US" sz="1400" dirty="0">
                <a:solidFill>
                  <a:sysClr val="windowText" lastClr="000000"/>
                </a:solidFill>
                <a:cs typeface="+mn-ea"/>
                <a:sym typeface="+mn-lt"/>
              </a:rPr>
              <a:t> </a:t>
            </a:r>
            <a:r>
              <a:rPr lang="en-US" altLang="zh-CN" sz="1400" dirty="0">
                <a:solidFill>
                  <a:sysClr val="windowText" lastClr="000000"/>
                </a:solidFill>
                <a:cs typeface="+mn-ea"/>
                <a:sym typeface="+mn-lt"/>
              </a:rPr>
              <a:t>1</a:t>
            </a:r>
            <a:r>
              <a:rPr lang="zh-CN" altLang="en-US" sz="1400" dirty="0">
                <a:solidFill>
                  <a:sysClr val="windowText" lastClr="000000"/>
                </a:solidFill>
                <a:cs typeface="+mn-ea"/>
                <a:sym typeface="+mn-lt"/>
              </a:rPr>
              <a:t>、客户可以办理多张银行卡，不仅可以办理储蓄卡，如果符合要求还可以办理信用卡，客户办理成功后获得银行卡的卡号。</a:t>
            </a:r>
            <a:endParaRPr lang="zh-CN" altLang="en-US" sz="1400" dirty="0">
              <a:solidFill>
                <a:sysClr val="windowText" lastClr="000000"/>
              </a:solidFill>
              <a:cs typeface="+mn-ea"/>
              <a:sym typeface="+mn-lt"/>
            </a:endParaRPr>
          </a:p>
          <a:p>
            <a:pPr algn="l">
              <a:lnSpc>
                <a:spcPct val="130000"/>
              </a:lnSpc>
              <a:buClrTx/>
              <a:buSzTx/>
              <a:buFontTx/>
            </a:pPr>
            <a:r>
              <a:rPr lang="zh-CN" altLang="en-US" sz="1400" dirty="0">
                <a:solidFill>
                  <a:sysClr val="windowText" lastClr="000000"/>
                </a:solidFill>
                <a:cs typeface="+mn-ea"/>
                <a:sym typeface="+mn-lt"/>
              </a:rPr>
              <a:t> </a:t>
            </a:r>
            <a:r>
              <a:rPr lang="en-US" altLang="zh-CN" sz="1400" dirty="0">
                <a:solidFill>
                  <a:sysClr val="windowText" lastClr="000000"/>
                </a:solidFill>
                <a:cs typeface="+mn-ea"/>
                <a:sym typeface="+mn-lt"/>
              </a:rPr>
              <a:t>2</a:t>
            </a:r>
            <a:r>
              <a:rPr lang="zh-CN" altLang="en-US" sz="1400" dirty="0">
                <a:solidFill>
                  <a:sysClr val="windowText" lastClr="000000"/>
                </a:solidFill>
                <a:cs typeface="+mn-ea"/>
                <a:sym typeface="+mn-lt"/>
              </a:rPr>
              <a:t>、银行提供多种理财产品，客户根据理财产品的信息（包括产品编号，产品名称，产品描述）购买理财产品，一个客户可以购买多种理财产品，不同的理财产品有不同的购买金额和理财年限。</a:t>
            </a:r>
            <a:endParaRPr lang="zh-CN" altLang="en-US" sz="1400" dirty="0">
              <a:solidFill>
                <a:sysClr val="windowText" lastClr="000000"/>
              </a:solidFill>
              <a:cs typeface="+mn-ea"/>
              <a:sym typeface="+mn-lt"/>
            </a:endParaRPr>
          </a:p>
          <a:p>
            <a:pPr algn="l">
              <a:lnSpc>
                <a:spcPct val="130000"/>
              </a:lnSpc>
              <a:buClrTx/>
              <a:buSzTx/>
              <a:buFontTx/>
            </a:pPr>
            <a:r>
              <a:rPr lang="zh-CN" altLang="en-US" sz="1400" dirty="0">
                <a:solidFill>
                  <a:sysClr val="windowText" lastClr="000000"/>
                </a:solidFill>
                <a:cs typeface="+mn-ea"/>
                <a:sym typeface="+mn-lt"/>
              </a:rPr>
              <a:t> </a:t>
            </a:r>
            <a:r>
              <a:rPr lang="en-US" altLang="zh-CN" sz="1400" dirty="0">
                <a:solidFill>
                  <a:sysClr val="windowText" lastClr="000000"/>
                </a:solidFill>
                <a:cs typeface="+mn-ea"/>
                <a:sym typeface="+mn-lt"/>
              </a:rPr>
              <a:t>3</a:t>
            </a:r>
            <a:r>
              <a:rPr lang="zh-CN" altLang="en-US" sz="1400" dirty="0">
                <a:solidFill>
                  <a:sysClr val="windowText" lastClr="000000"/>
                </a:solidFill>
                <a:cs typeface="+mn-ea"/>
                <a:sym typeface="+mn-lt"/>
              </a:rPr>
              <a:t>、银行提供多种保险，客户根据保险的信息（包括保险编号，保险名称，适用人群，保险项目）购买理财产品，一个客户可以购买多种保险，不同的保险有不同的保险金额和保险年限。</a:t>
            </a:r>
            <a:endParaRPr lang="zh-CN" altLang="en-US" sz="1400" dirty="0">
              <a:solidFill>
                <a:sysClr val="windowText" lastClr="000000"/>
              </a:solidFill>
              <a:cs typeface="+mn-ea"/>
              <a:sym typeface="+mn-lt"/>
            </a:endParaRPr>
          </a:p>
          <a:p>
            <a:pPr algn="l">
              <a:lnSpc>
                <a:spcPct val="130000"/>
              </a:lnSpc>
              <a:buClrTx/>
              <a:buSzTx/>
              <a:buFontTx/>
            </a:pPr>
            <a:r>
              <a:rPr lang="zh-CN" altLang="en-US" sz="1400" dirty="0">
                <a:solidFill>
                  <a:sysClr val="windowText" lastClr="000000"/>
                </a:solidFill>
                <a:cs typeface="+mn-ea"/>
                <a:sym typeface="+mn-lt"/>
              </a:rPr>
              <a:t> </a:t>
            </a:r>
            <a:r>
              <a:rPr lang="en-US" altLang="zh-CN" sz="1400" dirty="0">
                <a:solidFill>
                  <a:sysClr val="windowText" lastClr="000000"/>
                </a:solidFill>
                <a:cs typeface="+mn-ea"/>
                <a:sym typeface="+mn-lt"/>
              </a:rPr>
              <a:t>4</a:t>
            </a:r>
            <a:r>
              <a:rPr lang="zh-CN" altLang="en-US" sz="1400" dirty="0">
                <a:solidFill>
                  <a:sysClr val="windowText" lastClr="000000"/>
                </a:solidFill>
                <a:cs typeface="+mn-ea"/>
                <a:sym typeface="+mn-lt"/>
              </a:rPr>
              <a:t>、银行提供多种基金，客户根据基金的信息（包括基金编号，基金名称，基金类型，风险等级和基金管理者）购买理财产品，一个客户可以购买多种基金，不同的基金有不同的基金金额。</a:t>
            </a:r>
            <a:endParaRPr lang="zh-CN" altLang="en-US" sz="1400" dirty="0">
              <a:solidFill>
                <a:sysClr val="windowText" lastClr="000000"/>
              </a:solidFill>
              <a:cs typeface="+mn-ea"/>
              <a:sym typeface="+mn-lt"/>
            </a:endParaRPr>
          </a:p>
          <a:p>
            <a:pPr algn="l">
              <a:lnSpc>
                <a:spcPct val="130000"/>
              </a:lnSpc>
              <a:buClrTx/>
              <a:buSzTx/>
              <a:buFontTx/>
            </a:pPr>
            <a:r>
              <a:rPr lang="zh-CN" altLang="en-US" sz="1400" dirty="0">
                <a:solidFill>
                  <a:sysClr val="windowText" lastClr="000000"/>
                </a:solidFill>
                <a:cs typeface="+mn-ea"/>
                <a:sym typeface="+mn-lt"/>
              </a:rPr>
              <a:t></a:t>
            </a:r>
            <a:r>
              <a:rPr lang="en-US" altLang="zh-CN" sz="1400" dirty="0">
                <a:solidFill>
                  <a:sysClr val="windowText" lastClr="000000"/>
                </a:solidFill>
                <a:cs typeface="+mn-ea"/>
                <a:sym typeface="+mn-lt"/>
              </a:rPr>
              <a:t>5</a:t>
            </a:r>
            <a:r>
              <a:rPr lang="zh-CN" altLang="en-US" sz="1400" dirty="0">
                <a:solidFill>
                  <a:sysClr val="windowText" lastClr="000000"/>
                </a:solidFill>
                <a:cs typeface="+mn-ea"/>
                <a:sym typeface="+mn-lt"/>
              </a:rPr>
              <a:t>、 客户购买银行产品（理财产品、保险、基金）成为自己的资产后，需要记录这些资产的状态（可用，冻结），每个资产的购买数量，每个资产的收益和购买时间。</a:t>
            </a:r>
            <a:endParaRPr lang="zh-CN" altLang="en-US" sz="1400" dirty="0">
              <a:solidFill>
                <a:sysClr val="windowText" lastClr="00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4268470" cy="520700"/>
          </a:xfrm>
          <a:prstGeom prst="rect">
            <a:avLst/>
          </a:prstGeom>
          <a:noFill/>
          <a:ln>
            <a:solidFill>
              <a:srgbClr val="FFFFFF">
                <a:alpha val="45882"/>
              </a:srgbClr>
            </a:solidFill>
          </a:ln>
        </p:spPr>
        <p:txBody>
          <a:bodyPr wrap="square" lIns="91438" tIns="45719" rIns="91438" bIns="45719" rtlCol="0">
            <a:spAutoFit/>
          </a:bodyPr>
          <a:lstStyle/>
          <a:p>
            <a:pPr algn="l"/>
            <a:r>
              <a:rPr lang="zh-CN" altLang="en-US" sz="2800" b="1" dirty="0">
                <a:solidFill>
                  <a:schemeClr val="bg1"/>
                </a:solidFill>
                <a:cs typeface="+mn-ea"/>
                <a:sym typeface="+mn-lt"/>
              </a:rPr>
              <a:t>数据库设计</a:t>
            </a:r>
            <a:r>
              <a:rPr lang="en-US" altLang="zh-CN" sz="2800" b="1" dirty="0">
                <a:solidFill>
                  <a:schemeClr val="bg1"/>
                </a:solidFill>
                <a:cs typeface="+mn-ea"/>
                <a:sym typeface="+mn-lt"/>
              </a:rPr>
              <a:t>-</a:t>
            </a:r>
            <a:r>
              <a:rPr lang="zh-CN" altLang="en-US" sz="2800" b="1" dirty="0">
                <a:solidFill>
                  <a:schemeClr val="bg1"/>
                </a:solidFill>
                <a:cs typeface="+mn-ea"/>
                <a:sym typeface="+mn-lt"/>
              </a:rPr>
              <a:t>需求</a:t>
            </a:r>
            <a:r>
              <a:rPr lang="zh-CN" altLang="en-US" sz="2800" b="1" dirty="0">
                <a:solidFill>
                  <a:schemeClr val="bg1"/>
                </a:solidFill>
                <a:cs typeface="+mn-ea"/>
                <a:sym typeface="+mn-lt"/>
              </a:rPr>
              <a:t>分析</a:t>
            </a:r>
            <a:endParaRPr lang="zh-CN" altLang="en-US" sz="2800" b="1" dirty="0">
              <a:solidFill>
                <a:schemeClr val="bg1"/>
              </a:solidFill>
              <a:cs typeface="+mn-ea"/>
              <a:sym typeface="+mn-lt"/>
            </a:endParaRPr>
          </a:p>
        </p:txBody>
      </p:sp>
    </p:spTree>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229235" y="771525"/>
            <a:ext cx="8670925" cy="1809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1600" dirty="0">
                <a:solidFill>
                  <a:sysClr val="windowText" lastClr="000000"/>
                </a:solidFill>
                <a:cs typeface="+mn-ea"/>
                <a:sym typeface="+mn-lt"/>
              </a:rPr>
              <a:t>例</a:t>
            </a:r>
            <a:r>
              <a:rPr lang="en-US" altLang="zh-CN" sz="1600" dirty="0">
                <a:solidFill>
                  <a:sysClr val="windowText" lastClr="000000"/>
                </a:solidFill>
                <a:cs typeface="+mn-ea"/>
                <a:sym typeface="+mn-lt"/>
              </a:rPr>
              <a:t>1</a:t>
            </a:r>
            <a:r>
              <a:rPr lang="zh-CN" altLang="en-US" sz="1600" dirty="0">
                <a:solidFill>
                  <a:sysClr val="windowText" lastClr="000000"/>
                </a:solidFill>
                <a:cs typeface="+mn-ea"/>
                <a:sym typeface="+mn-lt"/>
              </a:rPr>
              <a:t>：某银行建设金融管理系统</a:t>
            </a:r>
            <a:endParaRPr lang="zh-CN" altLang="en-US" sz="1600" dirty="0">
              <a:solidFill>
                <a:sysClr val="windowText" lastClr="000000"/>
              </a:solidFill>
              <a:cs typeface="+mn-ea"/>
              <a:sym typeface="+mn-lt"/>
            </a:endParaRPr>
          </a:p>
          <a:p>
            <a:pPr algn="l">
              <a:lnSpc>
                <a:spcPct val="130000"/>
              </a:lnSpc>
              <a:buClrTx/>
              <a:buSzTx/>
              <a:buFontTx/>
            </a:pPr>
            <a:r>
              <a:rPr lang="zh-CN" altLang="en-US" sz="1400" dirty="0">
                <a:solidFill>
                  <a:sysClr val="windowText" lastClr="000000"/>
                </a:solidFill>
                <a:cs typeface="+mn-ea"/>
                <a:sym typeface="+mn-lt"/>
              </a:rPr>
              <a:t>概念结构设计：</a:t>
            </a:r>
            <a:endParaRPr lang="zh-CN" altLang="en-US" sz="1400" dirty="0">
              <a:solidFill>
                <a:sysClr val="windowText" lastClr="000000"/>
              </a:solidFill>
              <a:cs typeface="+mn-ea"/>
              <a:sym typeface="+mn-lt"/>
            </a:endParaRPr>
          </a:p>
          <a:p>
            <a:pPr algn="l">
              <a:lnSpc>
                <a:spcPct val="130000"/>
              </a:lnSpc>
              <a:buClrTx/>
              <a:buSzTx/>
              <a:buFontTx/>
            </a:pPr>
            <a:r>
              <a:rPr lang="zh-CN" altLang="en-US" sz="1400" dirty="0">
                <a:solidFill>
                  <a:sysClr val="windowText" lastClr="000000"/>
                </a:solidFill>
                <a:cs typeface="+mn-ea"/>
                <a:sym typeface="+mn-lt"/>
              </a:rPr>
              <a:t> </a:t>
            </a:r>
            <a:r>
              <a:rPr lang="zh-CN" sz="1400" dirty="0">
                <a:solidFill>
                  <a:sysClr val="windowText" lastClr="000000"/>
                </a:solidFill>
                <a:cs typeface="+mn-ea"/>
                <a:sym typeface="+mn-lt"/>
              </a:rPr>
              <a:t>根据需求分析，系统实体</a:t>
            </a:r>
            <a:r>
              <a:rPr sz="1400" dirty="0">
                <a:solidFill>
                  <a:sysClr val="windowText" lastClr="000000"/>
                </a:solidFill>
                <a:cs typeface="+mn-ea"/>
                <a:sym typeface="+mn-lt"/>
              </a:rPr>
              <a:t>对象</a:t>
            </a:r>
            <a:r>
              <a:rPr lang="zh-CN" sz="1400" dirty="0">
                <a:solidFill>
                  <a:sysClr val="windowText" lastClr="000000"/>
                </a:solidFill>
                <a:cs typeface="+mn-ea"/>
                <a:sym typeface="+mn-lt"/>
              </a:rPr>
              <a:t>主要有：</a:t>
            </a:r>
            <a:r>
              <a:rPr sz="1400" dirty="0">
                <a:solidFill>
                  <a:sysClr val="windowText" lastClr="000000"/>
                </a:solidFill>
                <a:cs typeface="+mn-ea"/>
                <a:sym typeface="+mn-lt"/>
              </a:rPr>
              <a:t>客户、银行卡、理财产品、保险、基金和资产。</a:t>
            </a:r>
            <a:endParaRPr sz="1400" dirty="0">
              <a:solidFill>
                <a:sysClr val="windowText" lastClr="000000"/>
              </a:solidFill>
              <a:cs typeface="+mn-ea"/>
              <a:sym typeface="+mn-lt"/>
            </a:endParaRPr>
          </a:p>
          <a:p>
            <a:pPr algn="l">
              <a:lnSpc>
                <a:spcPct val="130000"/>
              </a:lnSpc>
              <a:buClrTx/>
              <a:buSzTx/>
              <a:buFontTx/>
            </a:pPr>
            <a:r>
              <a:rPr lang="zh-CN" sz="1400" dirty="0">
                <a:solidFill>
                  <a:sysClr val="windowText" lastClr="000000"/>
                </a:solidFill>
                <a:cs typeface="+mn-ea"/>
                <a:sym typeface="+mn-lt"/>
              </a:rPr>
              <a:t>这些实体</a:t>
            </a:r>
            <a:r>
              <a:rPr sz="1400" dirty="0">
                <a:solidFill>
                  <a:sysClr val="windowText" lastClr="000000"/>
                </a:solidFill>
                <a:cs typeface="+mn-ea"/>
                <a:sym typeface="+mn-lt"/>
              </a:rPr>
              <a:t>存在着以下关系：客户可以办理银行卡，同时客户可以购买不同的银行产品，如资产，理财产品，基金和保险。那么，根据</a:t>
            </a:r>
            <a:r>
              <a:rPr lang="zh-CN" sz="1400" dirty="0">
                <a:solidFill>
                  <a:sysClr val="windowText" lastClr="000000"/>
                </a:solidFill>
                <a:cs typeface="+mn-ea"/>
                <a:sym typeface="+mn-lt"/>
              </a:rPr>
              <a:t>实体</a:t>
            </a:r>
            <a:r>
              <a:rPr sz="1400" dirty="0">
                <a:solidFill>
                  <a:sysClr val="windowText" lastClr="000000"/>
                </a:solidFill>
                <a:cs typeface="+mn-ea"/>
                <a:sym typeface="+mn-lt"/>
              </a:rPr>
              <a:t>关系，</a:t>
            </a:r>
            <a:r>
              <a:rPr lang="zh-CN" sz="1400" dirty="0">
                <a:solidFill>
                  <a:sysClr val="windowText" lastClr="000000"/>
                </a:solidFill>
                <a:cs typeface="+mn-ea"/>
                <a:sym typeface="+mn-lt"/>
              </a:rPr>
              <a:t>系统</a:t>
            </a:r>
            <a:r>
              <a:rPr sz="1400" dirty="0">
                <a:solidFill>
                  <a:sysClr val="windowText" lastClr="000000"/>
                </a:solidFill>
                <a:cs typeface="+mn-ea"/>
                <a:sym typeface="+mn-lt"/>
              </a:rPr>
              <a:t>ER 图</a:t>
            </a:r>
            <a:r>
              <a:rPr lang="zh-CN" sz="1400" dirty="0">
                <a:solidFill>
                  <a:sysClr val="windowText" lastClr="000000"/>
                </a:solidFill>
                <a:cs typeface="+mn-ea"/>
                <a:sym typeface="+mn-lt"/>
              </a:rPr>
              <a:t>如下：</a:t>
            </a:r>
            <a:endParaRPr lang="zh-CN" sz="1400" dirty="0">
              <a:solidFill>
                <a:sysClr val="windowText" lastClr="000000"/>
              </a:solidFill>
              <a:cs typeface="+mn-ea"/>
              <a:sym typeface="+mn-lt"/>
            </a:endParaRPr>
          </a:p>
          <a:p>
            <a:pPr algn="l">
              <a:lnSpc>
                <a:spcPct val="130000"/>
              </a:lnSpc>
              <a:buClrTx/>
              <a:buSzTx/>
              <a:buFontTx/>
            </a:pPr>
            <a:endParaRPr lang="zh-CN" sz="1400" dirty="0">
              <a:solidFill>
                <a:sysClr val="windowText" lastClr="00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4268470" cy="520700"/>
          </a:xfrm>
          <a:prstGeom prst="rect">
            <a:avLst/>
          </a:prstGeom>
          <a:noFill/>
          <a:ln>
            <a:solidFill>
              <a:srgbClr val="FFFFFF">
                <a:alpha val="45882"/>
              </a:srgbClr>
            </a:solidFill>
          </a:ln>
        </p:spPr>
        <p:txBody>
          <a:bodyPr wrap="square" lIns="91438" tIns="45719" rIns="91438" bIns="45719" rtlCol="0">
            <a:spAutoFit/>
          </a:bodyPr>
          <a:lstStyle/>
          <a:p>
            <a:pPr algn="l"/>
            <a:r>
              <a:rPr lang="zh-CN" altLang="en-US" sz="2800" b="1" dirty="0">
                <a:solidFill>
                  <a:schemeClr val="bg1"/>
                </a:solidFill>
                <a:cs typeface="+mn-ea"/>
                <a:sym typeface="+mn-lt"/>
              </a:rPr>
              <a:t>数据库设计</a:t>
            </a:r>
            <a:r>
              <a:rPr lang="en-US" altLang="zh-CN" sz="2800" b="1" dirty="0">
                <a:solidFill>
                  <a:schemeClr val="bg1"/>
                </a:solidFill>
                <a:cs typeface="+mn-ea"/>
                <a:sym typeface="+mn-lt"/>
              </a:rPr>
              <a:t>-</a:t>
            </a:r>
            <a:r>
              <a:rPr lang="zh-CN" altLang="en-US" sz="2800" b="1" dirty="0">
                <a:solidFill>
                  <a:schemeClr val="bg1"/>
                </a:solidFill>
                <a:cs typeface="+mn-ea"/>
                <a:sym typeface="+mn-lt"/>
              </a:rPr>
              <a:t>概念</a:t>
            </a:r>
            <a:r>
              <a:rPr lang="zh-CN" altLang="en-US" sz="2800" b="1" dirty="0">
                <a:solidFill>
                  <a:schemeClr val="bg1"/>
                </a:solidFill>
                <a:cs typeface="+mn-ea"/>
                <a:sym typeface="+mn-lt"/>
              </a:rPr>
              <a:t>结构设计</a:t>
            </a:r>
            <a:endParaRPr lang="zh-CN" altLang="en-US" sz="2800" b="1" dirty="0">
              <a:solidFill>
                <a:schemeClr val="bg1"/>
              </a:solidFill>
              <a:cs typeface="+mn-ea"/>
              <a:sym typeface="+mn-lt"/>
            </a:endParaRPr>
          </a:p>
        </p:txBody>
      </p:sp>
      <p:pic>
        <p:nvPicPr>
          <p:cNvPr id="2" name="图片 1"/>
          <p:cNvPicPr>
            <a:picLocks noChangeAspect="1"/>
          </p:cNvPicPr>
          <p:nvPr/>
        </p:nvPicPr>
        <p:blipFill>
          <a:blip r:embed="rId1"/>
          <a:stretch>
            <a:fillRect/>
          </a:stretch>
        </p:blipFill>
        <p:spPr>
          <a:xfrm>
            <a:off x="5003800" y="2139315"/>
            <a:ext cx="3425190" cy="2503805"/>
          </a:xfrm>
          <a:prstGeom prst="rect">
            <a:avLst/>
          </a:prstGeom>
        </p:spPr>
      </p:pic>
    </p:spTree>
  </p:cSld>
  <p:clrMapOvr>
    <a:masterClrMapping/>
  </p:clrMapOvr>
  <p:transition spd="slow">
    <p:wip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251460" y="771525"/>
            <a:ext cx="8728075" cy="4570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sz="1600" dirty="0">
                <a:solidFill>
                  <a:sysClr val="windowText" lastClr="000000"/>
                </a:solidFill>
                <a:cs typeface="+mn-ea"/>
                <a:sym typeface="+mn-lt"/>
              </a:rPr>
              <a:t>逻辑结构设计的任务：将概念结构转换成特定DBMS所支持的数据模型的过程。</a:t>
            </a:r>
            <a:endParaRPr sz="1600" dirty="0">
              <a:solidFill>
                <a:sysClr val="windowText" lastClr="000000"/>
              </a:solidFill>
              <a:cs typeface="+mn-ea"/>
              <a:sym typeface="+mn-lt"/>
            </a:endParaRPr>
          </a:p>
          <a:p>
            <a:pPr>
              <a:lnSpc>
                <a:spcPct val="130000"/>
              </a:lnSpc>
            </a:pPr>
            <a:endParaRPr sz="1600" dirty="0">
              <a:solidFill>
                <a:sysClr val="windowText" lastClr="000000"/>
              </a:solidFill>
              <a:cs typeface="+mn-ea"/>
              <a:sym typeface="+mn-lt"/>
            </a:endParaRPr>
          </a:p>
          <a:p>
            <a:pPr marL="0" lvl="1">
              <a:lnSpc>
                <a:spcPct val="130000"/>
              </a:lnSpc>
            </a:pPr>
            <a:r>
              <a:rPr lang="zh-CN" altLang="en-US" sz="1600" dirty="0">
                <a:sym typeface="+mn-ea"/>
              </a:rPr>
              <a:t>将</a:t>
            </a:r>
            <a:r>
              <a:rPr lang="en-US" altLang="zh-CN" sz="1600" dirty="0">
                <a:sym typeface="+mn-ea"/>
              </a:rPr>
              <a:t>E-R</a:t>
            </a:r>
            <a:r>
              <a:rPr lang="zh-CN" altLang="en-US" sz="1600" dirty="0">
                <a:sym typeface="+mn-ea"/>
              </a:rPr>
              <a:t>图转换为关系模型：</a:t>
            </a:r>
            <a:r>
              <a:rPr lang="zh-CN" altLang="en-US" sz="1600" dirty="0">
                <a:solidFill>
                  <a:srgbClr val="FF0000"/>
                </a:solidFill>
                <a:sym typeface="+mn-ea"/>
              </a:rPr>
              <a:t>将实体型、实体的属性和实体型之间的联系转化为关系模式。</a:t>
            </a:r>
            <a:endParaRPr lang="zh-CN" altLang="en-US" sz="1600" dirty="0">
              <a:solidFill>
                <a:srgbClr val="FF0000"/>
              </a:solidFill>
              <a:sym typeface="+mn-ea"/>
            </a:endParaRPr>
          </a:p>
          <a:p>
            <a:pPr marL="0" lvl="1">
              <a:lnSpc>
                <a:spcPct val="130000"/>
              </a:lnSpc>
            </a:pPr>
            <a:r>
              <a:rPr lang="zh-CN" altLang="en-US" sz="1600" dirty="0">
                <a:sym typeface="+mn-ea"/>
              </a:rPr>
              <a:t>转换规则：</a:t>
            </a:r>
            <a:endParaRPr lang="en-US" altLang="zh-CN" sz="1600" dirty="0">
              <a:sym typeface="+mn-ea"/>
            </a:endParaRPr>
          </a:p>
          <a:p>
            <a:pPr marL="0" lvl="1" algn="l">
              <a:lnSpc>
                <a:spcPct val="130000"/>
              </a:lnSpc>
              <a:buClrTx/>
              <a:buSzTx/>
              <a:buFontTx/>
            </a:pPr>
            <a:r>
              <a:rPr lang="zh-CN" altLang="en-US" sz="1600" b="1" kern="0" noProof="0" dirty="0" smtClean="0">
                <a:ln>
                  <a:noFill/>
                </a:ln>
                <a:effectLst/>
                <a:uLnTx/>
                <a:uFillTx/>
                <a:cs typeface="+mn-ea"/>
                <a:sym typeface="+mn-ea"/>
              </a:rPr>
              <a:t>1. 一个实体型转换为一个关系模式。</a:t>
            </a:r>
            <a:endParaRPr lang="zh-CN" altLang="en-US" sz="1600" b="1" kern="0" noProof="0" dirty="0" smtClean="0">
              <a:ln>
                <a:noFill/>
              </a:ln>
              <a:effectLst/>
              <a:uLnTx/>
              <a:uFillTx/>
              <a:cs typeface="+mn-ea"/>
              <a:sym typeface="+mn-ea"/>
            </a:endParaRPr>
          </a:p>
          <a:p>
            <a:pPr marL="0" lvl="1" algn="l">
              <a:lnSpc>
                <a:spcPct val="130000"/>
              </a:lnSpc>
              <a:buClrTx/>
              <a:buSzTx/>
              <a:buFontTx/>
            </a:pPr>
            <a:r>
              <a:rPr lang="zh-CN" altLang="en-US" sz="1600" b="1" kern="0" noProof="0" dirty="0" smtClean="0">
                <a:ln>
                  <a:noFill/>
                </a:ln>
                <a:effectLst/>
                <a:uLnTx/>
                <a:uFillTx/>
                <a:cs typeface="+mn-ea"/>
                <a:sym typeface="+mn-ea"/>
              </a:rPr>
              <a:t>2.一个1:1联系可以转换为一个独立的关系模式，也可以与任意一端对应的关系模式合并。</a:t>
            </a:r>
            <a:endParaRPr lang="zh-CN" altLang="en-US" sz="1600" b="1" kern="0" noProof="0" dirty="0" smtClean="0">
              <a:ln>
                <a:noFill/>
              </a:ln>
              <a:effectLst/>
              <a:uLnTx/>
              <a:uFillTx/>
              <a:cs typeface="+mn-ea"/>
              <a:sym typeface="+mn-ea"/>
            </a:endParaRPr>
          </a:p>
          <a:p>
            <a:pPr marL="0" lvl="1" algn="l">
              <a:lnSpc>
                <a:spcPct val="130000"/>
              </a:lnSpc>
              <a:buClrTx/>
              <a:buSzTx/>
              <a:buFontTx/>
            </a:pPr>
            <a:r>
              <a:rPr lang="zh-CN" altLang="en-US" sz="1600" b="1" kern="0" noProof="0" dirty="0" smtClean="0">
                <a:ln>
                  <a:noFill/>
                </a:ln>
                <a:effectLst/>
                <a:uLnTx/>
                <a:uFillTx/>
                <a:cs typeface="+mn-ea"/>
                <a:sym typeface="+mn-ea"/>
              </a:rPr>
              <a:t>3.一个1:n联系可以转换为一个独立的关系模式，也可以与n端对应的关系模式合并。</a:t>
            </a:r>
            <a:endParaRPr lang="zh-CN" altLang="en-US" sz="1600" b="1" kern="0" noProof="0" dirty="0" smtClean="0">
              <a:ln>
                <a:noFill/>
              </a:ln>
              <a:effectLst/>
              <a:uLnTx/>
              <a:uFillTx/>
              <a:cs typeface="+mn-ea"/>
            </a:endParaRPr>
          </a:p>
          <a:p>
            <a:pPr marL="0" lvl="1" algn="l">
              <a:lnSpc>
                <a:spcPct val="130000"/>
              </a:lnSpc>
              <a:buClrTx/>
              <a:buSzTx/>
              <a:buFontTx/>
            </a:pPr>
            <a:r>
              <a:rPr lang="zh-CN" altLang="en-US" sz="1600" b="1" kern="0" noProof="0" dirty="0" smtClean="0">
                <a:ln>
                  <a:noFill/>
                </a:ln>
                <a:effectLst/>
                <a:uLnTx/>
                <a:uFillTx/>
                <a:cs typeface="+mn-ea"/>
                <a:sym typeface="+mn-ea"/>
              </a:rPr>
              <a:t>4.一个</a:t>
            </a:r>
            <a:r>
              <a:rPr lang="zh-CN" altLang="en-US" sz="1600" b="1" kern="0" noProof="0" dirty="0" smtClean="0">
                <a:ln>
                  <a:noFill/>
                </a:ln>
                <a:effectLst/>
                <a:uLnTx/>
                <a:uFillTx/>
                <a:cs typeface="+mn-ea"/>
                <a:sym typeface="+mn-ea"/>
              </a:rPr>
              <a:t>m:n联系转换为一个关系模式</a:t>
            </a:r>
            <a:endParaRPr lang="zh-CN" altLang="en-US" sz="1600" b="1" kern="0" noProof="0" dirty="0" smtClean="0">
              <a:ln>
                <a:noFill/>
              </a:ln>
              <a:effectLst/>
              <a:uLnTx/>
              <a:uFillTx/>
              <a:cs typeface="+mn-ea"/>
              <a:sym typeface="+mn-ea"/>
            </a:endParaRPr>
          </a:p>
          <a:p>
            <a:pPr marL="0" lvl="1" algn="l">
              <a:lnSpc>
                <a:spcPct val="130000"/>
              </a:lnSpc>
              <a:buClrTx/>
              <a:buSzTx/>
              <a:buFontTx/>
            </a:pPr>
            <a:r>
              <a:rPr lang="zh-CN" altLang="en-US" sz="1600" b="1" kern="0" noProof="0" dirty="0" smtClean="0">
                <a:ln>
                  <a:noFill/>
                </a:ln>
                <a:effectLst/>
                <a:uLnTx/>
                <a:uFillTx/>
                <a:cs typeface="+mn-ea"/>
                <a:sym typeface="+mn-ea"/>
              </a:rPr>
              <a:t>5.三个或三个以上实体间的一个多元联系转换为一个关系模式。</a:t>
            </a:r>
            <a:endParaRPr lang="zh-CN" altLang="en-US" sz="1600" b="1" kern="0" noProof="0" dirty="0" smtClean="0">
              <a:ln>
                <a:noFill/>
              </a:ln>
              <a:effectLst/>
              <a:uLnTx/>
              <a:uFillTx/>
              <a:cs typeface="+mn-ea"/>
              <a:sym typeface="+mn-ea"/>
            </a:endParaRPr>
          </a:p>
          <a:p>
            <a:pPr marL="0" lvl="1" algn="l">
              <a:lnSpc>
                <a:spcPct val="130000"/>
              </a:lnSpc>
              <a:buClrTx/>
              <a:buSzTx/>
              <a:buFontTx/>
            </a:pPr>
            <a:r>
              <a:rPr lang="zh-CN" altLang="en-US" sz="1600" b="1" kern="0" noProof="0" dirty="0" smtClean="0">
                <a:ln>
                  <a:noFill/>
                </a:ln>
                <a:effectLst/>
                <a:uLnTx/>
                <a:uFillTx/>
                <a:cs typeface="+mn-ea"/>
                <a:sym typeface="+mn-ea"/>
              </a:rPr>
              <a:t>6.具有相同码的关系模式可合并</a:t>
            </a:r>
            <a:endParaRPr kumimoji="0" lang="zh-CN" altLang="en-US" sz="1600" b="1" i="0" u="none" strike="noStrike" kern="0" cap="none" spc="0" normalizeH="0" baseline="0" noProof="0" dirty="0" smtClean="0">
              <a:ln>
                <a:noFill/>
              </a:ln>
              <a:solidFill>
                <a:schemeClr val="tx1"/>
              </a:solidFill>
              <a:effectLst/>
              <a:uLnTx/>
              <a:uFillTx/>
              <a:latin typeface="+mn-lt"/>
              <a:ea typeface="+mn-ea"/>
              <a:cs typeface="+mn-ea"/>
            </a:endParaRPr>
          </a:p>
          <a:p>
            <a:pPr marL="0" lvl="1">
              <a:lnSpc>
                <a:spcPct val="130000"/>
              </a:lnSpc>
            </a:pPr>
            <a:endParaRPr kumimoji="0" lang="zh-CN" altLang="en-US" sz="1600" b="1" i="0" u="none" strike="noStrike" kern="0" cap="none" spc="0" normalizeH="0" baseline="0" noProof="0" dirty="0" smtClean="0">
              <a:ln>
                <a:noFill/>
              </a:ln>
              <a:solidFill>
                <a:schemeClr val="tx1"/>
              </a:solidFill>
              <a:effectLst/>
              <a:uLnTx/>
              <a:uFillTx/>
              <a:latin typeface="+mn-lt"/>
              <a:ea typeface="+mn-ea"/>
              <a:cs typeface="+mn-ea"/>
            </a:endParaRPr>
          </a:p>
          <a:p>
            <a:pPr marL="0" lvl="1">
              <a:lnSpc>
                <a:spcPct val="130000"/>
              </a:lnSpc>
            </a:pPr>
            <a:endParaRPr lang="zh-CN" altLang="en-US" sz="1600" dirty="0"/>
          </a:p>
          <a:p>
            <a:pPr marL="0" lvl="1">
              <a:lnSpc>
                <a:spcPct val="130000"/>
              </a:lnSpc>
            </a:pPr>
            <a:endParaRPr lang="zh-CN" altLang="en-US" sz="1600" dirty="0">
              <a:solidFill>
                <a:srgbClr val="FF0000"/>
              </a:solidFill>
            </a:endParaRPr>
          </a:p>
          <a:p>
            <a:pPr>
              <a:lnSpc>
                <a:spcPct val="130000"/>
              </a:lnSpc>
            </a:pPr>
            <a:endParaRPr lang="zh-CN" altLang="en-US" sz="1600" dirty="0">
              <a:solidFill>
                <a:srgbClr val="FF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5022850" cy="520700"/>
          </a:xfrm>
          <a:prstGeom prst="rect">
            <a:avLst/>
          </a:prstGeom>
          <a:noFill/>
          <a:ln>
            <a:solidFill>
              <a:srgbClr val="FFFFFF">
                <a:alpha val="45882"/>
              </a:srgbClr>
            </a:solidFill>
          </a:ln>
        </p:spPr>
        <p:txBody>
          <a:bodyPr wrap="square" lIns="91438" tIns="45719" rIns="91438" bIns="45719" rtlCol="0">
            <a:spAutoFit/>
          </a:bodyPr>
          <a:lstStyle/>
          <a:p>
            <a:pPr algn="l"/>
            <a:r>
              <a:rPr lang="zh-CN" altLang="en-US" sz="2800" b="1" dirty="0">
                <a:solidFill>
                  <a:schemeClr val="bg1"/>
                </a:solidFill>
                <a:cs typeface="+mn-ea"/>
                <a:sym typeface="+mn-lt"/>
              </a:rPr>
              <a:t>数据库设计</a:t>
            </a:r>
            <a:r>
              <a:rPr lang="en-US" altLang="zh-CN" sz="2800" b="1" dirty="0">
                <a:solidFill>
                  <a:schemeClr val="bg1"/>
                </a:solidFill>
                <a:cs typeface="+mn-ea"/>
                <a:sym typeface="+mn-lt"/>
              </a:rPr>
              <a:t>-</a:t>
            </a:r>
            <a:r>
              <a:rPr lang="zh-CN" altLang="en-US" sz="2800" b="1" dirty="0">
                <a:solidFill>
                  <a:schemeClr val="bg1"/>
                </a:solidFill>
                <a:cs typeface="+mn-ea"/>
                <a:sym typeface="+mn-lt"/>
              </a:rPr>
              <a:t>逻辑</a:t>
            </a:r>
            <a:r>
              <a:rPr lang="zh-CN" altLang="en-US" sz="2800" b="1" dirty="0">
                <a:solidFill>
                  <a:schemeClr val="bg1"/>
                </a:solidFill>
                <a:cs typeface="+mn-ea"/>
                <a:sym typeface="+mn-lt"/>
              </a:rPr>
              <a:t>结构设计</a:t>
            </a:r>
            <a:endParaRPr lang="zh-CN" altLang="en-US" sz="2800" b="1" dirty="0">
              <a:solidFill>
                <a:schemeClr val="bg1"/>
              </a:solidFill>
              <a:cs typeface="+mn-ea"/>
              <a:sym typeface="+mn-lt"/>
            </a:endParaRPr>
          </a:p>
        </p:txBody>
      </p:sp>
    </p:spTree>
  </p:cSld>
  <p:clrMapOvr>
    <a:masterClrMapping/>
  </p:clrMapOvr>
  <p:transition spd="slow">
    <p:wip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251460" y="771525"/>
            <a:ext cx="8728075" cy="4250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sz="1600" dirty="0">
                <a:solidFill>
                  <a:sysClr val="windowText" lastClr="000000"/>
                </a:solidFill>
                <a:cs typeface="+mn-ea"/>
                <a:sym typeface="+mn-lt"/>
              </a:rPr>
              <a:t>逻辑结构设计的任务：将概念结构转换成特定DBMS所支持的数据模型的过程。</a:t>
            </a:r>
            <a:endParaRPr sz="1600" dirty="0">
              <a:solidFill>
                <a:sysClr val="windowText" lastClr="000000"/>
              </a:solidFill>
              <a:cs typeface="+mn-ea"/>
              <a:sym typeface="+mn-lt"/>
            </a:endParaRPr>
          </a:p>
          <a:p>
            <a:pPr>
              <a:lnSpc>
                <a:spcPct val="130000"/>
              </a:lnSpc>
            </a:pPr>
            <a:r>
              <a:rPr sz="1600" dirty="0">
                <a:solidFill>
                  <a:sysClr val="windowText" lastClr="000000"/>
                </a:solidFill>
                <a:cs typeface="+mn-ea"/>
                <a:sym typeface="+mn-lt"/>
              </a:rPr>
              <a:t>对于银行中的 5 个对象，分别建立属于每个对象的</a:t>
            </a:r>
            <a:r>
              <a:rPr lang="zh-CN" sz="1600" dirty="0">
                <a:solidFill>
                  <a:sysClr val="windowText" lastClr="000000"/>
                </a:solidFill>
                <a:cs typeface="+mn-ea"/>
                <a:sym typeface="+mn-lt"/>
              </a:rPr>
              <a:t>关系模式</a:t>
            </a:r>
            <a:r>
              <a:rPr sz="1600" dirty="0">
                <a:solidFill>
                  <a:sysClr val="windowText" lastClr="000000"/>
                </a:solidFill>
                <a:cs typeface="+mn-ea"/>
                <a:sym typeface="+mn-lt"/>
              </a:rPr>
              <a:t>，具体属性描述如下： </a:t>
            </a:r>
            <a:endParaRPr sz="1600" dirty="0">
              <a:solidFill>
                <a:sysClr val="windowText" lastClr="000000"/>
              </a:solidFill>
              <a:cs typeface="+mn-ea"/>
              <a:sym typeface="+mn-lt"/>
            </a:endParaRPr>
          </a:p>
          <a:p>
            <a:pPr>
              <a:lnSpc>
                <a:spcPct val="130000"/>
              </a:lnSpc>
            </a:pPr>
            <a:r>
              <a:rPr sz="1600" dirty="0">
                <a:solidFill>
                  <a:sysClr val="windowText" lastClr="000000"/>
                </a:solidFill>
                <a:cs typeface="+mn-ea"/>
                <a:sym typeface="+mn-lt"/>
              </a:rPr>
              <a:t>⚫ 客户（客户编号、客户名称、客户邮箱，客户身份证，客户手机号，客户登录密码） </a:t>
            </a:r>
            <a:endParaRPr sz="1600" dirty="0">
              <a:solidFill>
                <a:sysClr val="windowText" lastClr="000000"/>
              </a:solidFill>
              <a:cs typeface="+mn-ea"/>
              <a:sym typeface="+mn-lt"/>
            </a:endParaRPr>
          </a:p>
          <a:p>
            <a:pPr>
              <a:lnSpc>
                <a:spcPct val="130000"/>
              </a:lnSpc>
            </a:pPr>
            <a:r>
              <a:rPr sz="1600" dirty="0">
                <a:solidFill>
                  <a:sysClr val="windowText" lastClr="000000"/>
                </a:solidFill>
                <a:cs typeface="+mn-ea"/>
                <a:sym typeface="+mn-lt"/>
              </a:rPr>
              <a:t>⚫ 银行卡（银行卡号，银行卡类型</a:t>
            </a:r>
            <a:r>
              <a:rPr lang="zh-CN" sz="1600" dirty="0">
                <a:solidFill>
                  <a:sysClr val="windowText" lastClr="000000"/>
                </a:solidFill>
                <a:cs typeface="+mn-ea"/>
                <a:sym typeface="+mn-lt"/>
              </a:rPr>
              <a:t>，</a:t>
            </a:r>
            <a:r>
              <a:rPr sz="1600" u="sng" dirty="0">
                <a:solidFill>
                  <a:srgbClr val="FF0000"/>
                </a:solidFill>
                <a:cs typeface="+mn-ea"/>
                <a:sym typeface="+mn-lt"/>
              </a:rPr>
              <a:t>客户编号</a:t>
            </a:r>
            <a:r>
              <a:rPr sz="1600" dirty="0">
                <a:solidFill>
                  <a:sysClr val="windowText" lastClr="000000"/>
                </a:solidFill>
                <a:cs typeface="+mn-ea"/>
                <a:sym typeface="+mn-lt"/>
              </a:rPr>
              <a:t>） </a:t>
            </a:r>
            <a:endParaRPr sz="1600" dirty="0">
              <a:solidFill>
                <a:sysClr val="windowText" lastClr="000000"/>
              </a:solidFill>
              <a:cs typeface="+mn-ea"/>
              <a:sym typeface="+mn-lt"/>
            </a:endParaRPr>
          </a:p>
          <a:p>
            <a:pPr>
              <a:lnSpc>
                <a:spcPct val="130000"/>
              </a:lnSpc>
            </a:pPr>
            <a:r>
              <a:rPr sz="1600" dirty="0">
                <a:solidFill>
                  <a:sysClr val="windowText" lastClr="000000"/>
                </a:solidFill>
                <a:cs typeface="+mn-ea"/>
                <a:sym typeface="+mn-lt"/>
              </a:rPr>
              <a:t>⚫ 理财产品（产品名称，产品编号，产品描述，购买金额，理财年限） </a:t>
            </a:r>
            <a:endParaRPr sz="1600" dirty="0">
              <a:solidFill>
                <a:sysClr val="windowText" lastClr="000000"/>
              </a:solidFill>
              <a:cs typeface="+mn-ea"/>
              <a:sym typeface="+mn-lt"/>
            </a:endParaRPr>
          </a:p>
          <a:p>
            <a:pPr>
              <a:lnSpc>
                <a:spcPct val="130000"/>
              </a:lnSpc>
            </a:pPr>
            <a:r>
              <a:rPr sz="1600" dirty="0">
                <a:solidFill>
                  <a:sysClr val="windowText" lastClr="000000"/>
                </a:solidFill>
                <a:cs typeface="+mn-ea"/>
                <a:sym typeface="+mn-lt"/>
              </a:rPr>
              <a:t>⚫ 保险（保险名称，保险编号，保险金额，适用人群，保险年限，保障项目） </a:t>
            </a:r>
            <a:endParaRPr sz="1600" dirty="0">
              <a:solidFill>
                <a:sysClr val="windowText" lastClr="000000"/>
              </a:solidFill>
              <a:cs typeface="+mn-ea"/>
              <a:sym typeface="+mn-lt"/>
            </a:endParaRPr>
          </a:p>
          <a:p>
            <a:pPr>
              <a:lnSpc>
                <a:spcPct val="130000"/>
              </a:lnSpc>
            </a:pPr>
            <a:r>
              <a:rPr sz="1600" dirty="0">
                <a:solidFill>
                  <a:sysClr val="windowText" lastClr="000000"/>
                </a:solidFill>
                <a:cs typeface="+mn-ea"/>
                <a:sym typeface="+mn-lt"/>
              </a:rPr>
              <a:t>⚫ 基金（基金名称，基金编号，基金类型，基金金额，风险等级，基金管理者） </a:t>
            </a:r>
            <a:endParaRPr sz="1600" dirty="0">
              <a:solidFill>
                <a:sysClr val="windowText" lastClr="000000"/>
              </a:solidFill>
              <a:cs typeface="+mn-ea"/>
              <a:sym typeface="+mn-lt"/>
            </a:endParaRPr>
          </a:p>
          <a:p>
            <a:pPr>
              <a:lnSpc>
                <a:spcPct val="130000"/>
              </a:lnSpc>
            </a:pPr>
            <a:r>
              <a:rPr sz="1600" dirty="0">
                <a:solidFill>
                  <a:sysClr val="windowText" lastClr="000000"/>
                </a:solidFill>
                <a:cs typeface="+mn-ea"/>
                <a:sym typeface="+mn-lt"/>
              </a:rPr>
              <a:t>对象之间的关系： </a:t>
            </a:r>
            <a:endParaRPr sz="1600" dirty="0">
              <a:solidFill>
                <a:sysClr val="windowText" lastClr="000000"/>
              </a:solidFill>
              <a:cs typeface="+mn-ea"/>
              <a:sym typeface="+mn-lt"/>
            </a:endParaRPr>
          </a:p>
          <a:p>
            <a:pPr>
              <a:lnSpc>
                <a:spcPct val="130000"/>
              </a:lnSpc>
            </a:pPr>
            <a:r>
              <a:rPr sz="1600" dirty="0">
                <a:solidFill>
                  <a:sysClr val="windowText" lastClr="000000"/>
                </a:solidFill>
                <a:cs typeface="+mn-ea"/>
                <a:sym typeface="+mn-lt"/>
              </a:rPr>
              <a:t>⚫ 一个客户可以办理多张银行卡 </a:t>
            </a:r>
            <a:endParaRPr sz="1600" dirty="0">
              <a:solidFill>
                <a:sysClr val="windowText" lastClr="000000"/>
              </a:solidFill>
              <a:cs typeface="+mn-ea"/>
              <a:sym typeface="+mn-lt"/>
            </a:endParaRPr>
          </a:p>
          <a:p>
            <a:pPr>
              <a:lnSpc>
                <a:spcPct val="130000"/>
              </a:lnSpc>
            </a:pPr>
            <a:r>
              <a:rPr sz="1600" dirty="0">
                <a:solidFill>
                  <a:sysClr val="windowText" lastClr="000000"/>
                </a:solidFill>
                <a:cs typeface="+mn-ea"/>
                <a:sym typeface="+mn-lt"/>
              </a:rPr>
              <a:t>⚫ 一个客户可以购买多个理财产品，同一类理财产品可由多个客户购买 </a:t>
            </a:r>
            <a:endParaRPr sz="1600" dirty="0">
              <a:solidFill>
                <a:sysClr val="windowText" lastClr="000000"/>
              </a:solidFill>
              <a:cs typeface="+mn-ea"/>
              <a:sym typeface="+mn-lt"/>
            </a:endParaRPr>
          </a:p>
          <a:p>
            <a:pPr>
              <a:lnSpc>
                <a:spcPct val="130000"/>
              </a:lnSpc>
            </a:pPr>
            <a:r>
              <a:rPr sz="1600" dirty="0">
                <a:solidFill>
                  <a:sysClr val="windowText" lastClr="000000"/>
                </a:solidFill>
                <a:cs typeface="+mn-ea"/>
                <a:sym typeface="+mn-lt"/>
              </a:rPr>
              <a:t>⚫ 一个客户可以购买多个基金，同一类基金可由多个客户购买 </a:t>
            </a:r>
            <a:endParaRPr sz="1600" dirty="0">
              <a:solidFill>
                <a:sysClr val="windowText" lastClr="000000"/>
              </a:solidFill>
              <a:cs typeface="+mn-ea"/>
              <a:sym typeface="+mn-lt"/>
            </a:endParaRPr>
          </a:p>
          <a:p>
            <a:pPr>
              <a:lnSpc>
                <a:spcPct val="130000"/>
              </a:lnSpc>
            </a:pPr>
            <a:r>
              <a:rPr sz="1600" dirty="0">
                <a:solidFill>
                  <a:sysClr val="windowText" lastClr="000000"/>
                </a:solidFill>
                <a:cs typeface="+mn-ea"/>
                <a:sym typeface="+mn-lt"/>
              </a:rPr>
              <a:t>⚫ 一个客户可以购买多个保险，同一类保险可由多个客户购买 </a:t>
            </a:r>
            <a:endParaRPr sz="1600" dirty="0">
              <a:solidFill>
                <a:sysClr val="windowText" lastClr="000000"/>
              </a:solidFill>
              <a:cs typeface="+mn-ea"/>
              <a:sym typeface="+mn-lt"/>
            </a:endParaRPr>
          </a:p>
          <a:p>
            <a:pPr>
              <a:lnSpc>
                <a:spcPct val="130000"/>
              </a:lnSpc>
            </a:pPr>
            <a:r>
              <a:rPr lang="zh-CN" sz="1600" dirty="0">
                <a:solidFill>
                  <a:sysClr val="windowText" lastClr="000000"/>
                </a:solidFill>
                <a:cs typeface="+mn-ea"/>
                <a:sym typeface="+mn-lt"/>
              </a:rPr>
              <a:t>因此</a:t>
            </a:r>
            <a:r>
              <a:rPr lang="zh-CN" sz="1600" dirty="0">
                <a:solidFill>
                  <a:sysClr val="windowText" lastClr="000000"/>
                </a:solidFill>
                <a:cs typeface="+mn-ea"/>
                <a:sym typeface="+mn-lt"/>
              </a:rPr>
              <a:t>创建：资产（</a:t>
            </a:r>
            <a:r>
              <a:rPr lang="zh-CN" sz="1600" dirty="0">
                <a:solidFill>
                  <a:srgbClr val="FF0000"/>
                </a:solidFill>
                <a:cs typeface="+mn-ea"/>
                <a:sym typeface="+mn-lt"/>
              </a:rPr>
              <a:t>客户编号</a:t>
            </a:r>
            <a:r>
              <a:rPr lang="zh-CN" sz="1600" dirty="0">
                <a:solidFill>
                  <a:sysClr val="windowText" lastClr="000000"/>
                </a:solidFill>
                <a:cs typeface="+mn-ea"/>
                <a:sym typeface="+mn-lt"/>
              </a:rPr>
              <a:t>，</a:t>
            </a:r>
            <a:r>
              <a:rPr lang="zh-CN" sz="1600" dirty="0">
                <a:solidFill>
                  <a:srgbClr val="FF0000"/>
                </a:solidFill>
                <a:cs typeface="+mn-ea"/>
                <a:sym typeface="+mn-lt"/>
              </a:rPr>
              <a:t>资产编号</a:t>
            </a:r>
            <a:r>
              <a:rPr lang="zh-CN" sz="1600" dirty="0">
                <a:solidFill>
                  <a:sysClr val="windowText" lastClr="000000"/>
                </a:solidFill>
                <a:cs typeface="+mn-ea"/>
                <a:sym typeface="+mn-lt"/>
              </a:rPr>
              <a:t>，商品状态，商品数量，商品收益，购买</a:t>
            </a:r>
            <a:r>
              <a:rPr lang="zh-CN" sz="1600" dirty="0">
                <a:solidFill>
                  <a:sysClr val="windowText" lastClr="000000"/>
                </a:solidFill>
                <a:cs typeface="+mn-ea"/>
                <a:sym typeface="+mn-lt"/>
              </a:rPr>
              <a:t>时间）</a:t>
            </a:r>
            <a:endParaRPr lang="zh-CN" sz="1600" dirty="0">
              <a:solidFill>
                <a:sysClr val="windowText" lastClr="00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5022850" cy="520700"/>
          </a:xfrm>
          <a:prstGeom prst="rect">
            <a:avLst/>
          </a:prstGeom>
          <a:noFill/>
          <a:ln>
            <a:solidFill>
              <a:srgbClr val="FFFFFF">
                <a:alpha val="45882"/>
              </a:srgbClr>
            </a:solidFill>
          </a:ln>
        </p:spPr>
        <p:txBody>
          <a:bodyPr wrap="square" lIns="91438" tIns="45719" rIns="91438" bIns="45719" rtlCol="0">
            <a:spAutoFit/>
          </a:bodyPr>
          <a:lstStyle/>
          <a:p>
            <a:pPr algn="l"/>
            <a:r>
              <a:rPr lang="zh-CN" altLang="en-US" sz="2800" b="1" dirty="0">
                <a:solidFill>
                  <a:schemeClr val="bg1"/>
                </a:solidFill>
                <a:cs typeface="+mn-ea"/>
                <a:sym typeface="+mn-lt"/>
              </a:rPr>
              <a:t>数据库设计</a:t>
            </a:r>
            <a:r>
              <a:rPr lang="en-US" altLang="zh-CN" sz="2800" b="1" dirty="0">
                <a:solidFill>
                  <a:schemeClr val="bg1"/>
                </a:solidFill>
                <a:cs typeface="+mn-ea"/>
                <a:sym typeface="+mn-lt"/>
              </a:rPr>
              <a:t>-</a:t>
            </a:r>
            <a:r>
              <a:rPr lang="zh-CN" altLang="en-US" sz="2800" b="1" dirty="0">
                <a:solidFill>
                  <a:schemeClr val="bg1"/>
                </a:solidFill>
                <a:cs typeface="+mn-ea"/>
                <a:sym typeface="+mn-lt"/>
              </a:rPr>
              <a:t>逻辑</a:t>
            </a:r>
            <a:r>
              <a:rPr lang="zh-CN" altLang="en-US" sz="2800" b="1" dirty="0">
                <a:solidFill>
                  <a:schemeClr val="bg1"/>
                </a:solidFill>
                <a:cs typeface="+mn-ea"/>
                <a:sym typeface="+mn-lt"/>
              </a:rPr>
              <a:t>结构设计</a:t>
            </a:r>
            <a:endParaRPr lang="zh-CN" altLang="en-US" sz="2800" b="1" dirty="0">
              <a:solidFill>
                <a:schemeClr val="bg1"/>
              </a:solidFill>
              <a:cs typeface="+mn-ea"/>
              <a:sym typeface="+mn-lt"/>
            </a:endParaRPr>
          </a:p>
        </p:txBody>
      </p:sp>
      <p:pic>
        <p:nvPicPr>
          <p:cNvPr id="2" name="图片 1"/>
          <p:cNvPicPr>
            <a:picLocks noChangeAspect="1"/>
          </p:cNvPicPr>
          <p:nvPr/>
        </p:nvPicPr>
        <p:blipFill>
          <a:blip r:embed="rId1"/>
          <a:stretch>
            <a:fillRect/>
          </a:stretch>
        </p:blipFill>
        <p:spPr>
          <a:xfrm>
            <a:off x="6515735" y="1923415"/>
            <a:ext cx="2651125" cy="1938020"/>
          </a:xfrm>
          <a:prstGeom prst="rect">
            <a:avLst/>
          </a:prstGeom>
        </p:spPr>
      </p:pic>
    </p:spTree>
  </p:cSld>
  <p:clrMapOvr>
    <a:masterClrMapping/>
  </p:clrMapOvr>
  <p:transition spd="slow">
    <p:wip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229235" y="771525"/>
            <a:ext cx="7737475" cy="2971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1600" dirty="0">
                <a:solidFill>
                  <a:sysClr val="windowText" lastClr="000000"/>
                </a:solidFill>
                <a:cs typeface="+mn-ea"/>
                <a:sym typeface="+mn-lt"/>
              </a:rPr>
              <a:t>以采用如下几个</a:t>
            </a:r>
            <a:r>
              <a:rPr lang="zh-CN" altLang="en-US" sz="1600" dirty="0">
                <a:solidFill>
                  <a:sysClr val="windowText" lastClr="000000"/>
                </a:solidFill>
                <a:cs typeface="+mn-ea"/>
                <a:sym typeface="+mn-lt"/>
              </a:rPr>
              <a:t>步骤将 E-R 图生成数据库表。</a:t>
            </a:r>
            <a:endParaRPr lang="zh-CN" altLang="en-US" sz="1600" dirty="0">
              <a:solidFill>
                <a:sysClr val="windowText" lastClr="000000"/>
              </a:solidFill>
              <a:cs typeface="+mn-ea"/>
              <a:sym typeface="+mn-lt"/>
            </a:endParaRPr>
          </a:p>
          <a:p>
            <a:pPr>
              <a:lnSpc>
                <a:spcPct val="130000"/>
              </a:lnSpc>
            </a:pPr>
            <a:r>
              <a:rPr lang="zh-CN" altLang="en-US" sz="1600" dirty="0">
                <a:solidFill>
                  <a:sysClr val="windowText" lastClr="000000"/>
                </a:solidFill>
                <a:cs typeface="+mn-ea"/>
                <a:sym typeface="+mn-lt"/>
              </a:rPr>
              <a:t>(1）为 E-R图中的每个实体建立一张数据库表。</a:t>
            </a:r>
            <a:endParaRPr lang="zh-CN" altLang="en-US" sz="1600" dirty="0">
              <a:solidFill>
                <a:sysClr val="windowText" lastClr="000000"/>
              </a:solidFill>
              <a:cs typeface="+mn-ea"/>
              <a:sym typeface="+mn-lt"/>
            </a:endParaRPr>
          </a:p>
          <a:p>
            <a:pPr>
              <a:lnSpc>
                <a:spcPct val="130000"/>
              </a:lnSpc>
            </a:pPr>
            <a:r>
              <a:rPr lang="zh-CN" altLang="en-US" sz="1600" dirty="0">
                <a:solidFill>
                  <a:sysClr val="windowText" lastClr="000000"/>
                </a:solidFill>
                <a:cs typeface="+mn-ea"/>
                <a:sym typeface="+mn-lt"/>
              </a:rPr>
              <a:t>(2）为每张表定义一个主键（如果需要，可以向表中添加一个没有实际意义的字段作为该表的主键)。</a:t>
            </a:r>
            <a:endParaRPr lang="zh-CN" altLang="en-US" sz="1600" dirty="0">
              <a:solidFill>
                <a:sysClr val="windowText" lastClr="000000"/>
              </a:solidFill>
              <a:cs typeface="+mn-ea"/>
              <a:sym typeface="+mn-lt"/>
            </a:endParaRPr>
          </a:p>
          <a:p>
            <a:pPr>
              <a:lnSpc>
                <a:spcPct val="130000"/>
              </a:lnSpc>
            </a:pPr>
            <a:r>
              <a:rPr lang="zh-CN" altLang="en-US" sz="1600" dirty="0">
                <a:solidFill>
                  <a:sysClr val="windowText" lastClr="000000"/>
                </a:solidFill>
                <a:cs typeface="+mn-ea"/>
                <a:sym typeface="+mn-lt"/>
              </a:rPr>
              <a:t>(</a:t>
            </a:r>
            <a:r>
              <a:rPr lang="en-US" altLang="zh-CN" sz="1600" dirty="0">
                <a:solidFill>
                  <a:sysClr val="windowText" lastClr="000000"/>
                </a:solidFill>
                <a:cs typeface="+mn-ea"/>
                <a:sym typeface="+mn-lt"/>
              </a:rPr>
              <a:t>3</a:t>
            </a:r>
            <a:r>
              <a:rPr lang="zh-CN" altLang="en-US" sz="1600" dirty="0">
                <a:solidFill>
                  <a:sysClr val="windowText" lastClr="000000"/>
                </a:solidFill>
                <a:cs typeface="+mn-ea"/>
                <a:sym typeface="+mn-lt"/>
              </a:rPr>
              <a:t>）增加外键表示一对多关系。</a:t>
            </a:r>
            <a:endParaRPr lang="zh-CN" altLang="en-US" sz="1600" dirty="0">
              <a:solidFill>
                <a:sysClr val="windowText" lastClr="000000"/>
              </a:solidFill>
              <a:cs typeface="+mn-ea"/>
              <a:sym typeface="+mn-lt"/>
            </a:endParaRPr>
          </a:p>
          <a:p>
            <a:pPr>
              <a:lnSpc>
                <a:spcPct val="130000"/>
              </a:lnSpc>
            </a:pPr>
            <a:r>
              <a:rPr lang="zh-CN" altLang="en-US" sz="1600" dirty="0">
                <a:solidFill>
                  <a:sysClr val="windowText" lastClr="000000"/>
                </a:solidFill>
                <a:cs typeface="+mn-ea"/>
                <a:sym typeface="+mn-lt"/>
              </a:rPr>
              <a:t>(4）建立新表表示多对多关系。</a:t>
            </a:r>
            <a:endParaRPr lang="zh-CN" altLang="en-US" sz="1600" dirty="0">
              <a:solidFill>
                <a:sysClr val="windowText" lastClr="000000"/>
              </a:solidFill>
              <a:cs typeface="+mn-ea"/>
              <a:sym typeface="+mn-lt"/>
            </a:endParaRPr>
          </a:p>
          <a:p>
            <a:pPr>
              <a:lnSpc>
                <a:spcPct val="130000"/>
              </a:lnSpc>
            </a:pPr>
            <a:r>
              <a:rPr lang="zh-CN" altLang="en-US" sz="1600" dirty="0">
                <a:solidFill>
                  <a:sysClr val="windowText" lastClr="000000"/>
                </a:solidFill>
                <a:cs typeface="+mn-ea"/>
                <a:sym typeface="+mn-lt"/>
              </a:rPr>
              <a:t>(5）为字段选择合适的数据类型。</a:t>
            </a:r>
            <a:endParaRPr lang="zh-CN" altLang="en-US" sz="1600" dirty="0">
              <a:solidFill>
                <a:sysClr val="windowText" lastClr="000000"/>
              </a:solidFill>
              <a:cs typeface="+mn-ea"/>
              <a:sym typeface="+mn-lt"/>
            </a:endParaRPr>
          </a:p>
          <a:p>
            <a:pPr>
              <a:lnSpc>
                <a:spcPct val="130000"/>
              </a:lnSpc>
            </a:pPr>
            <a:r>
              <a:rPr lang="en-US" altLang="zh-CN" sz="1600" dirty="0">
                <a:solidFill>
                  <a:sysClr val="windowText" lastClr="000000"/>
                </a:solidFill>
                <a:cs typeface="+mn-ea"/>
                <a:sym typeface="+mn-lt"/>
              </a:rPr>
              <a:t>(</a:t>
            </a:r>
            <a:r>
              <a:rPr lang="zh-CN" altLang="en-US" sz="1600" dirty="0">
                <a:solidFill>
                  <a:sysClr val="windowText" lastClr="000000"/>
                </a:solidFill>
                <a:cs typeface="+mn-ea"/>
                <a:sym typeface="+mn-lt"/>
              </a:rPr>
              <a:t>6）定义约束条件（如果需要）。</a:t>
            </a:r>
            <a:endParaRPr lang="zh-CN" altLang="en-US" sz="1600" dirty="0">
              <a:solidFill>
                <a:sysClr val="windowText" lastClr="000000"/>
              </a:solidFill>
              <a:cs typeface="+mn-ea"/>
              <a:sym typeface="+mn-lt"/>
            </a:endParaRPr>
          </a:p>
          <a:p>
            <a:pPr>
              <a:lnSpc>
                <a:spcPct val="130000"/>
              </a:lnSpc>
            </a:pPr>
            <a:r>
              <a:rPr lang="zh-CN" altLang="en-US" sz="1600" dirty="0">
                <a:solidFill>
                  <a:sysClr val="windowText" lastClr="000000"/>
                </a:solidFill>
                <a:cs typeface="+mn-ea"/>
                <a:sym typeface="+mn-lt"/>
              </a:rPr>
              <a:t>(7）评价数据库表设计的质量，并进行必要的改进。</a:t>
            </a:r>
            <a:endParaRPr lang="zh-CN" altLang="en-US" sz="1600" dirty="0">
              <a:solidFill>
                <a:sysClr val="windowText" lastClr="00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6225540" cy="951865"/>
          </a:xfrm>
          <a:prstGeom prst="rect">
            <a:avLst/>
          </a:prstGeom>
          <a:noFill/>
          <a:ln>
            <a:solidFill>
              <a:srgbClr val="FFFFFF">
                <a:alpha val="45882"/>
              </a:srgbClr>
            </a:solidFill>
          </a:ln>
        </p:spPr>
        <p:txBody>
          <a:bodyPr wrap="square" lIns="91438" tIns="45719" rIns="91438" bIns="45719" rtlCol="0">
            <a:spAutoFit/>
          </a:bodyPr>
          <a:lstStyle/>
          <a:p>
            <a:pPr algn="l"/>
            <a:r>
              <a:rPr lang="zh-CN" altLang="en-US" sz="2800" b="1" dirty="0">
                <a:solidFill>
                  <a:schemeClr val="bg1"/>
                </a:solidFill>
                <a:cs typeface="+mn-ea"/>
                <a:sym typeface="+mn-lt"/>
              </a:rPr>
              <a:t>数据库设计</a:t>
            </a:r>
            <a:r>
              <a:rPr lang="en-US" altLang="zh-CN" sz="2800" b="1" dirty="0">
                <a:solidFill>
                  <a:schemeClr val="bg1"/>
                </a:solidFill>
                <a:cs typeface="+mn-ea"/>
                <a:sym typeface="+mn-lt"/>
              </a:rPr>
              <a:t>-</a:t>
            </a:r>
            <a:r>
              <a:rPr lang="zh-CN" altLang="en-US" sz="2800" b="1" dirty="0">
                <a:solidFill>
                  <a:schemeClr val="bg1"/>
                </a:solidFill>
                <a:cs typeface="+mn-ea"/>
                <a:sym typeface="+mn-lt"/>
              </a:rPr>
              <a:t>逻辑结构设计（直接</a:t>
            </a:r>
            <a:r>
              <a:rPr lang="zh-CN" altLang="en-US" sz="2800" b="1" dirty="0">
                <a:solidFill>
                  <a:schemeClr val="bg1"/>
                </a:solidFill>
                <a:cs typeface="+mn-ea"/>
                <a:sym typeface="+mn-lt"/>
              </a:rPr>
              <a:t>建表）</a:t>
            </a:r>
            <a:endParaRPr lang="zh-CN" altLang="en-US" sz="2800" b="1" dirty="0">
              <a:solidFill>
                <a:schemeClr val="bg1"/>
              </a:solidFill>
              <a:cs typeface="+mn-ea"/>
              <a:sym typeface="+mn-lt"/>
            </a:endParaRPr>
          </a:p>
          <a:p>
            <a:pPr algn="l"/>
            <a:endParaRPr lang="zh-CN" altLang="en-US" sz="2800" b="1" dirty="0">
              <a:solidFill>
                <a:schemeClr val="bg1"/>
              </a:solidFill>
              <a:cs typeface="+mn-ea"/>
              <a:sym typeface="+mn-lt"/>
            </a:endParaRPr>
          </a:p>
        </p:txBody>
      </p:sp>
    </p:spTree>
  </p:cSld>
  <p:clrMapOvr>
    <a:masterClrMapping/>
  </p:clrMapOvr>
  <p:transition spd="slow" advClick="0" advTm="0">
    <p:wip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6225540" cy="951865"/>
          </a:xfrm>
          <a:prstGeom prst="rect">
            <a:avLst/>
          </a:prstGeom>
          <a:noFill/>
          <a:ln>
            <a:solidFill>
              <a:srgbClr val="FFFFFF">
                <a:alpha val="45882"/>
              </a:srgbClr>
            </a:solidFill>
          </a:ln>
        </p:spPr>
        <p:txBody>
          <a:bodyPr wrap="square" lIns="91438" tIns="45719" rIns="91438" bIns="45719" rtlCol="0">
            <a:spAutoFit/>
          </a:bodyPr>
          <a:lstStyle/>
          <a:p>
            <a:pPr algn="l"/>
            <a:r>
              <a:rPr lang="zh-CN" altLang="en-US" sz="2800" b="1" dirty="0">
                <a:solidFill>
                  <a:schemeClr val="bg1"/>
                </a:solidFill>
                <a:cs typeface="+mn-ea"/>
                <a:sym typeface="+mn-lt"/>
              </a:rPr>
              <a:t>数据库设计</a:t>
            </a:r>
            <a:r>
              <a:rPr lang="en-US" altLang="zh-CN" sz="2800" b="1" dirty="0">
                <a:solidFill>
                  <a:schemeClr val="bg1"/>
                </a:solidFill>
                <a:cs typeface="+mn-ea"/>
                <a:sym typeface="+mn-lt"/>
              </a:rPr>
              <a:t>-</a:t>
            </a:r>
            <a:r>
              <a:rPr lang="zh-CN" altLang="en-US" sz="2800" b="1" dirty="0">
                <a:solidFill>
                  <a:schemeClr val="bg1"/>
                </a:solidFill>
                <a:cs typeface="+mn-ea"/>
                <a:sym typeface="+mn-lt"/>
              </a:rPr>
              <a:t>逻辑结构设计（直接</a:t>
            </a:r>
            <a:r>
              <a:rPr lang="zh-CN" altLang="en-US" sz="2800" b="1" dirty="0">
                <a:solidFill>
                  <a:schemeClr val="bg1"/>
                </a:solidFill>
                <a:cs typeface="+mn-ea"/>
                <a:sym typeface="+mn-lt"/>
              </a:rPr>
              <a:t>建表）</a:t>
            </a:r>
            <a:endParaRPr lang="zh-CN" altLang="en-US" sz="2800" b="1" dirty="0">
              <a:solidFill>
                <a:schemeClr val="bg1"/>
              </a:solidFill>
              <a:cs typeface="+mn-ea"/>
              <a:sym typeface="+mn-lt"/>
            </a:endParaRPr>
          </a:p>
          <a:p>
            <a:pPr algn="l"/>
            <a:endParaRPr lang="zh-CN" altLang="en-US" sz="2800" b="1" dirty="0">
              <a:solidFill>
                <a:schemeClr val="bg1"/>
              </a:solidFill>
              <a:cs typeface="+mn-ea"/>
              <a:sym typeface="+mn-lt"/>
            </a:endParaRPr>
          </a:p>
        </p:txBody>
      </p:sp>
      <p:pic>
        <p:nvPicPr>
          <p:cNvPr id="4" name="图片 3"/>
          <p:cNvPicPr>
            <a:picLocks noChangeAspect="1"/>
          </p:cNvPicPr>
          <p:nvPr/>
        </p:nvPicPr>
        <p:blipFill>
          <a:blip r:embed="rId1"/>
          <a:stretch>
            <a:fillRect/>
          </a:stretch>
        </p:blipFill>
        <p:spPr>
          <a:xfrm>
            <a:off x="34925" y="699135"/>
            <a:ext cx="4737100" cy="2378075"/>
          </a:xfrm>
          <a:prstGeom prst="rect">
            <a:avLst/>
          </a:prstGeom>
        </p:spPr>
      </p:pic>
      <p:pic>
        <p:nvPicPr>
          <p:cNvPr id="5" name="图片 4"/>
          <p:cNvPicPr>
            <a:picLocks noChangeAspect="1"/>
          </p:cNvPicPr>
          <p:nvPr/>
        </p:nvPicPr>
        <p:blipFill>
          <a:blip r:embed="rId2"/>
          <a:stretch>
            <a:fillRect/>
          </a:stretch>
        </p:blipFill>
        <p:spPr>
          <a:xfrm>
            <a:off x="4062095" y="3031490"/>
            <a:ext cx="5081905" cy="1974850"/>
          </a:xfrm>
          <a:prstGeom prst="rect">
            <a:avLst/>
          </a:prstGeom>
        </p:spPr>
      </p:pic>
    </p:spTree>
  </p:cSld>
  <p:clrMapOvr>
    <a:masterClrMapping/>
  </p:clrMapOvr>
  <p:transition spd="slow" advClick="0" advTm="0">
    <p:wip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6225540" cy="951865"/>
          </a:xfrm>
          <a:prstGeom prst="rect">
            <a:avLst/>
          </a:prstGeom>
          <a:noFill/>
          <a:ln>
            <a:solidFill>
              <a:srgbClr val="FFFFFF">
                <a:alpha val="45882"/>
              </a:srgbClr>
            </a:solidFill>
          </a:ln>
        </p:spPr>
        <p:txBody>
          <a:bodyPr wrap="square" lIns="91438" tIns="45719" rIns="91438" bIns="45719" rtlCol="0">
            <a:spAutoFit/>
          </a:bodyPr>
          <a:lstStyle/>
          <a:p>
            <a:pPr algn="l"/>
            <a:r>
              <a:rPr lang="zh-CN" altLang="en-US" sz="2800" b="1" dirty="0">
                <a:solidFill>
                  <a:schemeClr val="bg1"/>
                </a:solidFill>
                <a:cs typeface="+mn-ea"/>
                <a:sym typeface="+mn-lt"/>
              </a:rPr>
              <a:t>数据库设计</a:t>
            </a:r>
            <a:r>
              <a:rPr lang="en-US" altLang="zh-CN" sz="2800" b="1" dirty="0">
                <a:solidFill>
                  <a:schemeClr val="bg1"/>
                </a:solidFill>
                <a:cs typeface="+mn-ea"/>
                <a:sym typeface="+mn-lt"/>
              </a:rPr>
              <a:t>-</a:t>
            </a:r>
            <a:r>
              <a:rPr lang="zh-CN" altLang="en-US" sz="2800" b="1" dirty="0">
                <a:solidFill>
                  <a:schemeClr val="bg1"/>
                </a:solidFill>
                <a:cs typeface="+mn-ea"/>
                <a:sym typeface="+mn-lt"/>
              </a:rPr>
              <a:t>逻辑结构设计（直接</a:t>
            </a:r>
            <a:r>
              <a:rPr lang="zh-CN" altLang="en-US" sz="2800" b="1" dirty="0">
                <a:solidFill>
                  <a:schemeClr val="bg1"/>
                </a:solidFill>
                <a:cs typeface="+mn-ea"/>
                <a:sym typeface="+mn-lt"/>
              </a:rPr>
              <a:t>建表）</a:t>
            </a:r>
            <a:endParaRPr lang="zh-CN" altLang="en-US" sz="2800" b="1" dirty="0">
              <a:solidFill>
                <a:schemeClr val="bg1"/>
              </a:solidFill>
              <a:cs typeface="+mn-ea"/>
              <a:sym typeface="+mn-lt"/>
            </a:endParaRPr>
          </a:p>
          <a:p>
            <a:pPr algn="l"/>
            <a:endParaRPr lang="zh-CN" altLang="en-US" sz="2800" b="1" dirty="0">
              <a:solidFill>
                <a:schemeClr val="bg1"/>
              </a:solidFill>
              <a:cs typeface="+mn-ea"/>
              <a:sym typeface="+mn-lt"/>
            </a:endParaRPr>
          </a:p>
        </p:txBody>
      </p:sp>
      <p:pic>
        <p:nvPicPr>
          <p:cNvPr id="5" name="图片 4"/>
          <p:cNvPicPr>
            <a:picLocks noChangeAspect="1"/>
          </p:cNvPicPr>
          <p:nvPr/>
        </p:nvPicPr>
        <p:blipFill>
          <a:blip r:embed="rId1"/>
          <a:stretch>
            <a:fillRect/>
          </a:stretch>
        </p:blipFill>
        <p:spPr>
          <a:xfrm>
            <a:off x="323850" y="915035"/>
            <a:ext cx="5018405" cy="2140585"/>
          </a:xfrm>
          <a:prstGeom prst="rect">
            <a:avLst/>
          </a:prstGeom>
        </p:spPr>
      </p:pic>
      <p:pic>
        <p:nvPicPr>
          <p:cNvPr id="7" name="图片 6"/>
          <p:cNvPicPr>
            <a:picLocks noChangeAspect="1"/>
          </p:cNvPicPr>
          <p:nvPr/>
        </p:nvPicPr>
        <p:blipFill>
          <a:blip r:embed="rId2"/>
          <a:stretch>
            <a:fillRect/>
          </a:stretch>
        </p:blipFill>
        <p:spPr>
          <a:xfrm>
            <a:off x="4787900" y="2859405"/>
            <a:ext cx="4389755" cy="2067560"/>
          </a:xfrm>
          <a:prstGeom prst="rect">
            <a:avLst/>
          </a:prstGeom>
        </p:spPr>
      </p:pic>
    </p:spTree>
  </p:cSld>
  <p:clrMapOvr>
    <a:masterClrMapping/>
  </p:clrMapOvr>
  <p:transition spd="slow" advClick="0" advTm="0">
    <p:wip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6225540" cy="951865"/>
          </a:xfrm>
          <a:prstGeom prst="rect">
            <a:avLst/>
          </a:prstGeom>
          <a:noFill/>
          <a:ln>
            <a:solidFill>
              <a:srgbClr val="FFFFFF">
                <a:alpha val="45882"/>
              </a:srgbClr>
            </a:solidFill>
          </a:ln>
        </p:spPr>
        <p:txBody>
          <a:bodyPr wrap="square" lIns="91438" tIns="45719" rIns="91438" bIns="45719" rtlCol="0">
            <a:spAutoFit/>
          </a:bodyPr>
          <a:lstStyle/>
          <a:p>
            <a:pPr algn="l"/>
            <a:r>
              <a:rPr lang="zh-CN" altLang="en-US" sz="2800" b="1" dirty="0">
                <a:solidFill>
                  <a:schemeClr val="bg1"/>
                </a:solidFill>
                <a:cs typeface="+mn-ea"/>
                <a:sym typeface="+mn-lt"/>
              </a:rPr>
              <a:t>数据库设计</a:t>
            </a:r>
            <a:r>
              <a:rPr lang="en-US" altLang="zh-CN" sz="2800" b="1" dirty="0">
                <a:solidFill>
                  <a:schemeClr val="bg1"/>
                </a:solidFill>
                <a:cs typeface="+mn-ea"/>
                <a:sym typeface="+mn-lt"/>
              </a:rPr>
              <a:t>-</a:t>
            </a:r>
            <a:r>
              <a:rPr lang="zh-CN" altLang="en-US" sz="2800" b="1" dirty="0">
                <a:solidFill>
                  <a:schemeClr val="bg1"/>
                </a:solidFill>
                <a:cs typeface="+mn-ea"/>
                <a:sym typeface="+mn-lt"/>
              </a:rPr>
              <a:t>逻辑结构设计（直接</a:t>
            </a:r>
            <a:r>
              <a:rPr lang="zh-CN" altLang="en-US" sz="2800" b="1" dirty="0">
                <a:solidFill>
                  <a:schemeClr val="bg1"/>
                </a:solidFill>
                <a:cs typeface="+mn-ea"/>
                <a:sym typeface="+mn-lt"/>
              </a:rPr>
              <a:t>建表）</a:t>
            </a:r>
            <a:endParaRPr lang="zh-CN" altLang="en-US" sz="2800" b="1" dirty="0">
              <a:solidFill>
                <a:schemeClr val="bg1"/>
              </a:solidFill>
              <a:cs typeface="+mn-ea"/>
              <a:sym typeface="+mn-lt"/>
            </a:endParaRPr>
          </a:p>
          <a:p>
            <a:pPr algn="l"/>
            <a:endParaRPr lang="zh-CN" altLang="en-US" sz="2800" b="1" dirty="0">
              <a:solidFill>
                <a:schemeClr val="bg1"/>
              </a:solidFill>
              <a:cs typeface="+mn-ea"/>
              <a:sym typeface="+mn-lt"/>
            </a:endParaRPr>
          </a:p>
        </p:txBody>
      </p:sp>
      <p:pic>
        <p:nvPicPr>
          <p:cNvPr id="2" name="图片 1"/>
          <p:cNvPicPr>
            <a:picLocks noChangeAspect="1"/>
          </p:cNvPicPr>
          <p:nvPr/>
        </p:nvPicPr>
        <p:blipFill>
          <a:blip r:embed="rId1"/>
          <a:stretch>
            <a:fillRect/>
          </a:stretch>
        </p:blipFill>
        <p:spPr>
          <a:xfrm>
            <a:off x="229235" y="771525"/>
            <a:ext cx="4458970" cy="2218690"/>
          </a:xfrm>
          <a:prstGeom prst="rect">
            <a:avLst/>
          </a:prstGeom>
        </p:spPr>
      </p:pic>
      <p:pic>
        <p:nvPicPr>
          <p:cNvPr id="3" name="图片 2"/>
          <p:cNvPicPr>
            <a:picLocks noChangeAspect="1"/>
          </p:cNvPicPr>
          <p:nvPr/>
        </p:nvPicPr>
        <p:blipFill>
          <a:blip r:embed="rId2"/>
          <a:stretch>
            <a:fillRect/>
          </a:stretch>
        </p:blipFill>
        <p:spPr>
          <a:xfrm>
            <a:off x="4787900" y="771525"/>
            <a:ext cx="4287520" cy="4066540"/>
          </a:xfrm>
          <a:prstGeom prst="rect">
            <a:avLst/>
          </a:prstGeom>
        </p:spPr>
      </p:pic>
    </p:spTree>
  </p:cSld>
  <p:clrMapOvr>
    <a:masterClrMapping/>
  </p:clrMapOvr>
  <p:transition spd="slow" advClick="0" advTm="0">
    <p:wip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229235" y="771525"/>
            <a:ext cx="8670925" cy="1249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1600" dirty="0">
                <a:solidFill>
                  <a:sysClr val="windowText" lastClr="000000"/>
                </a:solidFill>
                <a:cs typeface="+mn-ea"/>
                <a:sym typeface="+mn-lt"/>
              </a:rPr>
              <a:t>例</a:t>
            </a:r>
            <a:r>
              <a:rPr lang="en-US" altLang="zh-CN" sz="1600" dirty="0">
                <a:solidFill>
                  <a:sysClr val="windowText" lastClr="000000"/>
                </a:solidFill>
                <a:cs typeface="+mn-ea"/>
                <a:sym typeface="+mn-lt"/>
              </a:rPr>
              <a:t>2</a:t>
            </a:r>
            <a:r>
              <a:rPr lang="zh-CN" altLang="en-US" sz="1600" dirty="0">
                <a:solidFill>
                  <a:sysClr val="windowText" lastClr="000000"/>
                </a:solidFill>
                <a:cs typeface="+mn-ea"/>
                <a:sym typeface="+mn-lt"/>
              </a:rPr>
              <a:t>：博主论坛类</a:t>
            </a:r>
            <a:r>
              <a:rPr lang="zh-CN" altLang="en-US" sz="1600" dirty="0">
                <a:solidFill>
                  <a:sysClr val="windowText" lastClr="000000"/>
                </a:solidFill>
                <a:cs typeface="+mn-ea"/>
                <a:sym typeface="+mn-lt"/>
              </a:rPr>
              <a:t>系统</a:t>
            </a:r>
            <a:endParaRPr lang="zh-CN" altLang="en-US" sz="1600" dirty="0">
              <a:solidFill>
                <a:sysClr val="windowText" lastClr="000000"/>
              </a:solidFill>
              <a:cs typeface="+mn-ea"/>
              <a:sym typeface="+mn-lt"/>
            </a:endParaRPr>
          </a:p>
          <a:p>
            <a:pPr algn="l">
              <a:lnSpc>
                <a:spcPct val="130000"/>
              </a:lnSpc>
              <a:buClrTx/>
              <a:buSzTx/>
              <a:buFontTx/>
            </a:pPr>
            <a:r>
              <a:rPr lang="zh-CN" altLang="en-US" sz="1400" dirty="0">
                <a:solidFill>
                  <a:sysClr val="windowText" lastClr="000000"/>
                </a:solidFill>
                <a:cs typeface="+mn-ea"/>
                <a:sym typeface="+mn-lt"/>
              </a:rPr>
              <a:t>系统功能要求</a:t>
            </a:r>
            <a:endParaRPr lang="zh-CN" altLang="en-US" sz="1400" dirty="0">
              <a:solidFill>
                <a:sysClr val="windowText" lastClr="000000"/>
              </a:solidFill>
              <a:cs typeface="+mn-ea"/>
              <a:sym typeface="+mn-lt"/>
            </a:endParaRPr>
          </a:p>
          <a:p>
            <a:pPr algn="l">
              <a:lnSpc>
                <a:spcPct val="130000"/>
              </a:lnSpc>
              <a:buClrTx/>
              <a:buSzTx/>
              <a:buFontTx/>
            </a:pPr>
            <a:r>
              <a:rPr lang="zh-CN" altLang="en-US" sz="1400" dirty="0">
                <a:solidFill>
                  <a:sysClr val="windowText" lastClr="000000"/>
                </a:solidFill>
                <a:cs typeface="+mn-ea"/>
                <a:sym typeface="+mn-lt"/>
              </a:rPr>
              <a:t> 项目中的功能模块从用户角度划分可以分为三大模块，即博主功能模块，普通用户功能模块，平台管理者功能模块。每个功能模块有功能复用的地方，也有区别于其他功能模块的地方。</a:t>
            </a:r>
            <a:endParaRPr lang="zh-CN" altLang="en-US" sz="1400" dirty="0">
              <a:solidFill>
                <a:sysClr val="windowText" lastClr="00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4268470" cy="520700"/>
          </a:xfrm>
          <a:prstGeom prst="rect">
            <a:avLst/>
          </a:prstGeom>
          <a:noFill/>
          <a:ln>
            <a:solidFill>
              <a:srgbClr val="FFFFFF">
                <a:alpha val="45882"/>
              </a:srgbClr>
            </a:solidFill>
          </a:ln>
        </p:spPr>
        <p:txBody>
          <a:bodyPr wrap="square" lIns="91438" tIns="45719" rIns="91438" bIns="45719" rtlCol="0">
            <a:spAutoFit/>
          </a:bodyPr>
          <a:lstStyle/>
          <a:p>
            <a:pPr algn="l"/>
            <a:r>
              <a:rPr lang="zh-CN" altLang="en-US" sz="2800" b="1" dirty="0">
                <a:solidFill>
                  <a:schemeClr val="bg1"/>
                </a:solidFill>
                <a:cs typeface="+mn-ea"/>
                <a:sym typeface="+mn-lt"/>
              </a:rPr>
              <a:t>数据库设计</a:t>
            </a:r>
            <a:r>
              <a:rPr lang="en-US" altLang="zh-CN" sz="2800" b="1" dirty="0">
                <a:solidFill>
                  <a:schemeClr val="bg1"/>
                </a:solidFill>
                <a:cs typeface="+mn-ea"/>
                <a:sym typeface="+mn-lt"/>
              </a:rPr>
              <a:t>-</a:t>
            </a:r>
            <a:r>
              <a:rPr lang="zh-CN" altLang="en-US" sz="2800" b="1" dirty="0">
                <a:solidFill>
                  <a:schemeClr val="bg1"/>
                </a:solidFill>
                <a:cs typeface="+mn-ea"/>
                <a:sym typeface="+mn-lt"/>
              </a:rPr>
              <a:t>需求</a:t>
            </a:r>
            <a:r>
              <a:rPr lang="zh-CN" altLang="en-US" sz="2800" b="1" dirty="0">
                <a:solidFill>
                  <a:schemeClr val="bg1"/>
                </a:solidFill>
                <a:cs typeface="+mn-ea"/>
                <a:sym typeface="+mn-lt"/>
              </a:rPr>
              <a:t>分析</a:t>
            </a:r>
            <a:endParaRPr lang="zh-CN" altLang="en-US" sz="2800" b="1" dirty="0">
              <a:solidFill>
                <a:schemeClr val="bg1"/>
              </a:solidFill>
              <a:cs typeface="+mn-ea"/>
              <a:sym typeface="+mn-lt"/>
            </a:endParaRPr>
          </a:p>
        </p:txBody>
      </p:sp>
      <p:pic>
        <p:nvPicPr>
          <p:cNvPr id="1744501704"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251460" y="2355215"/>
            <a:ext cx="2652395" cy="1894205"/>
          </a:xfrm>
          <a:prstGeom prst="rect">
            <a:avLst/>
          </a:prstGeom>
          <a:noFill/>
          <a:ln>
            <a:noFill/>
          </a:ln>
        </p:spPr>
      </p:pic>
      <p:pic>
        <p:nvPicPr>
          <p:cNvPr id="931063932" name="图片 1"/>
          <p:cNvPicPr>
            <a:picLocks noChangeAspect="1"/>
          </p:cNvPicPr>
          <p:nvPr/>
        </p:nvPicPr>
        <p:blipFill>
          <a:blip r:embed="rId2"/>
          <a:stretch>
            <a:fillRect/>
          </a:stretch>
        </p:blipFill>
        <p:spPr>
          <a:xfrm>
            <a:off x="3275330" y="2283460"/>
            <a:ext cx="2301875" cy="2068830"/>
          </a:xfrm>
          <a:prstGeom prst="rect">
            <a:avLst/>
          </a:prstGeom>
        </p:spPr>
      </p:pic>
      <p:pic>
        <p:nvPicPr>
          <p:cNvPr id="1615572034" name="图片 1"/>
          <p:cNvPicPr>
            <a:picLocks noChangeAspect="1"/>
          </p:cNvPicPr>
          <p:nvPr/>
        </p:nvPicPr>
        <p:blipFill>
          <a:blip r:embed="rId3"/>
          <a:stretch>
            <a:fillRect/>
          </a:stretch>
        </p:blipFill>
        <p:spPr>
          <a:xfrm>
            <a:off x="6018530" y="2322195"/>
            <a:ext cx="2915285" cy="1960245"/>
          </a:xfrm>
          <a:prstGeom prst="rect">
            <a:avLst/>
          </a:prstGeom>
        </p:spPr>
      </p:pic>
    </p:spTree>
  </p:cSld>
  <p:clrMapOvr>
    <a:masterClrMapping/>
  </p:clrMapOvr>
  <p:transition spd="slow">
    <p:wip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229235" y="771525"/>
            <a:ext cx="8670925" cy="3691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1600" dirty="0">
                <a:solidFill>
                  <a:sysClr val="windowText" lastClr="000000"/>
                </a:solidFill>
                <a:cs typeface="+mn-ea"/>
                <a:sym typeface="+mn-lt"/>
              </a:rPr>
              <a:t>例</a:t>
            </a:r>
            <a:r>
              <a:rPr lang="en-US" altLang="zh-CN" sz="1600" dirty="0">
                <a:solidFill>
                  <a:sysClr val="windowText" lastClr="000000"/>
                </a:solidFill>
                <a:cs typeface="+mn-ea"/>
                <a:sym typeface="+mn-lt"/>
              </a:rPr>
              <a:t>2</a:t>
            </a:r>
            <a:r>
              <a:rPr lang="zh-CN" altLang="en-US" sz="1600" dirty="0">
                <a:solidFill>
                  <a:sysClr val="windowText" lastClr="000000"/>
                </a:solidFill>
                <a:cs typeface="+mn-ea"/>
                <a:sym typeface="+mn-lt"/>
              </a:rPr>
              <a:t>：博主论坛类</a:t>
            </a:r>
            <a:r>
              <a:rPr lang="zh-CN" altLang="en-US" sz="1600" dirty="0">
                <a:solidFill>
                  <a:sysClr val="windowText" lastClr="000000"/>
                </a:solidFill>
                <a:cs typeface="+mn-ea"/>
                <a:sym typeface="+mn-lt"/>
              </a:rPr>
              <a:t>系统</a:t>
            </a:r>
            <a:endParaRPr lang="zh-CN" altLang="en-US" sz="1600" dirty="0">
              <a:solidFill>
                <a:sysClr val="windowText" lastClr="000000"/>
              </a:solidFill>
              <a:cs typeface="+mn-ea"/>
              <a:sym typeface="+mn-lt"/>
            </a:endParaRPr>
          </a:p>
          <a:p>
            <a:pPr algn="l">
              <a:lnSpc>
                <a:spcPct val="130000"/>
              </a:lnSpc>
              <a:buClrTx/>
              <a:buSzTx/>
              <a:buFontTx/>
            </a:pPr>
            <a:r>
              <a:rPr lang="zh-CN" altLang="en-US" sz="1400" dirty="0">
                <a:solidFill>
                  <a:sysClr val="windowText" lastClr="000000"/>
                </a:solidFill>
                <a:cs typeface="+mn-ea"/>
                <a:sym typeface="+mn-lt"/>
              </a:rPr>
              <a:t>系统功能要求</a:t>
            </a:r>
            <a:endParaRPr lang="zh-CN" altLang="en-US" sz="1400" dirty="0">
              <a:solidFill>
                <a:sysClr val="windowText" lastClr="000000"/>
              </a:solidFill>
              <a:cs typeface="+mn-ea"/>
              <a:sym typeface="+mn-lt"/>
            </a:endParaRPr>
          </a:p>
          <a:p>
            <a:pPr algn="l">
              <a:lnSpc>
                <a:spcPct val="130000"/>
              </a:lnSpc>
              <a:buClrTx/>
              <a:buSzTx/>
              <a:buFontTx/>
            </a:pPr>
            <a:r>
              <a:rPr lang="zh-CN" altLang="en-US" sz="1000" dirty="0">
                <a:solidFill>
                  <a:sysClr val="windowText" lastClr="000000"/>
                </a:solidFill>
                <a:cs typeface="+mn-ea"/>
                <a:sym typeface="+mn-lt"/>
              </a:rPr>
              <a:t>1.博主用户登录功能（博主可以通过输入邮箱号密码或借助第三方平台的用户信息登录）。</a:t>
            </a:r>
            <a:endParaRPr lang="zh-CN" altLang="en-US" sz="1000" dirty="0">
              <a:solidFill>
                <a:sysClr val="windowText" lastClr="000000"/>
              </a:solidFill>
              <a:cs typeface="+mn-ea"/>
              <a:sym typeface="+mn-lt"/>
            </a:endParaRPr>
          </a:p>
          <a:p>
            <a:pPr algn="l">
              <a:lnSpc>
                <a:spcPct val="130000"/>
              </a:lnSpc>
              <a:buClrTx/>
              <a:buSzTx/>
              <a:buFontTx/>
            </a:pPr>
            <a:r>
              <a:rPr lang="zh-CN" altLang="en-US" sz="1000" dirty="0">
                <a:solidFill>
                  <a:sysClr val="windowText" lastClr="000000"/>
                </a:solidFill>
                <a:cs typeface="+mn-ea"/>
                <a:sym typeface="+mn-lt"/>
              </a:rPr>
              <a:t>2.博主用户注册功能（博主使用邮箱号通过平台发送邮箱验证码注册）。</a:t>
            </a:r>
            <a:endParaRPr lang="zh-CN" altLang="en-US" sz="1000" dirty="0">
              <a:solidFill>
                <a:sysClr val="windowText" lastClr="000000"/>
              </a:solidFill>
              <a:cs typeface="+mn-ea"/>
              <a:sym typeface="+mn-lt"/>
            </a:endParaRPr>
          </a:p>
          <a:p>
            <a:pPr algn="l">
              <a:lnSpc>
                <a:spcPct val="130000"/>
              </a:lnSpc>
              <a:buClrTx/>
              <a:buSzTx/>
              <a:buFontTx/>
            </a:pPr>
            <a:r>
              <a:rPr lang="zh-CN" altLang="en-US" sz="1000" dirty="0">
                <a:solidFill>
                  <a:sysClr val="windowText" lastClr="000000"/>
                </a:solidFill>
                <a:cs typeface="+mn-ea"/>
                <a:sym typeface="+mn-lt"/>
              </a:rPr>
              <a:t>3.发表技术文章（博主通过后台管理网站编写并发表技术文章）。</a:t>
            </a:r>
            <a:endParaRPr lang="zh-CN" altLang="en-US" sz="1000" dirty="0">
              <a:solidFill>
                <a:sysClr val="windowText" lastClr="000000"/>
              </a:solidFill>
              <a:cs typeface="+mn-ea"/>
              <a:sym typeface="+mn-lt"/>
            </a:endParaRPr>
          </a:p>
          <a:p>
            <a:pPr algn="l">
              <a:lnSpc>
                <a:spcPct val="130000"/>
              </a:lnSpc>
              <a:buClrTx/>
              <a:buSzTx/>
              <a:buFontTx/>
            </a:pPr>
            <a:r>
              <a:rPr lang="zh-CN" altLang="en-US" sz="1000" dirty="0">
                <a:solidFill>
                  <a:sysClr val="windowText" lastClr="000000"/>
                </a:solidFill>
                <a:cs typeface="+mn-ea"/>
                <a:sym typeface="+mn-lt"/>
              </a:rPr>
              <a:t>4.管理个人技术文章（博主可以管理本人已经发布的技术文章）。</a:t>
            </a:r>
            <a:endParaRPr lang="zh-CN" altLang="en-US" sz="1000" dirty="0">
              <a:solidFill>
                <a:sysClr val="windowText" lastClr="000000"/>
              </a:solidFill>
              <a:cs typeface="+mn-ea"/>
              <a:sym typeface="+mn-lt"/>
            </a:endParaRPr>
          </a:p>
          <a:p>
            <a:pPr algn="l">
              <a:lnSpc>
                <a:spcPct val="130000"/>
              </a:lnSpc>
              <a:buClrTx/>
              <a:buSzTx/>
              <a:buFontTx/>
            </a:pPr>
            <a:r>
              <a:rPr lang="zh-CN" altLang="en-US" sz="1000" dirty="0">
                <a:solidFill>
                  <a:sysClr val="windowText" lastClr="000000"/>
                </a:solidFill>
                <a:cs typeface="+mn-ea"/>
                <a:sym typeface="+mn-lt"/>
              </a:rPr>
              <a:t>5.查看技术文章数据（博主登录后台管理页面可以查看本人技术文章的相关数据，包括文章总数、总浏览量、文章关键词等）。</a:t>
            </a:r>
            <a:endParaRPr lang="zh-CN" altLang="en-US" sz="1000" dirty="0">
              <a:solidFill>
                <a:sysClr val="windowText" lastClr="000000"/>
              </a:solidFill>
              <a:cs typeface="+mn-ea"/>
              <a:sym typeface="+mn-lt"/>
            </a:endParaRPr>
          </a:p>
          <a:p>
            <a:pPr algn="l">
              <a:lnSpc>
                <a:spcPct val="130000"/>
              </a:lnSpc>
              <a:buClrTx/>
              <a:buSzTx/>
              <a:buFontTx/>
            </a:pPr>
            <a:r>
              <a:rPr lang="zh-CN" altLang="en-US" sz="1000" dirty="0">
                <a:solidFill>
                  <a:sysClr val="windowText" lastClr="000000"/>
                </a:solidFill>
                <a:cs typeface="+mn-ea"/>
                <a:sym typeface="+mn-lt"/>
              </a:rPr>
              <a:t>6.修改个人信息（博主在登录前台页面后可以在个人中心页面下修改本账号相关信息）。</a:t>
            </a:r>
            <a:endParaRPr lang="zh-CN" altLang="en-US" sz="1000" dirty="0">
              <a:solidFill>
                <a:sysClr val="windowText" lastClr="000000"/>
              </a:solidFill>
              <a:cs typeface="+mn-ea"/>
              <a:sym typeface="+mn-lt"/>
            </a:endParaRPr>
          </a:p>
          <a:p>
            <a:pPr algn="l">
              <a:lnSpc>
                <a:spcPct val="130000"/>
              </a:lnSpc>
              <a:buClrTx/>
              <a:buSzTx/>
              <a:buFontTx/>
            </a:pPr>
            <a:r>
              <a:rPr lang="zh-CN" altLang="en-US" sz="1000" dirty="0">
                <a:solidFill>
                  <a:sysClr val="windowText" lastClr="000000"/>
                </a:solidFill>
                <a:cs typeface="+mn-ea"/>
                <a:sym typeface="+mn-lt"/>
              </a:rPr>
              <a:t>7.普通用户注册登录（与博主用户相似）。</a:t>
            </a:r>
            <a:endParaRPr lang="zh-CN" altLang="en-US" sz="1000" dirty="0">
              <a:solidFill>
                <a:sysClr val="windowText" lastClr="000000"/>
              </a:solidFill>
              <a:cs typeface="+mn-ea"/>
              <a:sym typeface="+mn-lt"/>
            </a:endParaRPr>
          </a:p>
          <a:p>
            <a:pPr algn="l">
              <a:lnSpc>
                <a:spcPct val="130000"/>
              </a:lnSpc>
              <a:buClrTx/>
              <a:buSzTx/>
              <a:buFontTx/>
            </a:pPr>
            <a:r>
              <a:rPr lang="zh-CN" altLang="en-US" sz="1000" dirty="0">
                <a:solidFill>
                  <a:sysClr val="windowText" lastClr="000000"/>
                </a:solidFill>
                <a:cs typeface="+mn-ea"/>
                <a:sym typeface="+mn-lt"/>
              </a:rPr>
              <a:t>8.点赞评论功能（普通用户可以对欣赏的技术文章进行点赞评论）。</a:t>
            </a:r>
            <a:endParaRPr lang="zh-CN" altLang="en-US" sz="1000" dirty="0">
              <a:solidFill>
                <a:sysClr val="windowText" lastClr="000000"/>
              </a:solidFill>
              <a:cs typeface="+mn-ea"/>
              <a:sym typeface="+mn-lt"/>
            </a:endParaRPr>
          </a:p>
          <a:p>
            <a:pPr algn="l">
              <a:lnSpc>
                <a:spcPct val="130000"/>
              </a:lnSpc>
              <a:buClrTx/>
              <a:buSzTx/>
              <a:buFontTx/>
            </a:pPr>
            <a:r>
              <a:rPr lang="zh-CN" altLang="en-US" sz="1000" dirty="0">
                <a:solidFill>
                  <a:sysClr val="windowText" lastClr="000000"/>
                </a:solidFill>
                <a:cs typeface="+mn-ea"/>
                <a:sym typeface="+mn-lt"/>
              </a:rPr>
              <a:t>9.弹幕墙留言（普通用户可以在平台的弹幕墙留下携带用户头像和名称的留言弹幕）。</a:t>
            </a:r>
            <a:endParaRPr lang="zh-CN" altLang="en-US" sz="1000" dirty="0">
              <a:solidFill>
                <a:sysClr val="windowText" lastClr="000000"/>
              </a:solidFill>
              <a:cs typeface="+mn-ea"/>
              <a:sym typeface="+mn-lt"/>
            </a:endParaRPr>
          </a:p>
          <a:p>
            <a:pPr algn="l">
              <a:lnSpc>
                <a:spcPct val="130000"/>
              </a:lnSpc>
              <a:buClrTx/>
              <a:buSzTx/>
              <a:buFontTx/>
            </a:pPr>
            <a:r>
              <a:rPr lang="zh-CN" altLang="en-US" sz="1000" dirty="0">
                <a:solidFill>
                  <a:sysClr val="windowText" lastClr="000000"/>
                </a:solidFill>
                <a:cs typeface="+mn-ea"/>
                <a:sym typeface="+mn-lt"/>
              </a:rPr>
              <a:t>10.普通用户修改个人信息（与博主用户相似）。</a:t>
            </a:r>
            <a:endParaRPr lang="zh-CN" altLang="en-US" sz="1000" dirty="0">
              <a:solidFill>
                <a:sysClr val="windowText" lastClr="000000"/>
              </a:solidFill>
              <a:cs typeface="+mn-ea"/>
              <a:sym typeface="+mn-lt"/>
            </a:endParaRPr>
          </a:p>
          <a:p>
            <a:pPr algn="l">
              <a:lnSpc>
                <a:spcPct val="130000"/>
              </a:lnSpc>
              <a:buClrTx/>
              <a:buSzTx/>
              <a:buFontTx/>
            </a:pPr>
            <a:r>
              <a:rPr lang="zh-CN" altLang="en-US" sz="1000" dirty="0">
                <a:solidFill>
                  <a:sysClr val="windowText" lastClr="000000"/>
                </a:solidFill>
                <a:cs typeface="+mn-ea"/>
                <a:sym typeface="+mn-lt"/>
              </a:rPr>
              <a:t>11.平台管理者登录（平台管理者不可注册只可由平台授予权限，只能在管理平台登录）。</a:t>
            </a:r>
            <a:endParaRPr lang="zh-CN" altLang="en-US" sz="1000" dirty="0">
              <a:solidFill>
                <a:sysClr val="windowText" lastClr="000000"/>
              </a:solidFill>
              <a:cs typeface="+mn-ea"/>
              <a:sym typeface="+mn-lt"/>
            </a:endParaRPr>
          </a:p>
          <a:p>
            <a:pPr algn="l">
              <a:lnSpc>
                <a:spcPct val="130000"/>
              </a:lnSpc>
              <a:buClrTx/>
              <a:buSzTx/>
              <a:buFontTx/>
            </a:pPr>
            <a:r>
              <a:rPr lang="zh-CN" altLang="en-US" sz="1000" dirty="0">
                <a:solidFill>
                  <a:sysClr val="windowText" lastClr="000000"/>
                </a:solidFill>
                <a:cs typeface="+mn-ea"/>
                <a:sym typeface="+mn-lt"/>
              </a:rPr>
              <a:t>12.管理总技术文章（平台管理者通过后台可以管理所以技术文章，可以修改具体内容、删除技术文章、下架技术文章、置顶技术文章、推荐技术文章）。</a:t>
            </a:r>
            <a:endParaRPr lang="zh-CN" altLang="en-US" sz="1000" dirty="0">
              <a:solidFill>
                <a:sysClr val="windowText" lastClr="000000"/>
              </a:solidFill>
              <a:cs typeface="+mn-ea"/>
              <a:sym typeface="+mn-lt"/>
            </a:endParaRPr>
          </a:p>
          <a:p>
            <a:pPr algn="l">
              <a:lnSpc>
                <a:spcPct val="130000"/>
              </a:lnSpc>
              <a:buClrTx/>
              <a:buSzTx/>
              <a:buFontTx/>
            </a:pPr>
            <a:r>
              <a:rPr lang="zh-CN" altLang="en-US" sz="1000" dirty="0">
                <a:solidFill>
                  <a:sysClr val="windowText" lastClr="000000"/>
                </a:solidFill>
                <a:cs typeface="+mn-ea"/>
                <a:sym typeface="+mn-lt"/>
              </a:rPr>
              <a:t>13.评论管理（平台管理者通过后台可以删除违法评论）。</a:t>
            </a:r>
            <a:endParaRPr lang="zh-CN" altLang="en-US" sz="1000" dirty="0">
              <a:solidFill>
                <a:sysClr val="windowText" lastClr="000000"/>
              </a:solidFill>
              <a:cs typeface="+mn-ea"/>
              <a:sym typeface="+mn-lt"/>
            </a:endParaRPr>
          </a:p>
          <a:p>
            <a:pPr algn="l">
              <a:lnSpc>
                <a:spcPct val="130000"/>
              </a:lnSpc>
              <a:buClrTx/>
              <a:buSzTx/>
              <a:buFontTx/>
            </a:pPr>
            <a:r>
              <a:rPr lang="zh-CN" altLang="en-US" sz="1000" dirty="0">
                <a:solidFill>
                  <a:sysClr val="windowText" lastClr="000000"/>
                </a:solidFill>
                <a:cs typeface="+mn-ea"/>
                <a:sym typeface="+mn-lt"/>
              </a:rPr>
              <a:t>14.管理用户数据（平台管理者通过后台可以查询、修改用户信息或对违反平台条例的用户进行封禁）。</a:t>
            </a:r>
            <a:endParaRPr lang="zh-CN" altLang="en-US" sz="1000" dirty="0">
              <a:solidFill>
                <a:sysClr val="windowText" lastClr="000000"/>
              </a:solidFill>
              <a:cs typeface="+mn-ea"/>
              <a:sym typeface="+mn-lt"/>
            </a:endParaRPr>
          </a:p>
          <a:p>
            <a:pPr algn="l">
              <a:lnSpc>
                <a:spcPct val="130000"/>
              </a:lnSpc>
              <a:buClrTx/>
              <a:buSzTx/>
              <a:buFontTx/>
            </a:pPr>
            <a:r>
              <a:rPr lang="zh-CN" altLang="en-US" sz="1000" dirty="0">
                <a:solidFill>
                  <a:sysClr val="windowText" lastClr="000000"/>
                </a:solidFill>
                <a:cs typeface="+mn-ea"/>
                <a:sym typeface="+mn-lt"/>
              </a:rPr>
              <a:t>15.平台信息管理功能（平台管理者通过管理平台，可以修改平台前台页面内动态展示的数据或者重要信息，例如：首页展示、平台信息简介等）。</a:t>
            </a:r>
            <a:endParaRPr lang="zh-CN" altLang="en-US" sz="1000" dirty="0">
              <a:solidFill>
                <a:sysClr val="windowText" lastClr="00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4268470" cy="520700"/>
          </a:xfrm>
          <a:prstGeom prst="rect">
            <a:avLst/>
          </a:prstGeom>
          <a:noFill/>
          <a:ln>
            <a:solidFill>
              <a:srgbClr val="FFFFFF">
                <a:alpha val="45882"/>
              </a:srgbClr>
            </a:solidFill>
          </a:ln>
        </p:spPr>
        <p:txBody>
          <a:bodyPr wrap="square" lIns="91438" tIns="45719" rIns="91438" bIns="45719" rtlCol="0">
            <a:spAutoFit/>
          </a:bodyPr>
          <a:lstStyle/>
          <a:p>
            <a:pPr algn="l"/>
            <a:r>
              <a:rPr lang="zh-CN" altLang="en-US" sz="2800" b="1" dirty="0">
                <a:solidFill>
                  <a:schemeClr val="bg1"/>
                </a:solidFill>
                <a:cs typeface="+mn-ea"/>
                <a:sym typeface="+mn-lt"/>
              </a:rPr>
              <a:t>数据库设计</a:t>
            </a:r>
            <a:r>
              <a:rPr lang="en-US" altLang="zh-CN" sz="2800" b="1" dirty="0">
                <a:solidFill>
                  <a:schemeClr val="bg1"/>
                </a:solidFill>
                <a:cs typeface="+mn-ea"/>
                <a:sym typeface="+mn-lt"/>
              </a:rPr>
              <a:t>-</a:t>
            </a:r>
            <a:r>
              <a:rPr lang="zh-CN" altLang="en-US" sz="2800" b="1" dirty="0">
                <a:solidFill>
                  <a:schemeClr val="bg1"/>
                </a:solidFill>
                <a:cs typeface="+mn-ea"/>
                <a:sym typeface="+mn-lt"/>
              </a:rPr>
              <a:t>需求</a:t>
            </a:r>
            <a:r>
              <a:rPr lang="zh-CN" altLang="en-US" sz="2800" b="1" dirty="0">
                <a:solidFill>
                  <a:schemeClr val="bg1"/>
                </a:solidFill>
                <a:cs typeface="+mn-ea"/>
                <a:sym typeface="+mn-lt"/>
              </a:rPr>
              <a:t>分析</a:t>
            </a:r>
            <a:endParaRPr lang="zh-CN" altLang="en-US" sz="2800" b="1" dirty="0">
              <a:solidFill>
                <a:schemeClr val="bg1"/>
              </a:solidFill>
              <a:cs typeface="+mn-ea"/>
              <a:sym typeface="+mn-lt"/>
            </a:endParaRPr>
          </a:p>
        </p:txBody>
      </p:sp>
    </p:spTree>
  </p:cSld>
  <p:clrMapOvr>
    <a:masterClrMapping/>
  </p:clrMapOvr>
  <p:transition spd="slow">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229235" y="771525"/>
            <a:ext cx="8670925" cy="890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1600" dirty="0">
                <a:solidFill>
                  <a:sysClr val="windowText" lastClr="000000"/>
                </a:solidFill>
                <a:cs typeface="+mn-ea"/>
                <a:sym typeface="+mn-lt"/>
              </a:rPr>
              <a:t>例</a:t>
            </a:r>
            <a:r>
              <a:rPr lang="en-US" altLang="zh-CN" sz="1600" dirty="0">
                <a:solidFill>
                  <a:sysClr val="windowText" lastClr="000000"/>
                </a:solidFill>
                <a:cs typeface="+mn-ea"/>
                <a:sym typeface="+mn-lt"/>
              </a:rPr>
              <a:t>2</a:t>
            </a:r>
            <a:r>
              <a:rPr lang="zh-CN" altLang="en-US" sz="1600" dirty="0">
                <a:solidFill>
                  <a:sysClr val="windowText" lastClr="000000"/>
                </a:solidFill>
                <a:cs typeface="+mn-ea"/>
                <a:sym typeface="+mn-lt"/>
              </a:rPr>
              <a:t>：博主论坛类</a:t>
            </a:r>
            <a:r>
              <a:rPr lang="zh-CN" altLang="en-US" sz="1600" dirty="0">
                <a:solidFill>
                  <a:sysClr val="windowText" lastClr="000000"/>
                </a:solidFill>
                <a:cs typeface="+mn-ea"/>
                <a:sym typeface="+mn-lt"/>
              </a:rPr>
              <a:t>系统</a:t>
            </a:r>
            <a:endParaRPr lang="zh-CN" altLang="en-US" sz="1600" dirty="0">
              <a:solidFill>
                <a:sysClr val="windowText" lastClr="000000"/>
              </a:solidFill>
              <a:cs typeface="+mn-ea"/>
              <a:sym typeface="+mn-lt"/>
            </a:endParaRPr>
          </a:p>
          <a:p>
            <a:pPr algn="l">
              <a:lnSpc>
                <a:spcPct val="130000"/>
              </a:lnSpc>
              <a:buClrTx/>
              <a:buSzTx/>
              <a:buFontTx/>
            </a:pPr>
            <a:r>
              <a:rPr lang="zh-CN" altLang="en-US" sz="1400" dirty="0">
                <a:solidFill>
                  <a:sysClr val="windowText" lastClr="000000"/>
                </a:solidFill>
                <a:cs typeface="+mn-ea"/>
                <a:sym typeface="+mn-lt"/>
              </a:rPr>
              <a:t>系统功能要求</a:t>
            </a:r>
            <a:endParaRPr lang="zh-CN" altLang="en-US" sz="1400" dirty="0">
              <a:solidFill>
                <a:sysClr val="windowText" lastClr="000000"/>
              </a:solidFill>
              <a:cs typeface="+mn-ea"/>
              <a:sym typeface="+mn-lt"/>
            </a:endParaRPr>
          </a:p>
          <a:p>
            <a:pPr algn="l">
              <a:lnSpc>
                <a:spcPct val="130000"/>
              </a:lnSpc>
              <a:buClrTx/>
              <a:buSzTx/>
              <a:buFontTx/>
            </a:pPr>
            <a:endParaRPr lang="zh-CN" altLang="en-US" sz="1000" dirty="0">
              <a:solidFill>
                <a:sysClr val="windowText" lastClr="00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4268470" cy="520700"/>
          </a:xfrm>
          <a:prstGeom prst="rect">
            <a:avLst/>
          </a:prstGeom>
          <a:noFill/>
          <a:ln>
            <a:solidFill>
              <a:srgbClr val="FFFFFF">
                <a:alpha val="45882"/>
              </a:srgbClr>
            </a:solidFill>
          </a:ln>
        </p:spPr>
        <p:txBody>
          <a:bodyPr wrap="square" lIns="91438" tIns="45719" rIns="91438" bIns="45719" rtlCol="0">
            <a:spAutoFit/>
          </a:bodyPr>
          <a:lstStyle/>
          <a:p>
            <a:r>
              <a:rPr lang="zh-CN" altLang="en-US" sz="2800" b="1" dirty="0">
                <a:solidFill>
                  <a:schemeClr val="bg1"/>
                </a:solidFill>
                <a:cs typeface="+mn-ea"/>
                <a:sym typeface="+mn-lt"/>
              </a:rPr>
              <a:t>数据库设计</a:t>
            </a:r>
            <a:r>
              <a:rPr lang="en-US" altLang="zh-CN" sz="2800" b="1" dirty="0">
                <a:solidFill>
                  <a:schemeClr val="bg1"/>
                </a:solidFill>
                <a:cs typeface="+mn-ea"/>
                <a:sym typeface="+mn-lt"/>
              </a:rPr>
              <a:t>-</a:t>
            </a:r>
            <a:r>
              <a:rPr lang="zh-CN" altLang="en-US" sz="2800" b="1" dirty="0">
                <a:solidFill>
                  <a:schemeClr val="bg1"/>
                </a:solidFill>
                <a:cs typeface="+mn-ea"/>
                <a:sym typeface="+mn-lt"/>
              </a:rPr>
              <a:t>需求分析</a:t>
            </a:r>
            <a:endParaRPr lang="zh-CN" altLang="en-US" sz="2800" b="1" dirty="0">
              <a:solidFill>
                <a:schemeClr val="bg1"/>
              </a:solidFill>
              <a:cs typeface="+mn-ea"/>
              <a:sym typeface="+mn-lt"/>
            </a:endParaRPr>
          </a:p>
        </p:txBody>
      </p:sp>
      <p:pic>
        <p:nvPicPr>
          <p:cNvPr id="702369550" name="图片 1"/>
          <p:cNvPicPr>
            <a:picLocks noChangeAspect="1"/>
          </p:cNvPicPr>
          <p:nvPr/>
        </p:nvPicPr>
        <p:blipFill>
          <a:blip r:embed="rId1"/>
          <a:stretch>
            <a:fillRect/>
          </a:stretch>
        </p:blipFill>
        <p:spPr>
          <a:xfrm>
            <a:off x="251460" y="1419225"/>
            <a:ext cx="4538345" cy="3473450"/>
          </a:xfrm>
          <a:prstGeom prst="rect">
            <a:avLst/>
          </a:prstGeom>
        </p:spPr>
      </p:pic>
      <p:sp>
        <p:nvSpPr>
          <p:cNvPr id="100" name="文本框 99"/>
          <p:cNvSpPr txBox="1"/>
          <p:nvPr/>
        </p:nvSpPr>
        <p:spPr>
          <a:xfrm>
            <a:off x="-582295" y="4731385"/>
            <a:ext cx="5080000" cy="275590"/>
          </a:xfrm>
          <a:prstGeom prst="rect">
            <a:avLst/>
          </a:prstGeom>
          <a:noFill/>
          <a:ln w="9525">
            <a:noFill/>
          </a:ln>
        </p:spPr>
        <p:txBody>
          <a:bodyPr>
            <a:spAutoFit/>
          </a:bodyPr>
          <a:p>
            <a:pPr indent="0" algn="ctr"/>
            <a:r>
              <a:rPr lang="zh-CN" sz="1200" b="0">
                <a:ea typeface="宋体" panose="02010600030101010101" pitchFamily="2" charset="-122"/>
              </a:rPr>
              <a:t>Web前台页面详细设计</a:t>
            </a:r>
            <a:endParaRPr lang="zh-CN" altLang="en-US" sz="1200" b="0">
              <a:ea typeface="宋体" panose="02010600030101010101" pitchFamily="2" charset="-122"/>
            </a:endParaRPr>
          </a:p>
        </p:txBody>
      </p:sp>
      <p:pic>
        <p:nvPicPr>
          <p:cNvPr id="300941410" name="图片 1"/>
          <p:cNvPicPr>
            <a:picLocks noChangeAspect="1"/>
          </p:cNvPicPr>
          <p:nvPr/>
        </p:nvPicPr>
        <p:blipFill>
          <a:blip r:embed="rId2"/>
          <a:stretch>
            <a:fillRect/>
          </a:stretch>
        </p:blipFill>
        <p:spPr>
          <a:xfrm>
            <a:off x="5476240" y="1131570"/>
            <a:ext cx="2853055" cy="3203575"/>
          </a:xfrm>
          <a:prstGeom prst="rect">
            <a:avLst/>
          </a:prstGeom>
        </p:spPr>
      </p:pic>
      <p:sp>
        <p:nvSpPr>
          <p:cNvPr id="2" name="文本框 1"/>
          <p:cNvSpPr txBox="1"/>
          <p:nvPr/>
        </p:nvSpPr>
        <p:spPr>
          <a:xfrm>
            <a:off x="5720715" y="4515485"/>
            <a:ext cx="3067050" cy="306705"/>
          </a:xfrm>
          <a:prstGeom prst="rect">
            <a:avLst/>
          </a:prstGeom>
          <a:noFill/>
          <a:ln w="9525">
            <a:noFill/>
          </a:ln>
        </p:spPr>
        <p:txBody>
          <a:bodyPr wrap="square">
            <a:spAutoFit/>
          </a:bodyPr>
          <a:p>
            <a:pPr indent="0" algn="ctr"/>
            <a:r>
              <a:rPr lang="zh-CN" sz="1400" b="0">
                <a:ea typeface="宋体" panose="02010600030101010101" pitchFamily="2" charset="-122"/>
              </a:rPr>
              <a:t>Web后台管理端详细设计</a:t>
            </a:r>
            <a:endParaRPr lang="zh-CN" altLang="en-US" sz="1400" b="0">
              <a:ea typeface="宋体" panose="02010600030101010101" pitchFamily="2" charset="-122"/>
            </a:endParaRPr>
          </a:p>
        </p:txBody>
      </p:sp>
    </p:spTree>
  </p:cSld>
  <p:clrMapOvr>
    <a:masterClrMapping/>
  </p:clrMapOvr>
  <p:transition spd="slow">
    <p:wip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229235" y="771525"/>
            <a:ext cx="8670925" cy="404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1600" dirty="0">
                <a:solidFill>
                  <a:sysClr val="windowText" lastClr="000000"/>
                </a:solidFill>
                <a:cs typeface="+mn-ea"/>
                <a:sym typeface="+mn-lt"/>
              </a:rPr>
              <a:t>例</a:t>
            </a:r>
            <a:r>
              <a:rPr lang="en-US" altLang="zh-CN" sz="1600" dirty="0">
                <a:solidFill>
                  <a:sysClr val="windowText" lastClr="000000"/>
                </a:solidFill>
                <a:cs typeface="+mn-ea"/>
                <a:sym typeface="+mn-lt"/>
              </a:rPr>
              <a:t>2</a:t>
            </a:r>
            <a:r>
              <a:rPr lang="zh-CN" altLang="en-US" sz="1600" dirty="0">
                <a:solidFill>
                  <a:sysClr val="windowText" lastClr="000000"/>
                </a:solidFill>
                <a:cs typeface="+mn-ea"/>
                <a:sym typeface="+mn-lt"/>
              </a:rPr>
              <a:t>：博主论坛类</a:t>
            </a:r>
            <a:r>
              <a:rPr lang="zh-CN" altLang="en-US" sz="1600" dirty="0">
                <a:solidFill>
                  <a:sysClr val="windowText" lastClr="000000"/>
                </a:solidFill>
                <a:cs typeface="+mn-ea"/>
                <a:sym typeface="+mn-lt"/>
              </a:rPr>
              <a:t>系统</a:t>
            </a:r>
            <a:endParaRPr lang="zh-CN" altLang="en-US" sz="1600" dirty="0">
              <a:solidFill>
                <a:sysClr val="windowText" lastClr="000000"/>
              </a:solidFill>
              <a:cs typeface="+mn-ea"/>
              <a:sym typeface="+mn-lt"/>
            </a:endParaRPr>
          </a:p>
          <a:p>
            <a:pPr algn="l">
              <a:lnSpc>
                <a:spcPct val="130000"/>
              </a:lnSpc>
              <a:buClrTx/>
              <a:buSzTx/>
              <a:buFontTx/>
            </a:pPr>
            <a:r>
              <a:rPr lang="zh-CN" altLang="en-US" sz="1400" dirty="0">
                <a:solidFill>
                  <a:sysClr val="windowText" lastClr="000000"/>
                </a:solidFill>
                <a:cs typeface="+mn-ea"/>
                <a:sym typeface="+mn-lt"/>
              </a:rPr>
              <a:t>数据库需求分析</a:t>
            </a:r>
            <a:endParaRPr lang="zh-CN" altLang="en-US" sz="1400" dirty="0">
              <a:solidFill>
                <a:sysClr val="windowText" lastClr="000000"/>
              </a:solidFill>
              <a:cs typeface="+mn-ea"/>
              <a:sym typeface="+mn-lt"/>
            </a:endParaRPr>
          </a:p>
          <a:p>
            <a:pPr algn="l">
              <a:lnSpc>
                <a:spcPct val="130000"/>
              </a:lnSpc>
              <a:buClrTx/>
              <a:buSzTx/>
              <a:buFontTx/>
            </a:pPr>
            <a:r>
              <a:rPr lang="zh-CN" altLang="en-US" sz="1200" dirty="0">
                <a:solidFill>
                  <a:sysClr val="windowText" lastClr="000000"/>
                </a:solidFill>
                <a:cs typeface="+mn-ea"/>
                <a:sym typeface="+mn-lt"/>
              </a:rPr>
              <a:t>首先依据项目已有的功能模块进行详细考量，再依据现有的技术栈进行分析，可以将数据库所要落地保存的信息大致分为下面七个版块：</a:t>
            </a:r>
            <a:endParaRPr lang="zh-CN" altLang="en-US" sz="1200" dirty="0">
              <a:solidFill>
                <a:sysClr val="windowText" lastClr="000000"/>
              </a:solidFill>
              <a:cs typeface="+mn-ea"/>
              <a:sym typeface="+mn-lt"/>
            </a:endParaRPr>
          </a:p>
          <a:p>
            <a:pPr algn="l">
              <a:lnSpc>
                <a:spcPct val="130000"/>
              </a:lnSpc>
              <a:buClrTx/>
              <a:buSzTx/>
              <a:buFontTx/>
            </a:pPr>
            <a:r>
              <a:rPr lang="zh-CN" altLang="en-US" sz="1200" dirty="0">
                <a:solidFill>
                  <a:sysClr val="windowText" lastClr="000000"/>
                </a:solidFill>
                <a:cs typeface="+mn-ea"/>
                <a:sym typeface="+mn-lt"/>
              </a:rPr>
              <a:t>1.用户板块：用于描述用户注册的个人账号以及个人账号所相关联的一系列信息，例如：用户名、生日日期、密码、邮箱号、登录IP、个人简介等。</a:t>
            </a:r>
            <a:endParaRPr lang="zh-CN" altLang="en-US" sz="1200" dirty="0">
              <a:solidFill>
                <a:sysClr val="windowText" lastClr="000000"/>
              </a:solidFill>
              <a:cs typeface="+mn-ea"/>
              <a:sym typeface="+mn-lt"/>
            </a:endParaRPr>
          </a:p>
          <a:p>
            <a:pPr algn="l">
              <a:lnSpc>
                <a:spcPct val="130000"/>
              </a:lnSpc>
              <a:buClrTx/>
              <a:buSzTx/>
              <a:buFontTx/>
            </a:pPr>
            <a:r>
              <a:rPr lang="zh-CN" altLang="en-US" sz="1200" dirty="0">
                <a:solidFill>
                  <a:sysClr val="windowText" lastClr="000000"/>
                </a:solidFill>
                <a:cs typeface="+mn-ea"/>
                <a:sym typeface="+mn-lt"/>
              </a:rPr>
              <a:t>2.权限板块：用于描述各个角色的权限，例如：管理员权限可以修改平台信息、博主权限可以修改本人的技术文章等。</a:t>
            </a:r>
            <a:endParaRPr lang="zh-CN" altLang="en-US" sz="1200" dirty="0">
              <a:solidFill>
                <a:sysClr val="windowText" lastClr="000000"/>
              </a:solidFill>
              <a:cs typeface="+mn-ea"/>
              <a:sym typeface="+mn-lt"/>
            </a:endParaRPr>
          </a:p>
          <a:p>
            <a:pPr algn="l">
              <a:lnSpc>
                <a:spcPct val="130000"/>
              </a:lnSpc>
              <a:buClrTx/>
              <a:buSzTx/>
              <a:buFontTx/>
            </a:pPr>
            <a:r>
              <a:rPr lang="zh-CN" altLang="en-US" sz="1200" dirty="0">
                <a:solidFill>
                  <a:sysClr val="windowText" lastClr="000000"/>
                </a:solidFill>
                <a:cs typeface="+mn-ea"/>
                <a:sym typeface="+mn-lt"/>
              </a:rPr>
              <a:t>3.技术文章板块：用于描述技术文章的详细信息，例如：技术文章名称，作者ID、分类ID、文章标题、文章内容、是否原创等。</a:t>
            </a:r>
            <a:endParaRPr lang="zh-CN" altLang="en-US" sz="1200" dirty="0">
              <a:solidFill>
                <a:sysClr val="windowText" lastClr="000000"/>
              </a:solidFill>
              <a:cs typeface="+mn-ea"/>
              <a:sym typeface="+mn-lt"/>
            </a:endParaRPr>
          </a:p>
          <a:p>
            <a:pPr algn="l">
              <a:lnSpc>
                <a:spcPct val="130000"/>
              </a:lnSpc>
              <a:buClrTx/>
              <a:buSzTx/>
              <a:buFontTx/>
            </a:pPr>
            <a:r>
              <a:rPr lang="zh-CN" altLang="en-US" sz="1200" dirty="0">
                <a:solidFill>
                  <a:sysClr val="windowText" lastClr="000000"/>
                </a:solidFill>
                <a:cs typeface="+mn-ea"/>
                <a:sym typeface="+mn-lt"/>
              </a:rPr>
              <a:t>4.评论留言板块：用于描述留言墙的留言信息以及用户对技术文章的评论相关信息，例如：类型、评论时间、是否通过等。</a:t>
            </a:r>
            <a:endParaRPr lang="zh-CN" altLang="en-US" sz="1200" dirty="0">
              <a:solidFill>
                <a:sysClr val="windowText" lastClr="000000"/>
              </a:solidFill>
              <a:cs typeface="+mn-ea"/>
              <a:sym typeface="+mn-lt"/>
            </a:endParaRPr>
          </a:p>
          <a:p>
            <a:pPr algn="l">
              <a:lnSpc>
                <a:spcPct val="130000"/>
              </a:lnSpc>
              <a:buClrTx/>
              <a:buSzTx/>
              <a:buFontTx/>
            </a:pPr>
            <a:r>
              <a:rPr lang="zh-CN" altLang="en-US" sz="1200" dirty="0">
                <a:solidFill>
                  <a:sysClr val="windowText" lastClr="000000"/>
                </a:solidFill>
                <a:cs typeface="+mn-ea"/>
                <a:sym typeface="+mn-lt"/>
              </a:rPr>
              <a:t>5.相册板块：用于描述博主在平台上传的照片的详细信息，例如：照片名、照片链接、照片描述、所属相册等。</a:t>
            </a:r>
            <a:endParaRPr lang="zh-CN" altLang="en-US" sz="1200" dirty="0">
              <a:solidFill>
                <a:sysClr val="windowText" lastClr="000000"/>
              </a:solidFill>
              <a:cs typeface="+mn-ea"/>
              <a:sym typeface="+mn-lt"/>
            </a:endParaRPr>
          </a:p>
          <a:p>
            <a:pPr algn="l">
              <a:lnSpc>
                <a:spcPct val="130000"/>
              </a:lnSpc>
              <a:buClrTx/>
              <a:buSzTx/>
              <a:buFontTx/>
            </a:pPr>
            <a:r>
              <a:rPr lang="zh-CN" altLang="en-US" sz="1200" dirty="0">
                <a:solidFill>
                  <a:sysClr val="windowText" lastClr="000000"/>
                </a:solidFill>
                <a:cs typeface="+mn-ea"/>
                <a:sym typeface="+mn-lt"/>
              </a:rPr>
              <a:t>6.平台系统参数板块：用于描述平台系统性的全局配置信息或者需要在前台页面展示的信息，例如：是否开启第三方登录、是否开启打赏、平台简介等。</a:t>
            </a:r>
            <a:endParaRPr lang="zh-CN" altLang="en-US" sz="1200" dirty="0">
              <a:solidFill>
                <a:sysClr val="windowText" lastClr="000000"/>
              </a:solidFill>
              <a:cs typeface="+mn-ea"/>
              <a:sym typeface="+mn-lt"/>
            </a:endParaRPr>
          </a:p>
          <a:p>
            <a:pPr algn="l">
              <a:lnSpc>
                <a:spcPct val="130000"/>
              </a:lnSpc>
              <a:buClrTx/>
              <a:buSzTx/>
              <a:buFontTx/>
            </a:pPr>
            <a:r>
              <a:rPr lang="zh-CN" altLang="en-US" sz="1200" dirty="0">
                <a:solidFill>
                  <a:sysClr val="windowText" lastClr="000000"/>
                </a:solidFill>
                <a:cs typeface="+mn-ea"/>
                <a:sym typeface="+mn-lt"/>
              </a:rPr>
              <a:t>7.日志信息记录板块：用于实时记录平台产生的日志信息，例如：错误操作信息、定时任务执行信息、用户登录信息等。</a:t>
            </a:r>
            <a:endParaRPr lang="zh-CN" altLang="en-US" sz="1200" dirty="0">
              <a:solidFill>
                <a:sysClr val="windowText" lastClr="000000"/>
              </a:solidFill>
              <a:cs typeface="+mn-ea"/>
              <a:sym typeface="+mn-lt"/>
            </a:endParaRPr>
          </a:p>
          <a:p>
            <a:pPr algn="l">
              <a:lnSpc>
                <a:spcPct val="130000"/>
              </a:lnSpc>
              <a:buClrTx/>
              <a:buSzTx/>
              <a:buFontTx/>
            </a:pPr>
            <a:endParaRPr lang="zh-CN" altLang="en-US" sz="1200" dirty="0">
              <a:solidFill>
                <a:sysClr val="windowText" lastClr="000000"/>
              </a:solidFill>
              <a:cs typeface="+mn-ea"/>
              <a:sym typeface="+mn-lt"/>
            </a:endParaRPr>
          </a:p>
          <a:p>
            <a:pPr algn="l">
              <a:lnSpc>
                <a:spcPct val="130000"/>
              </a:lnSpc>
              <a:buClrTx/>
              <a:buSzTx/>
              <a:buFontTx/>
            </a:pPr>
            <a:r>
              <a:rPr lang="zh-CN" altLang="en-US" sz="1200" dirty="0">
                <a:solidFill>
                  <a:sysClr val="windowText" lastClr="000000"/>
                </a:solidFill>
                <a:cs typeface="+mn-ea"/>
                <a:sym typeface="+mn-lt"/>
              </a:rPr>
              <a:t>本项目共构建18个实体，即操作日志、说说、用户、分类、角色、定时任务、友链、照片、权限、技术文章、文件、留言、评论、相册、系统参数、异常日志。概念实体化如图E-R图所示。</a:t>
            </a:r>
            <a:endParaRPr lang="zh-CN" altLang="en-US" sz="1200" dirty="0">
              <a:solidFill>
                <a:sysClr val="windowText" lastClr="00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4268470" cy="520700"/>
          </a:xfrm>
          <a:prstGeom prst="rect">
            <a:avLst/>
          </a:prstGeom>
          <a:noFill/>
          <a:ln>
            <a:solidFill>
              <a:srgbClr val="FFFFFF">
                <a:alpha val="45882"/>
              </a:srgbClr>
            </a:solidFill>
          </a:ln>
        </p:spPr>
        <p:txBody>
          <a:bodyPr wrap="square" lIns="91438" tIns="45719" rIns="91438" bIns="45719" rtlCol="0">
            <a:spAutoFit/>
          </a:bodyPr>
          <a:lstStyle/>
          <a:p>
            <a:pPr algn="l"/>
            <a:r>
              <a:rPr lang="zh-CN" altLang="en-US" sz="2800" b="1" dirty="0">
                <a:solidFill>
                  <a:schemeClr val="bg1"/>
                </a:solidFill>
                <a:cs typeface="+mn-ea"/>
                <a:sym typeface="+mn-lt"/>
              </a:rPr>
              <a:t>数据库设计</a:t>
            </a:r>
            <a:r>
              <a:rPr lang="en-US" altLang="zh-CN" sz="2800" b="1" dirty="0">
                <a:solidFill>
                  <a:schemeClr val="bg1"/>
                </a:solidFill>
                <a:cs typeface="+mn-ea"/>
                <a:sym typeface="+mn-lt"/>
              </a:rPr>
              <a:t>-</a:t>
            </a:r>
            <a:r>
              <a:rPr lang="zh-CN" altLang="en-US" sz="2800" b="1" dirty="0">
                <a:solidFill>
                  <a:schemeClr val="bg1"/>
                </a:solidFill>
                <a:cs typeface="+mn-ea"/>
                <a:sym typeface="+mn-lt"/>
              </a:rPr>
              <a:t>需求</a:t>
            </a:r>
            <a:r>
              <a:rPr lang="zh-CN" altLang="en-US" sz="2800" b="1" dirty="0">
                <a:solidFill>
                  <a:schemeClr val="bg1"/>
                </a:solidFill>
                <a:cs typeface="+mn-ea"/>
                <a:sym typeface="+mn-lt"/>
              </a:rPr>
              <a:t>分析</a:t>
            </a:r>
            <a:endParaRPr lang="zh-CN" altLang="en-US" sz="2800" b="1" dirty="0">
              <a:solidFill>
                <a:schemeClr val="bg1"/>
              </a:solidFill>
              <a:cs typeface="+mn-ea"/>
              <a:sym typeface="+mn-lt"/>
            </a:endParaRPr>
          </a:p>
        </p:txBody>
      </p:sp>
    </p:spTree>
  </p:cSld>
  <p:clrMapOvr>
    <a:masterClrMapping/>
  </p:clrMapOvr>
  <p:transition spd="slow">
    <p:wip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229235" y="771525"/>
            <a:ext cx="867092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1600" dirty="0">
                <a:solidFill>
                  <a:sysClr val="windowText" lastClr="000000"/>
                </a:solidFill>
                <a:cs typeface="+mn-ea"/>
                <a:sym typeface="+mn-lt"/>
              </a:rPr>
              <a:t>例</a:t>
            </a:r>
            <a:r>
              <a:rPr lang="en-US" altLang="zh-CN" sz="1600" dirty="0">
                <a:solidFill>
                  <a:sysClr val="windowText" lastClr="000000"/>
                </a:solidFill>
                <a:cs typeface="+mn-ea"/>
                <a:sym typeface="+mn-lt"/>
              </a:rPr>
              <a:t>2</a:t>
            </a:r>
            <a:r>
              <a:rPr lang="zh-CN" altLang="en-US" sz="1600" dirty="0">
                <a:solidFill>
                  <a:sysClr val="windowText" lastClr="000000"/>
                </a:solidFill>
                <a:cs typeface="+mn-ea"/>
                <a:sym typeface="+mn-lt"/>
              </a:rPr>
              <a:t>：博主论坛类</a:t>
            </a:r>
            <a:r>
              <a:rPr lang="zh-CN" altLang="en-US" sz="1600" dirty="0">
                <a:solidFill>
                  <a:sysClr val="windowText" lastClr="000000"/>
                </a:solidFill>
                <a:cs typeface="+mn-ea"/>
                <a:sym typeface="+mn-lt"/>
              </a:rPr>
              <a:t>系统</a:t>
            </a:r>
            <a:endParaRPr lang="zh-CN" altLang="en-US" sz="1600" dirty="0">
              <a:solidFill>
                <a:sysClr val="windowText" lastClr="000000"/>
              </a:solidFill>
              <a:cs typeface="+mn-ea"/>
              <a:sym typeface="+mn-lt"/>
            </a:endParaRPr>
          </a:p>
          <a:p>
            <a:pPr algn="l">
              <a:lnSpc>
                <a:spcPct val="130000"/>
              </a:lnSpc>
              <a:buClrTx/>
              <a:buSzTx/>
              <a:buFontTx/>
            </a:pPr>
            <a:endParaRPr lang="zh-CN" altLang="en-US" sz="1200" dirty="0">
              <a:solidFill>
                <a:sysClr val="windowText" lastClr="00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4268470" cy="520700"/>
          </a:xfrm>
          <a:prstGeom prst="rect">
            <a:avLst/>
          </a:prstGeom>
          <a:noFill/>
          <a:ln>
            <a:solidFill>
              <a:srgbClr val="FFFFFF">
                <a:alpha val="45882"/>
              </a:srgbClr>
            </a:solidFill>
          </a:ln>
        </p:spPr>
        <p:txBody>
          <a:bodyPr wrap="square" lIns="91438" tIns="45719" rIns="91438" bIns="45719" rtlCol="0">
            <a:spAutoFit/>
          </a:bodyPr>
          <a:lstStyle/>
          <a:p>
            <a:pPr algn="l"/>
            <a:r>
              <a:rPr lang="zh-CN" altLang="en-US" sz="2800" b="1" dirty="0">
                <a:solidFill>
                  <a:schemeClr val="bg1"/>
                </a:solidFill>
                <a:cs typeface="+mn-ea"/>
                <a:sym typeface="+mn-lt"/>
              </a:rPr>
              <a:t>数据库设计</a:t>
            </a:r>
            <a:r>
              <a:rPr lang="en-US" altLang="zh-CN" sz="2800" b="1" dirty="0">
                <a:solidFill>
                  <a:schemeClr val="bg1"/>
                </a:solidFill>
                <a:cs typeface="+mn-ea"/>
                <a:sym typeface="+mn-lt"/>
              </a:rPr>
              <a:t>-</a:t>
            </a:r>
            <a:r>
              <a:rPr lang="zh-CN" altLang="en-US" sz="2800" b="1" dirty="0">
                <a:solidFill>
                  <a:schemeClr val="bg1"/>
                </a:solidFill>
                <a:cs typeface="+mn-ea"/>
                <a:sym typeface="+mn-lt"/>
              </a:rPr>
              <a:t>需求</a:t>
            </a:r>
            <a:r>
              <a:rPr lang="zh-CN" altLang="en-US" sz="2800" b="1" dirty="0">
                <a:solidFill>
                  <a:schemeClr val="bg1"/>
                </a:solidFill>
                <a:cs typeface="+mn-ea"/>
                <a:sym typeface="+mn-lt"/>
              </a:rPr>
              <a:t>分析</a:t>
            </a:r>
            <a:endParaRPr lang="zh-CN" altLang="en-US" sz="2800" b="1" dirty="0">
              <a:solidFill>
                <a:schemeClr val="bg1"/>
              </a:solidFill>
              <a:cs typeface="+mn-ea"/>
              <a:sym typeface="+mn-lt"/>
            </a:endParaRPr>
          </a:p>
        </p:txBody>
      </p:sp>
      <p:pic>
        <p:nvPicPr>
          <p:cNvPr id="1657899898" name="图片 1"/>
          <p:cNvPicPr>
            <a:picLocks noChangeAspect="1"/>
          </p:cNvPicPr>
          <p:nvPr/>
        </p:nvPicPr>
        <p:blipFill>
          <a:blip r:embed="rId1"/>
          <a:stretch>
            <a:fillRect/>
          </a:stretch>
        </p:blipFill>
        <p:spPr>
          <a:xfrm>
            <a:off x="4646295" y="-20955"/>
            <a:ext cx="4497705" cy="5098415"/>
          </a:xfrm>
          <a:prstGeom prst="rect">
            <a:avLst/>
          </a:prstGeom>
        </p:spPr>
      </p:pic>
    </p:spTree>
  </p:cSld>
  <p:clrMapOvr>
    <a:masterClrMapping/>
  </p:clrMapOvr>
  <p:transition spd="slow">
    <p:wip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251460" y="771525"/>
            <a:ext cx="1532255" cy="730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30000"/>
              </a:lnSpc>
              <a:buClrTx/>
              <a:buSzTx/>
              <a:buFontTx/>
            </a:pPr>
            <a:r>
              <a:rPr lang="zh-CN" altLang="en-US" sz="1600" dirty="0">
                <a:solidFill>
                  <a:sysClr val="windowText" lastClr="000000"/>
                </a:solidFill>
                <a:cs typeface="+mn-ea"/>
                <a:sym typeface="+mn-lt"/>
              </a:rPr>
              <a:t>例</a:t>
            </a:r>
            <a:r>
              <a:rPr lang="en-US" altLang="zh-CN" sz="1600" dirty="0">
                <a:solidFill>
                  <a:sysClr val="windowText" lastClr="000000"/>
                </a:solidFill>
                <a:cs typeface="+mn-ea"/>
                <a:sym typeface="+mn-lt"/>
              </a:rPr>
              <a:t>3</a:t>
            </a:r>
            <a:r>
              <a:rPr lang="zh-CN" altLang="en-US" sz="1600" dirty="0">
                <a:solidFill>
                  <a:sysClr val="windowText" lastClr="000000"/>
                </a:solidFill>
                <a:cs typeface="+mn-ea"/>
                <a:sym typeface="+mn-lt"/>
              </a:rPr>
              <a:t>.</a:t>
            </a:r>
            <a:r>
              <a:rPr lang="zh-CN" altLang="en-US" sz="1600" dirty="0">
                <a:solidFill>
                  <a:sysClr val="windowText" lastClr="000000"/>
                </a:solidFill>
                <a:cs typeface="+mn-ea"/>
                <a:sym typeface="+mn-lt"/>
              </a:rPr>
              <a:t>网上商城的数据库设计</a:t>
            </a:r>
            <a:endParaRPr lang="zh-CN" altLang="en-US" sz="1600" dirty="0">
              <a:solidFill>
                <a:sysClr val="windowText" lastClr="00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2182495" cy="520700"/>
          </a:xfrm>
          <a:prstGeom prst="rect">
            <a:avLst/>
          </a:prstGeom>
          <a:noFill/>
          <a:ln>
            <a:solidFill>
              <a:srgbClr val="FFFFFF">
                <a:alpha val="45882"/>
              </a:srgbClr>
            </a:solidFill>
          </a:ln>
        </p:spPr>
        <p:txBody>
          <a:bodyPr wrap="square" lIns="91438" tIns="45719" rIns="91438" bIns="45719" rtlCol="0">
            <a:spAutoFit/>
          </a:bodyPr>
          <a:lstStyle/>
          <a:p>
            <a:r>
              <a:rPr lang="zh-CN" altLang="en-US" sz="2800" b="1" dirty="0">
                <a:solidFill>
                  <a:schemeClr val="bg1"/>
                </a:solidFill>
                <a:cs typeface="+mn-ea"/>
                <a:sym typeface="+mn-lt"/>
              </a:rPr>
              <a:t>数据库设计</a:t>
            </a:r>
            <a:endParaRPr lang="zh-CN" altLang="en-US" sz="2800" b="1" dirty="0">
              <a:solidFill>
                <a:schemeClr val="bg1"/>
              </a:solidFill>
              <a:cs typeface="+mn-ea"/>
              <a:sym typeface="+mn-lt"/>
            </a:endParaRPr>
          </a:p>
        </p:txBody>
      </p:sp>
      <p:pic>
        <p:nvPicPr>
          <p:cNvPr id="2" name="图片 1"/>
          <p:cNvPicPr>
            <a:picLocks noChangeAspect="1"/>
          </p:cNvPicPr>
          <p:nvPr/>
        </p:nvPicPr>
        <p:blipFill>
          <a:blip r:embed="rId1"/>
          <a:stretch>
            <a:fillRect/>
          </a:stretch>
        </p:blipFill>
        <p:spPr>
          <a:xfrm>
            <a:off x="1619250" y="699135"/>
            <a:ext cx="7327900" cy="4305935"/>
          </a:xfrm>
          <a:prstGeom prst="rect">
            <a:avLst/>
          </a:prstGeom>
        </p:spPr>
      </p:pic>
    </p:spTree>
  </p:cSld>
  <p:clrMapOvr>
    <a:masterClrMapping/>
  </p:clrMapOvr>
  <p:transition spd="slow">
    <p:wip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251460" y="771525"/>
            <a:ext cx="1532255" cy="730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30000"/>
              </a:lnSpc>
              <a:buClrTx/>
              <a:buSzTx/>
              <a:buFontTx/>
            </a:pPr>
            <a:r>
              <a:rPr lang="zh-CN" altLang="en-US" sz="1600" dirty="0">
                <a:solidFill>
                  <a:sysClr val="windowText" lastClr="000000"/>
                </a:solidFill>
                <a:cs typeface="+mn-ea"/>
                <a:sym typeface="+mn-lt"/>
              </a:rPr>
              <a:t>例</a:t>
            </a:r>
            <a:r>
              <a:rPr lang="en-US" altLang="zh-CN" sz="1600" dirty="0">
                <a:solidFill>
                  <a:sysClr val="windowText" lastClr="000000"/>
                </a:solidFill>
                <a:cs typeface="+mn-ea"/>
                <a:sym typeface="+mn-lt"/>
              </a:rPr>
              <a:t>3</a:t>
            </a:r>
            <a:r>
              <a:rPr lang="zh-CN" altLang="en-US" sz="1600" dirty="0">
                <a:solidFill>
                  <a:sysClr val="windowText" lastClr="000000"/>
                </a:solidFill>
                <a:cs typeface="+mn-ea"/>
                <a:sym typeface="+mn-lt"/>
              </a:rPr>
              <a:t>.</a:t>
            </a:r>
            <a:r>
              <a:rPr lang="zh-CN" altLang="en-US" sz="1600" dirty="0">
                <a:solidFill>
                  <a:sysClr val="windowText" lastClr="000000"/>
                </a:solidFill>
                <a:cs typeface="+mn-ea"/>
                <a:sym typeface="+mn-lt"/>
              </a:rPr>
              <a:t>网上商城的数据库设计</a:t>
            </a:r>
            <a:endParaRPr lang="zh-CN" altLang="en-US" sz="1600" dirty="0">
              <a:solidFill>
                <a:sysClr val="windowText" lastClr="00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2182495" cy="520700"/>
          </a:xfrm>
          <a:prstGeom prst="rect">
            <a:avLst/>
          </a:prstGeom>
          <a:noFill/>
          <a:ln>
            <a:solidFill>
              <a:srgbClr val="FFFFFF">
                <a:alpha val="45882"/>
              </a:srgbClr>
            </a:solidFill>
          </a:ln>
        </p:spPr>
        <p:txBody>
          <a:bodyPr wrap="square" lIns="91438" tIns="45719" rIns="91438" bIns="45719" rtlCol="0">
            <a:spAutoFit/>
          </a:bodyPr>
          <a:lstStyle/>
          <a:p>
            <a:r>
              <a:rPr lang="zh-CN" altLang="en-US" sz="2800" b="1" dirty="0">
                <a:solidFill>
                  <a:schemeClr val="bg1"/>
                </a:solidFill>
                <a:cs typeface="+mn-ea"/>
                <a:sym typeface="+mn-lt"/>
              </a:rPr>
              <a:t>数据库设计</a:t>
            </a:r>
            <a:endParaRPr lang="zh-CN" altLang="en-US" sz="2800" b="1" dirty="0">
              <a:solidFill>
                <a:schemeClr val="bg1"/>
              </a:solidFill>
              <a:cs typeface="+mn-ea"/>
              <a:sym typeface="+mn-lt"/>
            </a:endParaRPr>
          </a:p>
        </p:txBody>
      </p:sp>
      <p:pic>
        <p:nvPicPr>
          <p:cNvPr id="2" name="图片 13" descr="毕设E-R图"/>
          <p:cNvPicPr>
            <a:picLocks noChangeAspect="1"/>
          </p:cNvPicPr>
          <p:nvPr/>
        </p:nvPicPr>
        <p:blipFill>
          <a:blip r:embed="rId1"/>
          <a:stretch>
            <a:fillRect/>
          </a:stretch>
        </p:blipFill>
        <p:spPr>
          <a:xfrm>
            <a:off x="2555875" y="51435"/>
            <a:ext cx="5772785" cy="4950460"/>
          </a:xfrm>
          <a:prstGeom prst="rect">
            <a:avLst/>
          </a:prstGeom>
          <a:noFill/>
          <a:ln w="9525">
            <a:noFill/>
          </a:ln>
        </p:spPr>
      </p:pic>
    </p:spTree>
  </p:cSld>
  <p:clrMapOvr>
    <a:masterClrMapping/>
  </p:clrMapOvr>
  <p:transition spd="slow">
    <p:wip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251460" y="771525"/>
            <a:ext cx="1532255" cy="730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30000"/>
              </a:lnSpc>
              <a:buClrTx/>
              <a:buSzTx/>
              <a:buFontTx/>
            </a:pPr>
            <a:r>
              <a:rPr lang="zh-CN" altLang="en-US" sz="1600" dirty="0">
                <a:solidFill>
                  <a:sysClr val="windowText" lastClr="000000"/>
                </a:solidFill>
                <a:cs typeface="+mn-ea"/>
                <a:sym typeface="+mn-lt"/>
              </a:rPr>
              <a:t>例</a:t>
            </a:r>
            <a:r>
              <a:rPr lang="en-US" altLang="zh-CN" sz="1600" dirty="0">
                <a:solidFill>
                  <a:sysClr val="windowText" lastClr="000000"/>
                </a:solidFill>
                <a:cs typeface="+mn-ea"/>
                <a:sym typeface="+mn-lt"/>
              </a:rPr>
              <a:t>3</a:t>
            </a:r>
            <a:r>
              <a:rPr lang="zh-CN" altLang="en-US" sz="1600" dirty="0">
                <a:solidFill>
                  <a:sysClr val="windowText" lastClr="000000"/>
                </a:solidFill>
                <a:cs typeface="+mn-ea"/>
                <a:sym typeface="+mn-lt"/>
              </a:rPr>
              <a:t>.</a:t>
            </a:r>
            <a:r>
              <a:rPr lang="zh-CN" altLang="en-US" sz="1600" dirty="0">
                <a:solidFill>
                  <a:sysClr val="windowText" lastClr="000000"/>
                </a:solidFill>
                <a:cs typeface="+mn-ea"/>
                <a:sym typeface="+mn-lt"/>
              </a:rPr>
              <a:t>网上商城的数据库设计</a:t>
            </a:r>
            <a:endParaRPr lang="zh-CN" altLang="en-US" sz="1600" dirty="0">
              <a:solidFill>
                <a:sysClr val="windowText" lastClr="00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2182495" cy="520700"/>
          </a:xfrm>
          <a:prstGeom prst="rect">
            <a:avLst/>
          </a:prstGeom>
          <a:noFill/>
          <a:ln>
            <a:solidFill>
              <a:srgbClr val="FFFFFF">
                <a:alpha val="45882"/>
              </a:srgbClr>
            </a:solidFill>
          </a:ln>
        </p:spPr>
        <p:txBody>
          <a:bodyPr wrap="square" lIns="91438" tIns="45719" rIns="91438" bIns="45719" rtlCol="0">
            <a:spAutoFit/>
          </a:bodyPr>
          <a:lstStyle/>
          <a:p>
            <a:r>
              <a:rPr lang="zh-CN" altLang="en-US" sz="2800" b="1" dirty="0">
                <a:solidFill>
                  <a:schemeClr val="bg1"/>
                </a:solidFill>
                <a:cs typeface="+mn-ea"/>
                <a:sym typeface="+mn-lt"/>
              </a:rPr>
              <a:t>数据库设计</a:t>
            </a:r>
            <a:endParaRPr lang="zh-CN" altLang="en-US" sz="2800" b="1" dirty="0">
              <a:solidFill>
                <a:schemeClr val="bg1"/>
              </a:solidFill>
              <a:cs typeface="+mn-ea"/>
              <a:sym typeface="+mn-lt"/>
            </a:endParaRPr>
          </a:p>
        </p:txBody>
      </p:sp>
      <p:pic>
        <p:nvPicPr>
          <p:cNvPr id="3" name="图片 3" descr="绘图3"/>
          <p:cNvPicPr>
            <a:picLocks noChangeAspect="1"/>
          </p:cNvPicPr>
          <p:nvPr/>
        </p:nvPicPr>
        <p:blipFill>
          <a:blip r:embed="rId1"/>
          <a:stretch>
            <a:fillRect/>
          </a:stretch>
        </p:blipFill>
        <p:spPr>
          <a:xfrm>
            <a:off x="2903855" y="51435"/>
            <a:ext cx="4105275" cy="5135880"/>
          </a:xfrm>
          <a:prstGeom prst="rect">
            <a:avLst/>
          </a:prstGeom>
        </p:spPr>
      </p:pic>
    </p:spTree>
  </p:cSld>
  <p:clrMapOvr>
    <a:masterClrMapping/>
  </p:clrMapOvr>
  <p:transition spd="slow">
    <p:wip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2"/>
          <a:stretch>
            <a:fillRect/>
          </a:stretch>
        </p:blipFill>
        <p:spPr>
          <a:xfrm>
            <a:off x="827405" y="1851660"/>
            <a:ext cx="8114665" cy="3027680"/>
          </a:xfrm>
          <a:prstGeom prst="rect">
            <a:avLst/>
          </a:prstGeom>
        </p:spPr>
      </p:pic>
      <p:sp>
        <p:nvSpPr>
          <p:cNvPr id="18" name="矩形 17"/>
          <p:cNvSpPr>
            <a:spLocks noChangeArrowheads="1"/>
          </p:cNvSpPr>
          <p:nvPr/>
        </p:nvSpPr>
        <p:spPr bwMode="auto">
          <a:xfrm>
            <a:off x="251460" y="915035"/>
            <a:ext cx="5052060" cy="4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30000"/>
              </a:lnSpc>
              <a:buClrTx/>
              <a:buSzTx/>
              <a:buFontTx/>
            </a:pPr>
            <a:r>
              <a:rPr lang="zh-CN" altLang="en-US" sz="1600" dirty="0">
                <a:solidFill>
                  <a:sysClr val="windowText" lastClr="000000"/>
                </a:solidFill>
                <a:cs typeface="+mn-ea"/>
                <a:sym typeface="+mn-lt"/>
              </a:rPr>
              <a:t>例</a:t>
            </a:r>
            <a:r>
              <a:rPr lang="en-US" altLang="zh-CN" sz="1600" dirty="0">
                <a:solidFill>
                  <a:sysClr val="windowText" lastClr="000000"/>
                </a:solidFill>
                <a:cs typeface="+mn-ea"/>
                <a:sym typeface="+mn-lt"/>
              </a:rPr>
              <a:t>3</a:t>
            </a:r>
            <a:r>
              <a:rPr lang="zh-CN" altLang="en-US" sz="1600" dirty="0">
                <a:solidFill>
                  <a:sysClr val="windowText" lastClr="000000"/>
                </a:solidFill>
                <a:cs typeface="+mn-ea"/>
                <a:sym typeface="+mn-lt"/>
              </a:rPr>
              <a:t>.</a:t>
            </a:r>
            <a:r>
              <a:rPr lang="zh-CN" altLang="en-US" sz="1600" dirty="0">
                <a:solidFill>
                  <a:sysClr val="windowText" lastClr="000000"/>
                </a:solidFill>
                <a:cs typeface="+mn-ea"/>
                <a:sym typeface="+mn-lt"/>
              </a:rPr>
              <a:t>网上蛋糕商城的数据库设计</a:t>
            </a:r>
            <a:endParaRPr lang="zh-CN" altLang="en-US" sz="1600" dirty="0">
              <a:solidFill>
                <a:sysClr val="windowText" lastClr="000000"/>
              </a:solidFill>
              <a:cs typeface="+mn-ea"/>
              <a:sym typeface="+mn-lt"/>
            </a:endParaRPr>
          </a:p>
        </p:txBody>
      </p:sp>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2182495" cy="520700"/>
          </a:xfrm>
          <a:prstGeom prst="rect">
            <a:avLst/>
          </a:prstGeom>
          <a:noFill/>
          <a:ln>
            <a:solidFill>
              <a:srgbClr val="FFFFFF">
                <a:alpha val="45882"/>
              </a:srgbClr>
            </a:solidFill>
          </a:ln>
        </p:spPr>
        <p:txBody>
          <a:bodyPr wrap="square" lIns="91438" tIns="45719" rIns="91438" bIns="45719" rtlCol="0">
            <a:spAutoFit/>
          </a:bodyPr>
          <a:lstStyle/>
          <a:p>
            <a:pPr algn="l"/>
            <a:r>
              <a:rPr lang="zh-CN" altLang="en-US" sz="2800" b="1" dirty="0">
                <a:solidFill>
                  <a:schemeClr val="bg1"/>
                </a:solidFill>
                <a:cs typeface="+mn-ea"/>
                <a:sym typeface="+mn-lt"/>
              </a:rPr>
              <a:t>数据库</a:t>
            </a:r>
            <a:r>
              <a:rPr lang="zh-CN" altLang="en-US" sz="2800" b="1" dirty="0">
                <a:solidFill>
                  <a:schemeClr val="bg1"/>
                </a:solidFill>
                <a:cs typeface="+mn-ea"/>
                <a:sym typeface="+mn-lt"/>
              </a:rPr>
              <a:t>设计</a:t>
            </a:r>
            <a:endParaRPr lang="zh-CN" altLang="en-US" sz="2800" b="1" dirty="0">
              <a:solidFill>
                <a:schemeClr val="bg1"/>
              </a:solidFill>
              <a:cs typeface="+mn-ea"/>
              <a:sym typeface="+mn-lt"/>
            </a:endParaRPr>
          </a:p>
        </p:txBody>
      </p:sp>
      <p:sp>
        <p:nvSpPr>
          <p:cNvPr id="3" name="文本框 2"/>
          <p:cNvSpPr txBox="1"/>
          <p:nvPr/>
        </p:nvSpPr>
        <p:spPr>
          <a:xfrm>
            <a:off x="323850" y="1347470"/>
            <a:ext cx="8642350" cy="1691005"/>
          </a:xfrm>
          <a:prstGeom prst="rect">
            <a:avLst/>
          </a:prstGeom>
          <a:noFill/>
        </p:spPr>
        <p:txBody>
          <a:bodyPr wrap="square" rtlCol="0" anchor="t">
            <a:spAutoFit/>
          </a:bodyPr>
          <a:p>
            <a:pPr algn="l" fontAlgn="auto">
              <a:lnSpc>
                <a:spcPct val="130000"/>
              </a:lnSpc>
              <a:buClrTx/>
              <a:buSzTx/>
              <a:buFontTx/>
            </a:pPr>
            <a:r>
              <a:rPr lang="zh-CN" altLang="en-US" sz="1600" dirty="0">
                <a:solidFill>
                  <a:sysClr val="windowText" lastClr="000000"/>
                </a:solidFill>
                <a:cs typeface="+mn-ea"/>
                <a:sym typeface="+mn-ea"/>
              </a:rPr>
              <a:t>用户（id，用户名，姓名，邮箱，密码，电话，地址，是否是管理员，用户状态）</a:t>
            </a:r>
            <a:endParaRPr lang="zh-CN" altLang="en-US" sz="1600" dirty="0">
              <a:solidFill>
                <a:sysClr val="windowText" lastClr="000000"/>
              </a:solidFill>
              <a:cs typeface="+mn-ea"/>
            </a:endParaRPr>
          </a:p>
          <a:p>
            <a:pPr algn="l" fontAlgn="auto">
              <a:lnSpc>
                <a:spcPct val="130000"/>
              </a:lnSpc>
              <a:buClrTx/>
              <a:buSzTx/>
              <a:buFontTx/>
            </a:pPr>
            <a:r>
              <a:rPr lang="zh-CN" altLang="en-US" sz="1600" dirty="0">
                <a:solidFill>
                  <a:sysClr val="windowText" lastClr="000000"/>
                </a:solidFill>
                <a:cs typeface="+mn-ea"/>
                <a:sym typeface="+mn-ea"/>
              </a:rPr>
              <a:t>商品（</a:t>
            </a:r>
            <a:r>
              <a:rPr lang="zh-CN" altLang="en-US" sz="1600" dirty="0">
                <a:solidFill>
                  <a:sysClr val="windowText" lastClr="000000"/>
                </a:solidFill>
                <a:cs typeface="+mn-ea"/>
                <a:sym typeface="+mn-ea"/>
              </a:rPr>
              <a:t>id，名称，价格，分类，详情，描述，库存，图片地址，类型</a:t>
            </a:r>
            <a:r>
              <a:rPr lang="zh-CN" altLang="en-US" sz="1600" dirty="0">
                <a:solidFill>
                  <a:sysClr val="windowText" lastClr="000000"/>
                </a:solidFill>
                <a:cs typeface="+mn-ea"/>
                <a:sym typeface="+mn-ea"/>
              </a:rPr>
              <a:t>）</a:t>
            </a:r>
            <a:endParaRPr lang="zh-CN" altLang="en-US" sz="1600" dirty="0">
              <a:solidFill>
                <a:sysClr val="windowText" lastClr="000000"/>
              </a:solidFill>
              <a:cs typeface="+mn-ea"/>
            </a:endParaRPr>
          </a:p>
          <a:p>
            <a:pPr algn="l" fontAlgn="auto">
              <a:lnSpc>
                <a:spcPct val="130000"/>
              </a:lnSpc>
              <a:buClrTx/>
              <a:buSzTx/>
              <a:buFontTx/>
            </a:pPr>
            <a:r>
              <a:rPr lang="zh-CN" altLang="en-US" sz="1600" dirty="0">
                <a:solidFill>
                  <a:sysClr val="windowText" lastClr="000000"/>
                </a:solidFill>
                <a:cs typeface="+mn-ea"/>
                <a:sym typeface="+mn-ea"/>
              </a:rPr>
              <a:t>订单（id，用户id，订单日期，用户地址，用户电话，支付方式，</a:t>
            </a:r>
            <a:endParaRPr lang="zh-CN" altLang="en-US" sz="1600" dirty="0">
              <a:solidFill>
                <a:sysClr val="windowText" lastClr="000000"/>
              </a:solidFill>
              <a:cs typeface="+mn-ea"/>
            </a:endParaRPr>
          </a:p>
          <a:p>
            <a:pPr algn="l" fontAlgn="auto">
              <a:lnSpc>
                <a:spcPct val="130000"/>
              </a:lnSpc>
              <a:buClrTx/>
              <a:buSzTx/>
              <a:buFontTx/>
            </a:pPr>
            <a:r>
              <a:rPr lang="zh-CN" altLang="en-US" sz="1600" dirty="0">
                <a:solidFill>
                  <a:sysClr val="windowText" lastClr="000000"/>
                </a:solidFill>
                <a:cs typeface="+mn-ea"/>
                <a:sym typeface="+mn-ea"/>
              </a:rPr>
              <a:t>        支付状态，商品数量，商品总额）</a:t>
            </a:r>
            <a:endParaRPr lang="zh-CN" altLang="en-US" sz="1600" dirty="0">
              <a:solidFill>
                <a:sysClr val="windowText" lastClr="000000"/>
              </a:solidFill>
              <a:cs typeface="+mn-ea"/>
            </a:endParaRPr>
          </a:p>
          <a:p>
            <a:pPr algn="l" fontAlgn="auto">
              <a:lnSpc>
                <a:spcPct val="130000"/>
              </a:lnSpc>
              <a:buClrTx/>
              <a:buSzTx/>
              <a:buFontTx/>
            </a:pPr>
            <a:r>
              <a:rPr lang="zh-CN" altLang="en-US" sz="1600" dirty="0">
                <a:solidFill>
                  <a:sysClr val="windowText" lastClr="000000"/>
                </a:solidFill>
                <a:cs typeface="+mn-ea"/>
                <a:sym typeface="+mn-ea"/>
              </a:rPr>
              <a:t>订单项（id，商品id，订单id</a:t>
            </a:r>
            <a:r>
              <a:rPr lang="zh-CN" altLang="en-US" sz="1600" dirty="0">
                <a:solidFill>
                  <a:sysClr val="windowText" lastClr="000000"/>
                </a:solidFill>
                <a:cs typeface="+mn-ea"/>
                <a:sym typeface="+mn-ea"/>
              </a:rPr>
              <a:t>，价格，数量）</a:t>
            </a:r>
            <a:endParaRPr lang="zh-CN" altLang="en-US" sz="1600" dirty="0">
              <a:solidFill>
                <a:sysClr val="windowText" lastClr="000000"/>
              </a:solidFill>
              <a:cs typeface="+mn-ea"/>
              <a:sym typeface="+mn-ea"/>
            </a:endParaRPr>
          </a:p>
        </p:txBody>
      </p:sp>
    </p:spTree>
  </p:cSld>
  <p:clrMapOvr>
    <a:masterClrMapping/>
  </p:clrMapOvr>
  <p:transition spd="slow">
    <p:wip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2182495" cy="520700"/>
          </a:xfrm>
          <a:prstGeom prst="rect">
            <a:avLst/>
          </a:prstGeom>
          <a:noFill/>
          <a:ln>
            <a:solidFill>
              <a:srgbClr val="FFFFFF">
                <a:alpha val="45882"/>
              </a:srgbClr>
            </a:solidFill>
          </a:ln>
        </p:spPr>
        <p:txBody>
          <a:bodyPr wrap="square" lIns="91438" tIns="45719" rIns="91438" bIns="45719" rtlCol="0">
            <a:spAutoFit/>
          </a:bodyPr>
          <a:lstStyle/>
          <a:p>
            <a:pPr algn="l"/>
            <a:r>
              <a:rPr lang="zh-CN" altLang="en-US" sz="2800" b="1" dirty="0">
                <a:solidFill>
                  <a:schemeClr val="bg1"/>
                </a:solidFill>
                <a:cs typeface="+mn-ea"/>
                <a:sym typeface="+mn-lt"/>
              </a:rPr>
              <a:t>数据库</a:t>
            </a:r>
            <a:r>
              <a:rPr lang="zh-CN" altLang="en-US" sz="2800" b="1" dirty="0">
                <a:solidFill>
                  <a:schemeClr val="bg1"/>
                </a:solidFill>
                <a:cs typeface="+mn-ea"/>
                <a:sym typeface="+mn-lt"/>
              </a:rPr>
              <a:t>设计</a:t>
            </a:r>
            <a:endParaRPr lang="zh-CN" altLang="en-US" sz="2800" b="1" dirty="0">
              <a:solidFill>
                <a:schemeClr val="bg1"/>
              </a:solidFill>
              <a:cs typeface="+mn-ea"/>
              <a:sym typeface="+mn-lt"/>
            </a:endParaRPr>
          </a:p>
        </p:txBody>
      </p:sp>
      <p:sp>
        <p:nvSpPr>
          <p:cNvPr id="35843" name="矩形 4"/>
          <p:cNvSpPr>
            <a:spLocks noChangeArrowheads="1"/>
          </p:cNvSpPr>
          <p:nvPr/>
        </p:nvSpPr>
        <p:spPr bwMode="auto">
          <a:xfrm>
            <a:off x="773639" y="1589254"/>
            <a:ext cx="5541169" cy="78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marL="457200" indent="-457200" eaLnBrk="1" hangingPunct="1">
              <a:lnSpc>
                <a:spcPct val="150000"/>
              </a:lnSpc>
              <a:buClr>
                <a:schemeClr val="accent1"/>
              </a:buClr>
              <a:buFont typeface="Wingdings" panose="05000000000000000000" pitchFamily="2" charset="2"/>
              <a:buChar char="Ø"/>
              <a:defRPr/>
            </a:pPr>
            <a:endParaRPr lang="en-US" altLang="zh-CN" sz="1500" dirty="0">
              <a:cs typeface="+mn-ea"/>
              <a:sym typeface="+mn-lt"/>
            </a:endParaRPr>
          </a:p>
          <a:p>
            <a:pPr marL="457200" indent="-457200" eaLnBrk="1" hangingPunct="1">
              <a:lnSpc>
                <a:spcPct val="150000"/>
              </a:lnSpc>
              <a:buClr>
                <a:schemeClr val="accent1"/>
              </a:buClr>
              <a:defRPr/>
            </a:pPr>
            <a:endParaRPr lang="zh-CN" altLang="zh-CN" sz="1500" dirty="0">
              <a:cs typeface="+mn-ea"/>
              <a:sym typeface="+mn-lt"/>
            </a:endParaRPr>
          </a:p>
        </p:txBody>
      </p:sp>
      <p:grpSp>
        <p:nvGrpSpPr>
          <p:cNvPr id="6" name="组合 5"/>
          <p:cNvGrpSpPr/>
          <p:nvPr/>
        </p:nvGrpSpPr>
        <p:grpSpPr>
          <a:xfrm>
            <a:off x="515779" y="985361"/>
            <a:ext cx="4628674" cy="438626"/>
            <a:chOff x="1398966" y="2027695"/>
            <a:chExt cx="2741612" cy="624154"/>
          </a:xfrm>
        </p:grpSpPr>
        <p:sp>
          <p:nvSpPr>
            <p:cNvPr id="7" name="等腰三角形 15"/>
            <p:cNvSpPr/>
            <p:nvPr/>
          </p:nvSpPr>
          <p:spPr>
            <a:xfrm rot="10800000">
              <a:off x="1400554" y="2552421"/>
              <a:ext cx="169688" cy="99428"/>
            </a:xfrm>
            <a:custGeom>
              <a:avLst/>
              <a:gdLst>
                <a:gd name="connsiteX0" fmla="*/ 0 w 186191"/>
                <a:gd name="connsiteY0" fmla="*/ 220134 h 220134"/>
                <a:gd name="connsiteX1" fmla="*/ 93096 w 186191"/>
                <a:gd name="connsiteY1" fmla="*/ 0 h 220134"/>
                <a:gd name="connsiteX2" fmla="*/ 186191 w 186191"/>
                <a:gd name="connsiteY2" fmla="*/ 220134 h 220134"/>
                <a:gd name="connsiteX3" fmla="*/ 0 w 186191"/>
                <a:gd name="connsiteY3" fmla="*/ 220134 h 220134"/>
                <a:gd name="connsiteX0-1" fmla="*/ 0 w 186191"/>
                <a:gd name="connsiteY0-2" fmla="*/ 229659 h 229659"/>
                <a:gd name="connsiteX1-3" fmla="*/ 4196 w 186191"/>
                <a:gd name="connsiteY1-4" fmla="*/ 0 h 229659"/>
                <a:gd name="connsiteX2-5" fmla="*/ 186191 w 186191"/>
                <a:gd name="connsiteY2-6" fmla="*/ 229659 h 229659"/>
                <a:gd name="connsiteX3-7" fmla="*/ 0 w 186191"/>
                <a:gd name="connsiteY3-8" fmla="*/ 229659 h 229659"/>
                <a:gd name="connsiteX0-9" fmla="*/ 2405 w 188596"/>
                <a:gd name="connsiteY0-10" fmla="*/ 232834 h 232834"/>
                <a:gd name="connsiteX1-11" fmla="*/ 251 w 188596"/>
                <a:gd name="connsiteY1-12" fmla="*/ 0 h 232834"/>
                <a:gd name="connsiteX2-13" fmla="*/ 188596 w 188596"/>
                <a:gd name="connsiteY2-14" fmla="*/ 232834 h 232834"/>
                <a:gd name="connsiteX3-15" fmla="*/ 2405 w 188596"/>
                <a:gd name="connsiteY3-16" fmla="*/ 232834 h 232834"/>
                <a:gd name="connsiteX0-17" fmla="*/ 0 w 191204"/>
                <a:gd name="connsiteY0-18" fmla="*/ 237468 h 237468"/>
                <a:gd name="connsiteX1-19" fmla="*/ 2859 w 191204"/>
                <a:gd name="connsiteY1-20" fmla="*/ 0 h 237468"/>
                <a:gd name="connsiteX2-21" fmla="*/ 191204 w 191204"/>
                <a:gd name="connsiteY2-22" fmla="*/ 232834 h 237468"/>
                <a:gd name="connsiteX3-23" fmla="*/ 0 w 191204"/>
                <a:gd name="connsiteY3-24" fmla="*/ 237468 h 237468"/>
                <a:gd name="connsiteX0-25" fmla="*/ 0 w 191204"/>
                <a:gd name="connsiteY0-26" fmla="*/ 246733 h 246733"/>
                <a:gd name="connsiteX1-27" fmla="*/ 2859 w 191204"/>
                <a:gd name="connsiteY1-28" fmla="*/ 0 h 246733"/>
                <a:gd name="connsiteX2-29" fmla="*/ 191204 w 191204"/>
                <a:gd name="connsiteY2-30" fmla="*/ 242099 h 246733"/>
                <a:gd name="connsiteX3-31" fmla="*/ 0 w 191204"/>
                <a:gd name="connsiteY3-32" fmla="*/ 246733 h 246733"/>
                <a:gd name="connsiteX0-33" fmla="*/ 4479 w 195683"/>
                <a:gd name="connsiteY0-34" fmla="*/ 251364 h 251364"/>
                <a:gd name="connsiteX1-35" fmla="*/ 183 w 195683"/>
                <a:gd name="connsiteY1-36" fmla="*/ 0 h 251364"/>
                <a:gd name="connsiteX2-37" fmla="*/ 195683 w 195683"/>
                <a:gd name="connsiteY2-38" fmla="*/ 246730 h 251364"/>
                <a:gd name="connsiteX3-39" fmla="*/ 4479 w 195683"/>
                <a:gd name="connsiteY3-40" fmla="*/ 251364 h 251364"/>
                <a:gd name="connsiteX0-41" fmla="*/ 0 w 191204"/>
                <a:gd name="connsiteY0-42" fmla="*/ 251364 h 251364"/>
                <a:gd name="connsiteX1-43" fmla="*/ 1070 w 191204"/>
                <a:gd name="connsiteY1-44" fmla="*/ 0 h 251364"/>
                <a:gd name="connsiteX2-45" fmla="*/ 191204 w 191204"/>
                <a:gd name="connsiteY2-46" fmla="*/ 246730 h 251364"/>
                <a:gd name="connsiteX3-47" fmla="*/ 0 w 191204"/>
                <a:gd name="connsiteY3-48" fmla="*/ 251364 h 251364"/>
                <a:gd name="connsiteX0-49" fmla="*/ 7999 w 199203"/>
                <a:gd name="connsiteY0-50" fmla="*/ 251364 h 251364"/>
                <a:gd name="connsiteX1-51" fmla="*/ 126 w 199203"/>
                <a:gd name="connsiteY1-52" fmla="*/ 0 h 251364"/>
                <a:gd name="connsiteX2-53" fmla="*/ 199203 w 199203"/>
                <a:gd name="connsiteY2-54" fmla="*/ 246730 h 251364"/>
                <a:gd name="connsiteX3-55" fmla="*/ 7999 w 199203"/>
                <a:gd name="connsiteY3-56" fmla="*/ 251364 h 251364"/>
                <a:gd name="connsiteX0-57" fmla="*/ 1055 w 192259"/>
                <a:gd name="connsiteY0-58" fmla="*/ 251364 h 251364"/>
                <a:gd name="connsiteX1-59" fmla="*/ 337 w 192259"/>
                <a:gd name="connsiteY1-60" fmla="*/ 0 h 251364"/>
                <a:gd name="connsiteX2-61" fmla="*/ 192259 w 192259"/>
                <a:gd name="connsiteY2-62" fmla="*/ 246730 h 251364"/>
                <a:gd name="connsiteX3-63" fmla="*/ 1055 w 192259"/>
                <a:gd name="connsiteY3-64" fmla="*/ 251364 h 251364"/>
                <a:gd name="connsiteX0-65" fmla="*/ 0 w 191204"/>
                <a:gd name="connsiteY0-66" fmla="*/ 260629 h 260629"/>
                <a:gd name="connsiteX1-67" fmla="*/ 2860 w 191204"/>
                <a:gd name="connsiteY1-68" fmla="*/ 0 h 260629"/>
                <a:gd name="connsiteX2-69" fmla="*/ 191204 w 191204"/>
                <a:gd name="connsiteY2-70" fmla="*/ 255995 h 260629"/>
                <a:gd name="connsiteX3-71" fmla="*/ 0 w 191204"/>
                <a:gd name="connsiteY3-72" fmla="*/ 260629 h 260629"/>
                <a:gd name="connsiteX0-73" fmla="*/ 0 w 191204"/>
                <a:gd name="connsiteY0-74" fmla="*/ 228200 h 228200"/>
                <a:gd name="connsiteX1-75" fmla="*/ 2860 w 191204"/>
                <a:gd name="connsiteY1-76" fmla="*/ 0 h 228200"/>
                <a:gd name="connsiteX2-77" fmla="*/ 191204 w 191204"/>
                <a:gd name="connsiteY2-78" fmla="*/ 223566 h 228200"/>
                <a:gd name="connsiteX3-79" fmla="*/ 0 w 191204"/>
                <a:gd name="connsiteY3-80" fmla="*/ 228200 h 228200"/>
                <a:gd name="connsiteX0-81" fmla="*/ 0 w 191204"/>
                <a:gd name="connsiteY0-82" fmla="*/ 228200 h 228200"/>
                <a:gd name="connsiteX1-83" fmla="*/ 1070 w 191204"/>
                <a:gd name="connsiteY1-84" fmla="*/ 0 h 228200"/>
                <a:gd name="connsiteX2-85" fmla="*/ 191204 w 191204"/>
                <a:gd name="connsiteY2-86" fmla="*/ 223566 h 228200"/>
                <a:gd name="connsiteX3-87" fmla="*/ 0 w 191204"/>
                <a:gd name="connsiteY3-88" fmla="*/ 228200 h 228200"/>
              </a:gdLst>
              <a:ahLst/>
              <a:cxnLst>
                <a:cxn ang="0">
                  <a:pos x="connsiteX0-1" y="connsiteY0-2"/>
                </a:cxn>
                <a:cxn ang="0">
                  <a:pos x="connsiteX1-3" y="connsiteY1-4"/>
                </a:cxn>
                <a:cxn ang="0">
                  <a:pos x="connsiteX2-5" y="connsiteY2-6"/>
                </a:cxn>
                <a:cxn ang="0">
                  <a:pos x="connsiteX3-7" y="connsiteY3-8"/>
                </a:cxn>
              </a:cxnLst>
              <a:rect l="l" t="t" r="r" b="b"/>
              <a:pathLst>
                <a:path w="191204" h="228200">
                  <a:moveTo>
                    <a:pt x="0" y="228200"/>
                  </a:moveTo>
                  <a:cubicBezTo>
                    <a:pt x="1399" y="151647"/>
                    <a:pt x="-329" y="76553"/>
                    <a:pt x="1070" y="0"/>
                  </a:cubicBezTo>
                  <a:lnTo>
                    <a:pt x="191204" y="223566"/>
                  </a:lnTo>
                  <a:lnTo>
                    <a:pt x="0" y="228200"/>
                  </a:lnTo>
                  <a:close/>
                </a:path>
              </a:pathLst>
            </a:custGeom>
            <a:solidFill>
              <a:srgbClr val="161D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cs typeface="+mn-ea"/>
                <a:sym typeface="+mn-lt"/>
              </a:endParaRPr>
            </a:p>
          </p:txBody>
        </p:sp>
        <p:sp>
          <p:nvSpPr>
            <p:cNvPr id="8" name="任意多边形: 形状 7"/>
            <p:cNvSpPr/>
            <p:nvPr/>
          </p:nvSpPr>
          <p:spPr>
            <a:xfrm>
              <a:off x="1398966" y="2027695"/>
              <a:ext cx="2741612" cy="526746"/>
            </a:xfrm>
            <a:custGeom>
              <a:avLst/>
              <a:gdLst>
                <a:gd name="connsiteX0" fmla="*/ 0 w 2020199"/>
                <a:gd name="connsiteY0" fmla="*/ 0 h 518583"/>
                <a:gd name="connsiteX1" fmla="*/ 2020199 w 2020199"/>
                <a:gd name="connsiteY1" fmla="*/ 0 h 518583"/>
                <a:gd name="connsiteX2" fmla="*/ 1890553 w 2020199"/>
                <a:gd name="connsiteY2" fmla="*/ 518583 h 518583"/>
                <a:gd name="connsiteX3" fmla="*/ 0 w 2020199"/>
                <a:gd name="connsiteY3" fmla="*/ 518583 h 518583"/>
              </a:gdLst>
              <a:ahLst/>
              <a:cxnLst>
                <a:cxn ang="0">
                  <a:pos x="connsiteX0" y="connsiteY0"/>
                </a:cxn>
                <a:cxn ang="0">
                  <a:pos x="connsiteX1" y="connsiteY1"/>
                </a:cxn>
                <a:cxn ang="0">
                  <a:pos x="connsiteX2" y="connsiteY2"/>
                </a:cxn>
                <a:cxn ang="0">
                  <a:pos x="connsiteX3" y="connsiteY3"/>
                </a:cxn>
              </a:cxnLst>
              <a:rect l="l" t="t" r="r" b="b"/>
              <a:pathLst>
                <a:path w="2020199" h="518583">
                  <a:moveTo>
                    <a:pt x="0" y="0"/>
                  </a:moveTo>
                  <a:lnTo>
                    <a:pt x="2020199" y="0"/>
                  </a:lnTo>
                  <a:lnTo>
                    <a:pt x="1890553" y="518583"/>
                  </a:lnTo>
                  <a:lnTo>
                    <a:pt x="0" y="518583"/>
                  </a:lnTo>
                  <a:close/>
                </a:path>
              </a:pathLst>
            </a:custGeom>
            <a:solidFill>
              <a:srgbClr val="23329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sz="1350" dirty="0">
                <a:cs typeface="+mn-ea"/>
                <a:sym typeface="+mn-lt"/>
              </a:endParaRPr>
            </a:p>
          </p:txBody>
        </p:sp>
      </p:grpSp>
      <p:sp>
        <p:nvSpPr>
          <p:cNvPr id="9" name="矩形 8"/>
          <p:cNvSpPr/>
          <p:nvPr/>
        </p:nvSpPr>
        <p:spPr>
          <a:xfrm>
            <a:off x="672573" y="898417"/>
            <a:ext cx="3524250" cy="506730"/>
          </a:xfrm>
          <a:prstGeom prst="rect">
            <a:avLst/>
          </a:prstGeom>
        </p:spPr>
        <p:txBody>
          <a:bodyPr wrap="none">
            <a:spAutoFit/>
          </a:bodyPr>
          <a:p>
            <a:pPr algn="l">
              <a:lnSpc>
                <a:spcPct val="150000"/>
              </a:lnSpc>
              <a:buClr>
                <a:srgbClr val="127FB8"/>
              </a:buClr>
              <a:buSzTx/>
              <a:buFontTx/>
              <a:defRPr/>
            </a:pPr>
            <a:r>
              <a:rPr lang="zh-CN" altLang="en-US" b="1" dirty="0">
                <a:solidFill>
                  <a:srgbClr val="FFFFFF"/>
                </a:solidFill>
                <a:latin typeface="+mn-ea"/>
                <a:cs typeface="+mn-ea"/>
                <a:sym typeface="+mn-ea"/>
              </a:rPr>
              <a:t>问题</a:t>
            </a:r>
            <a:r>
              <a:rPr lang="en-US" altLang="zh-CN" b="1" dirty="0">
                <a:solidFill>
                  <a:srgbClr val="FFFFFF"/>
                </a:solidFill>
                <a:latin typeface="+mn-ea"/>
                <a:cs typeface="+mn-ea"/>
                <a:sym typeface="+mn-ea"/>
              </a:rPr>
              <a:t>1、</a:t>
            </a:r>
            <a:r>
              <a:rPr lang="zh-CN" altLang="en-US" b="1" dirty="0">
                <a:solidFill>
                  <a:srgbClr val="FFFFFF"/>
                </a:solidFill>
                <a:latin typeface="+mn-ea"/>
                <a:cs typeface="+mn-ea"/>
                <a:sym typeface="+mn-ea"/>
              </a:rPr>
              <a:t>为什么购买商品必须登录</a:t>
            </a:r>
            <a:endParaRPr lang="zh-CN" altLang="en-US" b="1" dirty="0">
              <a:solidFill>
                <a:srgbClr val="FFFFFF"/>
              </a:solidFill>
              <a:latin typeface="+mn-ea"/>
              <a:cs typeface="+mn-ea"/>
              <a:sym typeface="+mn-ea"/>
            </a:endParaRPr>
          </a:p>
        </p:txBody>
      </p:sp>
      <p:pic>
        <p:nvPicPr>
          <p:cNvPr id="2" name="图片 3"/>
          <p:cNvPicPr>
            <a:picLocks noChangeAspect="1"/>
          </p:cNvPicPr>
          <p:nvPr>
            <p:custDataLst>
              <p:tags r:id="rId1"/>
            </p:custDataLst>
          </p:nvPr>
        </p:nvPicPr>
        <p:blipFill>
          <a:blip r:embed="rId2"/>
          <a:stretch>
            <a:fillRect/>
          </a:stretch>
        </p:blipFill>
        <p:spPr>
          <a:xfrm>
            <a:off x="672465" y="1504950"/>
            <a:ext cx="5361623" cy="2814638"/>
          </a:xfrm>
          <a:prstGeom prst="rect">
            <a:avLst/>
          </a:prstGeom>
        </p:spPr>
      </p:pic>
      <p:sp>
        <p:nvSpPr>
          <p:cNvPr id="11" name="文本框 10"/>
          <p:cNvSpPr txBox="1"/>
          <p:nvPr/>
        </p:nvSpPr>
        <p:spPr>
          <a:xfrm>
            <a:off x="6686550" y="1589246"/>
            <a:ext cx="2091690" cy="1028700"/>
          </a:xfrm>
          <a:prstGeom prst="rect">
            <a:avLst/>
          </a:prstGeom>
          <a:noFill/>
        </p:spPr>
        <p:txBody>
          <a:bodyPr wrap="square" lIns="67627" tIns="35242" rIns="67627" bIns="35242" rtlCol="0" anchor="t" anchorCtr="0">
            <a:spAutoFit/>
          </a:bodyPr>
          <a:p>
            <a:pPr algn="l" fontAlgn="auto">
              <a:lnSpc>
                <a:spcPct val="130000"/>
              </a:lnSpc>
              <a:spcAft>
                <a:spcPts val="1000"/>
              </a:spcAft>
              <a:buClrTx/>
              <a:buSzTx/>
              <a:buFontTx/>
            </a:pPr>
            <a:r>
              <a:rPr lang="zh-CN" altLang="en-US" sz="1200" b="1" spc="150" dirty="0">
                <a:uFillTx/>
                <a:latin typeface="+mn-ea"/>
                <a:cs typeface="+mn-ea"/>
                <a:sym typeface="+mn-ea"/>
              </a:rPr>
              <a:t>登录能获得一个用户信息（</a:t>
            </a:r>
            <a:r>
              <a:rPr lang="en-US" altLang="zh-CN" sz="1200" b="1" spc="150" dirty="0">
                <a:solidFill>
                  <a:srgbClr val="FF0000"/>
                </a:solidFill>
                <a:uFillTx/>
                <a:latin typeface="+mn-ea"/>
                <a:cs typeface="+mn-ea"/>
                <a:sym typeface="+mn-ea"/>
              </a:rPr>
              <a:t>id</a:t>
            </a:r>
            <a:r>
              <a:rPr lang="zh-CN" altLang="en-US" sz="1200" b="1" spc="150" dirty="0">
                <a:uFillTx/>
                <a:latin typeface="+mn-ea"/>
                <a:cs typeface="+mn-ea"/>
                <a:sym typeface="+mn-ea"/>
              </a:rPr>
              <a:t>，用户名，</a:t>
            </a:r>
            <a:r>
              <a:rPr lang="zh-CN" altLang="en-US" sz="1200" b="1" spc="150" dirty="0">
                <a:solidFill>
                  <a:srgbClr val="FF0000"/>
                </a:solidFill>
                <a:uFillTx/>
                <a:latin typeface="+mn-ea"/>
                <a:cs typeface="+mn-ea"/>
                <a:sym typeface="+mn-ea"/>
              </a:rPr>
              <a:t>姓名</a:t>
            </a:r>
            <a:r>
              <a:rPr lang="zh-CN" altLang="en-US" sz="1200" b="1" spc="150" dirty="0">
                <a:uFillTx/>
                <a:latin typeface="+mn-ea"/>
                <a:cs typeface="+mn-ea"/>
                <a:sym typeface="+mn-ea"/>
              </a:rPr>
              <a:t>，邮箱，密码，</a:t>
            </a:r>
            <a:r>
              <a:rPr lang="zh-CN" altLang="en-US" sz="1200" b="1" spc="150" dirty="0">
                <a:solidFill>
                  <a:srgbClr val="FF0000"/>
                </a:solidFill>
                <a:uFillTx/>
                <a:latin typeface="+mn-ea"/>
                <a:cs typeface="+mn-ea"/>
                <a:sym typeface="+mn-ea"/>
              </a:rPr>
              <a:t>电话，地址</a:t>
            </a:r>
            <a:r>
              <a:rPr lang="zh-CN" altLang="en-US" sz="1200" b="1" spc="150" dirty="0">
                <a:uFillTx/>
                <a:latin typeface="+mn-ea"/>
                <a:cs typeface="+mn-ea"/>
                <a:sym typeface="+mn-ea"/>
              </a:rPr>
              <a:t>，是否是管理员，用户状态）</a:t>
            </a:r>
            <a:endParaRPr lang="zh-CN" altLang="en-US" sz="1200" b="1" spc="150" dirty="0">
              <a:uFillTx/>
              <a:latin typeface="+mn-ea"/>
              <a:cs typeface="+mn-ea"/>
              <a:sym typeface="+mn-ea"/>
            </a:endParaRPr>
          </a:p>
        </p:txBody>
      </p:sp>
      <p:sp>
        <p:nvSpPr>
          <p:cNvPr id="12" name="文本框 11"/>
          <p:cNvSpPr txBox="1"/>
          <p:nvPr/>
        </p:nvSpPr>
        <p:spPr>
          <a:xfrm>
            <a:off x="6241256" y="3251359"/>
            <a:ext cx="2703195" cy="1397000"/>
          </a:xfrm>
          <a:prstGeom prst="rect">
            <a:avLst/>
          </a:prstGeom>
          <a:noFill/>
        </p:spPr>
        <p:txBody>
          <a:bodyPr wrap="square" lIns="67627" tIns="35242" rIns="67627" bIns="35242" rtlCol="0" anchor="t" anchorCtr="0">
            <a:spAutoFit/>
          </a:bodyPr>
          <a:p>
            <a:pPr algn="l" fontAlgn="auto">
              <a:lnSpc>
                <a:spcPct val="130000"/>
              </a:lnSpc>
              <a:spcAft>
                <a:spcPts val="1000"/>
              </a:spcAft>
              <a:buClrTx/>
              <a:buSzTx/>
              <a:buFontTx/>
            </a:pPr>
            <a:r>
              <a:rPr lang="zh-CN" altLang="en-US" sz="1200" b="1" spc="150" dirty="0">
                <a:uFillTx/>
                <a:latin typeface="+mn-ea"/>
                <a:cs typeface="+mn-ea"/>
                <a:sym typeface="+mn-ea"/>
              </a:rPr>
              <a:t>订单（</a:t>
            </a:r>
            <a:r>
              <a:rPr lang="en-US" altLang="zh-CN" sz="1200" b="1" spc="150" dirty="0">
                <a:uFillTx/>
                <a:latin typeface="+mn-ea"/>
                <a:cs typeface="+mn-ea"/>
                <a:sym typeface="+mn-ea"/>
              </a:rPr>
              <a:t>id</a:t>
            </a:r>
            <a:r>
              <a:rPr lang="zh-CN" altLang="en-US" sz="1200" b="1" spc="150" dirty="0">
                <a:uFillTx/>
                <a:latin typeface="+mn-ea"/>
                <a:cs typeface="+mn-ea"/>
                <a:sym typeface="+mn-ea"/>
              </a:rPr>
              <a:t>，</a:t>
            </a:r>
            <a:r>
              <a:rPr lang="zh-CN" altLang="en-US" sz="1200" b="1" spc="150" dirty="0">
                <a:solidFill>
                  <a:srgbClr val="FF0000"/>
                </a:solidFill>
                <a:uFillTx/>
                <a:latin typeface="+mn-ea"/>
                <a:cs typeface="+mn-ea"/>
                <a:sym typeface="+mn-ea"/>
              </a:rPr>
              <a:t>用户</a:t>
            </a:r>
            <a:r>
              <a:rPr lang="en-US" altLang="zh-CN" sz="1200" b="1" spc="150" dirty="0">
                <a:solidFill>
                  <a:srgbClr val="FF0000"/>
                </a:solidFill>
                <a:uFillTx/>
                <a:latin typeface="+mn-ea"/>
                <a:cs typeface="+mn-ea"/>
                <a:sym typeface="+mn-ea"/>
              </a:rPr>
              <a:t>id</a:t>
            </a:r>
            <a:r>
              <a:rPr lang="zh-CN" altLang="en-US" sz="1200" b="1" spc="150" dirty="0">
                <a:uFillTx/>
                <a:latin typeface="+mn-ea"/>
                <a:cs typeface="+mn-ea"/>
                <a:sym typeface="+mn-ea"/>
              </a:rPr>
              <a:t>，订单日期，</a:t>
            </a:r>
            <a:r>
              <a:rPr lang="zh-CN" altLang="en-US" sz="1200" b="1" spc="150" dirty="0">
                <a:solidFill>
                  <a:srgbClr val="FF0000"/>
                </a:solidFill>
                <a:uFillTx/>
                <a:latin typeface="+mn-ea"/>
                <a:cs typeface="+mn-ea"/>
                <a:sym typeface="+mn-ea"/>
              </a:rPr>
              <a:t>用户地址</a:t>
            </a:r>
            <a:r>
              <a:rPr lang="zh-CN" altLang="en-US" sz="1200" b="1" spc="150" dirty="0">
                <a:uFillTx/>
                <a:latin typeface="+mn-ea"/>
                <a:cs typeface="+mn-ea"/>
                <a:sym typeface="+mn-ea"/>
              </a:rPr>
              <a:t>，</a:t>
            </a:r>
            <a:r>
              <a:rPr lang="zh-CN" altLang="en-US" sz="1200" b="1" spc="150" dirty="0">
                <a:solidFill>
                  <a:srgbClr val="FF0000"/>
                </a:solidFill>
                <a:uFillTx/>
                <a:latin typeface="+mn-ea"/>
                <a:cs typeface="+mn-ea"/>
                <a:sym typeface="+mn-ea"/>
              </a:rPr>
              <a:t>用户电话</a:t>
            </a:r>
            <a:r>
              <a:rPr lang="zh-CN" altLang="en-US" sz="1200" b="1" spc="150" dirty="0">
                <a:uFillTx/>
                <a:latin typeface="+mn-ea"/>
                <a:cs typeface="+mn-ea"/>
                <a:sym typeface="+mn-ea"/>
              </a:rPr>
              <a:t>，支付方式，支付状态，商品数量，商品总额）</a:t>
            </a:r>
            <a:endParaRPr lang="zh-CN" altLang="en-US" sz="1200" b="1" spc="150" dirty="0">
              <a:uFillTx/>
              <a:latin typeface="+mn-ea"/>
              <a:cs typeface="+mn-ea"/>
            </a:endParaRPr>
          </a:p>
          <a:p>
            <a:pPr algn="l" fontAlgn="auto">
              <a:lnSpc>
                <a:spcPct val="130000"/>
              </a:lnSpc>
              <a:spcAft>
                <a:spcPts val="1000"/>
              </a:spcAft>
              <a:buClrTx/>
              <a:buSzTx/>
              <a:buFontTx/>
            </a:pPr>
            <a:r>
              <a:rPr lang="zh-CN" altLang="en-US" sz="1200" b="1" spc="150" dirty="0">
                <a:uFillTx/>
                <a:latin typeface="+mn-ea"/>
                <a:cs typeface="+mn-ea"/>
                <a:sym typeface="+mn-ea"/>
              </a:rPr>
              <a:t>订单项（</a:t>
            </a:r>
            <a:r>
              <a:rPr lang="en-US" altLang="zh-CN" sz="1200" b="1" spc="150" dirty="0">
                <a:uFillTx/>
                <a:latin typeface="+mn-ea"/>
                <a:cs typeface="+mn-ea"/>
                <a:sym typeface="+mn-ea"/>
              </a:rPr>
              <a:t>id</a:t>
            </a:r>
            <a:r>
              <a:rPr lang="zh-CN" altLang="en-US" sz="1200" b="1" spc="150" dirty="0">
                <a:uFillTx/>
                <a:latin typeface="+mn-ea"/>
                <a:cs typeface="+mn-ea"/>
                <a:sym typeface="+mn-ea"/>
              </a:rPr>
              <a:t>，商品</a:t>
            </a:r>
            <a:r>
              <a:rPr lang="en-US" altLang="zh-CN" sz="1200" b="1" spc="150" dirty="0">
                <a:uFillTx/>
                <a:latin typeface="+mn-ea"/>
                <a:cs typeface="+mn-ea"/>
                <a:sym typeface="+mn-ea"/>
              </a:rPr>
              <a:t>id</a:t>
            </a:r>
            <a:r>
              <a:rPr lang="zh-CN" altLang="en-US" sz="1200" b="1" spc="150" dirty="0">
                <a:uFillTx/>
                <a:latin typeface="+mn-ea"/>
                <a:cs typeface="+mn-ea"/>
                <a:sym typeface="+mn-ea"/>
              </a:rPr>
              <a:t>，订单</a:t>
            </a:r>
            <a:r>
              <a:rPr lang="en-US" altLang="zh-CN" sz="1200" b="1" spc="150" dirty="0">
                <a:uFillTx/>
                <a:latin typeface="+mn-ea"/>
                <a:cs typeface="+mn-ea"/>
                <a:sym typeface="+mn-ea"/>
              </a:rPr>
              <a:t>id</a:t>
            </a:r>
            <a:r>
              <a:rPr lang="zh-CN" altLang="en-US" sz="1200" b="1" spc="150" dirty="0">
                <a:uFillTx/>
                <a:latin typeface="+mn-ea"/>
                <a:cs typeface="+mn-ea"/>
                <a:sym typeface="+mn-ea"/>
              </a:rPr>
              <a:t>，价格，数量）</a:t>
            </a:r>
            <a:endParaRPr lang="zh-CN" altLang="en-US" sz="1200" b="1" spc="150" dirty="0">
              <a:uFillTx/>
              <a:latin typeface="+mn-ea"/>
              <a:cs typeface="+mn-ea"/>
              <a:sym typeface="+mn-ea"/>
            </a:endParaRPr>
          </a:p>
        </p:txBody>
      </p:sp>
      <p:sp>
        <p:nvSpPr>
          <p:cNvPr id="13" name="下箭头 12"/>
          <p:cNvSpPr/>
          <p:nvPr/>
        </p:nvSpPr>
        <p:spPr>
          <a:xfrm>
            <a:off x="7404259" y="2619375"/>
            <a:ext cx="294799" cy="585311"/>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350"/>
          </a:p>
        </p:txBody>
      </p:sp>
      <p:sp>
        <p:nvSpPr>
          <p:cNvPr id="15" name="文本框 14"/>
          <p:cNvSpPr txBox="1"/>
          <p:nvPr/>
        </p:nvSpPr>
        <p:spPr>
          <a:xfrm>
            <a:off x="804863" y="4442460"/>
            <a:ext cx="4572000" cy="300355"/>
          </a:xfrm>
          <a:prstGeom prst="rect">
            <a:avLst/>
          </a:prstGeom>
          <a:noFill/>
        </p:spPr>
        <p:txBody>
          <a:bodyPr wrap="square" lIns="67627" tIns="35242" rIns="67627" bIns="35242" rtlCol="0" anchor="t" anchorCtr="0">
            <a:spAutoFit/>
          </a:bodyPr>
          <a:p>
            <a:pPr algn="l"/>
            <a:r>
              <a:rPr lang="zh-CN" altLang="en-US" sz="1500" b="1">
                <a:solidFill>
                  <a:srgbClr val="FF0000"/>
                </a:solidFill>
                <a:sym typeface="+mn-ea"/>
              </a:rPr>
              <a:t>因为：订单里面需要用户信息</a:t>
            </a:r>
            <a:endParaRPr lang="zh-CN" altLang="en-US" sz="1500" b="1" spc="150" dirty="0">
              <a:solidFill>
                <a:srgbClr val="FF0000"/>
              </a:solidFill>
              <a:uFillTx/>
              <a:latin typeface="+中文正文" charset="0"/>
              <a:sym typeface="+mn-ea"/>
            </a:endParaRPr>
          </a:p>
        </p:txBody>
      </p:sp>
      <p:sp>
        <p:nvSpPr>
          <p:cNvPr id="16" name="右箭头 15"/>
          <p:cNvSpPr/>
          <p:nvPr/>
        </p:nvSpPr>
        <p:spPr>
          <a:xfrm>
            <a:off x="5850731" y="2072640"/>
            <a:ext cx="786765" cy="362426"/>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350"/>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 calcmode="lin" valueType="num">
                                      <p:cBhvr additive="base">
                                        <p:cTn id="7"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3" grpId="0" bldLvl="0" animBg="1"/>
      <p:bldP spid="13" grpId="1" animBg="1"/>
      <p:bldP spid="12" grpId="0"/>
      <p:bldP spid="12" grpId="1"/>
      <p:bldP spid="16" grpId="0" bldLvl="0" animBg="1"/>
      <p:bldP spid="16" grpId="1"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2182495" cy="520700"/>
          </a:xfrm>
          <a:prstGeom prst="rect">
            <a:avLst/>
          </a:prstGeom>
          <a:noFill/>
          <a:ln>
            <a:solidFill>
              <a:srgbClr val="FFFFFF">
                <a:alpha val="45882"/>
              </a:srgbClr>
            </a:solidFill>
          </a:ln>
        </p:spPr>
        <p:txBody>
          <a:bodyPr wrap="square" lIns="91438" tIns="45719" rIns="91438" bIns="45719" rtlCol="0">
            <a:spAutoFit/>
          </a:bodyPr>
          <a:lstStyle/>
          <a:p>
            <a:pPr algn="l"/>
            <a:r>
              <a:rPr lang="zh-CN" altLang="en-US" sz="2800" b="1" dirty="0">
                <a:solidFill>
                  <a:schemeClr val="bg1"/>
                </a:solidFill>
                <a:cs typeface="+mn-ea"/>
                <a:sym typeface="+mn-lt"/>
              </a:rPr>
              <a:t>数据库</a:t>
            </a:r>
            <a:r>
              <a:rPr lang="zh-CN" altLang="en-US" sz="2800" b="1" dirty="0">
                <a:solidFill>
                  <a:schemeClr val="bg1"/>
                </a:solidFill>
                <a:cs typeface="+mn-ea"/>
                <a:sym typeface="+mn-lt"/>
              </a:rPr>
              <a:t>设计</a:t>
            </a:r>
            <a:endParaRPr lang="zh-CN" altLang="en-US" sz="2800" b="1" dirty="0">
              <a:solidFill>
                <a:schemeClr val="bg1"/>
              </a:solidFill>
              <a:cs typeface="+mn-ea"/>
              <a:sym typeface="+mn-lt"/>
            </a:endParaRPr>
          </a:p>
        </p:txBody>
      </p:sp>
      <p:sp>
        <p:nvSpPr>
          <p:cNvPr id="3" name="矩形 4"/>
          <p:cNvSpPr>
            <a:spLocks noChangeArrowheads="1"/>
          </p:cNvSpPr>
          <p:nvPr/>
        </p:nvSpPr>
        <p:spPr bwMode="auto">
          <a:xfrm>
            <a:off x="573048" y="1648471"/>
            <a:ext cx="738822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marL="457200" indent="-457200" eaLnBrk="1" hangingPunct="1">
              <a:lnSpc>
                <a:spcPct val="150000"/>
              </a:lnSpc>
              <a:buClr>
                <a:schemeClr val="accent1"/>
              </a:buClr>
              <a:buFont typeface="Wingdings" panose="05000000000000000000" pitchFamily="2" charset="2"/>
              <a:buChar char="Ø"/>
              <a:defRPr/>
            </a:pPr>
            <a:endParaRPr lang="en-US" altLang="zh-CN" sz="2000" dirty="0">
              <a:cs typeface="+mn-ea"/>
              <a:sym typeface="+mn-lt"/>
            </a:endParaRPr>
          </a:p>
          <a:p>
            <a:pPr marL="457200" indent="-457200" eaLnBrk="1" hangingPunct="1">
              <a:lnSpc>
                <a:spcPct val="150000"/>
              </a:lnSpc>
              <a:buClr>
                <a:schemeClr val="accent1"/>
              </a:buClr>
              <a:defRPr/>
            </a:pPr>
            <a:endParaRPr lang="zh-CN" altLang="zh-CN" sz="2000" dirty="0">
              <a:cs typeface="+mn-ea"/>
              <a:sym typeface="+mn-lt"/>
            </a:endParaRPr>
          </a:p>
        </p:txBody>
      </p:sp>
      <p:grpSp>
        <p:nvGrpSpPr>
          <p:cNvPr id="4" name="组合 3"/>
          <p:cNvGrpSpPr/>
          <p:nvPr/>
        </p:nvGrpSpPr>
        <p:grpSpPr>
          <a:xfrm>
            <a:off x="229235" y="843280"/>
            <a:ext cx="10384790" cy="584835"/>
            <a:chOff x="1398966" y="2027695"/>
            <a:chExt cx="2741612" cy="624154"/>
          </a:xfrm>
        </p:grpSpPr>
        <p:sp>
          <p:nvSpPr>
            <p:cNvPr id="5" name="等腰三角形 15"/>
            <p:cNvSpPr/>
            <p:nvPr/>
          </p:nvSpPr>
          <p:spPr>
            <a:xfrm rot="10800000">
              <a:off x="1400554" y="2552421"/>
              <a:ext cx="169688" cy="99428"/>
            </a:xfrm>
            <a:custGeom>
              <a:avLst/>
              <a:gdLst>
                <a:gd name="connsiteX0" fmla="*/ 0 w 186191"/>
                <a:gd name="connsiteY0" fmla="*/ 220134 h 220134"/>
                <a:gd name="connsiteX1" fmla="*/ 93096 w 186191"/>
                <a:gd name="connsiteY1" fmla="*/ 0 h 220134"/>
                <a:gd name="connsiteX2" fmla="*/ 186191 w 186191"/>
                <a:gd name="connsiteY2" fmla="*/ 220134 h 220134"/>
                <a:gd name="connsiteX3" fmla="*/ 0 w 186191"/>
                <a:gd name="connsiteY3" fmla="*/ 220134 h 220134"/>
                <a:gd name="connsiteX0-1" fmla="*/ 0 w 186191"/>
                <a:gd name="connsiteY0-2" fmla="*/ 229659 h 229659"/>
                <a:gd name="connsiteX1-3" fmla="*/ 4196 w 186191"/>
                <a:gd name="connsiteY1-4" fmla="*/ 0 h 229659"/>
                <a:gd name="connsiteX2-5" fmla="*/ 186191 w 186191"/>
                <a:gd name="connsiteY2-6" fmla="*/ 229659 h 229659"/>
                <a:gd name="connsiteX3-7" fmla="*/ 0 w 186191"/>
                <a:gd name="connsiteY3-8" fmla="*/ 229659 h 229659"/>
                <a:gd name="connsiteX0-9" fmla="*/ 2405 w 188596"/>
                <a:gd name="connsiteY0-10" fmla="*/ 232834 h 232834"/>
                <a:gd name="connsiteX1-11" fmla="*/ 251 w 188596"/>
                <a:gd name="connsiteY1-12" fmla="*/ 0 h 232834"/>
                <a:gd name="connsiteX2-13" fmla="*/ 188596 w 188596"/>
                <a:gd name="connsiteY2-14" fmla="*/ 232834 h 232834"/>
                <a:gd name="connsiteX3-15" fmla="*/ 2405 w 188596"/>
                <a:gd name="connsiteY3-16" fmla="*/ 232834 h 232834"/>
                <a:gd name="connsiteX0-17" fmla="*/ 0 w 191204"/>
                <a:gd name="connsiteY0-18" fmla="*/ 237468 h 237468"/>
                <a:gd name="connsiteX1-19" fmla="*/ 2859 w 191204"/>
                <a:gd name="connsiteY1-20" fmla="*/ 0 h 237468"/>
                <a:gd name="connsiteX2-21" fmla="*/ 191204 w 191204"/>
                <a:gd name="connsiteY2-22" fmla="*/ 232834 h 237468"/>
                <a:gd name="connsiteX3-23" fmla="*/ 0 w 191204"/>
                <a:gd name="connsiteY3-24" fmla="*/ 237468 h 237468"/>
                <a:gd name="connsiteX0-25" fmla="*/ 0 w 191204"/>
                <a:gd name="connsiteY0-26" fmla="*/ 246733 h 246733"/>
                <a:gd name="connsiteX1-27" fmla="*/ 2859 w 191204"/>
                <a:gd name="connsiteY1-28" fmla="*/ 0 h 246733"/>
                <a:gd name="connsiteX2-29" fmla="*/ 191204 w 191204"/>
                <a:gd name="connsiteY2-30" fmla="*/ 242099 h 246733"/>
                <a:gd name="connsiteX3-31" fmla="*/ 0 w 191204"/>
                <a:gd name="connsiteY3-32" fmla="*/ 246733 h 246733"/>
                <a:gd name="connsiteX0-33" fmla="*/ 4479 w 195683"/>
                <a:gd name="connsiteY0-34" fmla="*/ 251364 h 251364"/>
                <a:gd name="connsiteX1-35" fmla="*/ 183 w 195683"/>
                <a:gd name="connsiteY1-36" fmla="*/ 0 h 251364"/>
                <a:gd name="connsiteX2-37" fmla="*/ 195683 w 195683"/>
                <a:gd name="connsiteY2-38" fmla="*/ 246730 h 251364"/>
                <a:gd name="connsiteX3-39" fmla="*/ 4479 w 195683"/>
                <a:gd name="connsiteY3-40" fmla="*/ 251364 h 251364"/>
                <a:gd name="connsiteX0-41" fmla="*/ 0 w 191204"/>
                <a:gd name="connsiteY0-42" fmla="*/ 251364 h 251364"/>
                <a:gd name="connsiteX1-43" fmla="*/ 1070 w 191204"/>
                <a:gd name="connsiteY1-44" fmla="*/ 0 h 251364"/>
                <a:gd name="connsiteX2-45" fmla="*/ 191204 w 191204"/>
                <a:gd name="connsiteY2-46" fmla="*/ 246730 h 251364"/>
                <a:gd name="connsiteX3-47" fmla="*/ 0 w 191204"/>
                <a:gd name="connsiteY3-48" fmla="*/ 251364 h 251364"/>
                <a:gd name="connsiteX0-49" fmla="*/ 7999 w 199203"/>
                <a:gd name="connsiteY0-50" fmla="*/ 251364 h 251364"/>
                <a:gd name="connsiteX1-51" fmla="*/ 126 w 199203"/>
                <a:gd name="connsiteY1-52" fmla="*/ 0 h 251364"/>
                <a:gd name="connsiteX2-53" fmla="*/ 199203 w 199203"/>
                <a:gd name="connsiteY2-54" fmla="*/ 246730 h 251364"/>
                <a:gd name="connsiteX3-55" fmla="*/ 7999 w 199203"/>
                <a:gd name="connsiteY3-56" fmla="*/ 251364 h 251364"/>
                <a:gd name="connsiteX0-57" fmla="*/ 1055 w 192259"/>
                <a:gd name="connsiteY0-58" fmla="*/ 251364 h 251364"/>
                <a:gd name="connsiteX1-59" fmla="*/ 337 w 192259"/>
                <a:gd name="connsiteY1-60" fmla="*/ 0 h 251364"/>
                <a:gd name="connsiteX2-61" fmla="*/ 192259 w 192259"/>
                <a:gd name="connsiteY2-62" fmla="*/ 246730 h 251364"/>
                <a:gd name="connsiteX3-63" fmla="*/ 1055 w 192259"/>
                <a:gd name="connsiteY3-64" fmla="*/ 251364 h 251364"/>
                <a:gd name="connsiteX0-65" fmla="*/ 0 w 191204"/>
                <a:gd name="connsiteY0-66" fmla="*/ 260629 h 260629"/>
                <a:gd name="connsiteX1-67" fmla="*/ 2860 w 191204"/>
                <a:gd name="connsiteY1-68" fmla="*/ 0 h 260629"/>
                <a:gd name="connsiteX2-69" fmla="*/ 191204 w 191204"/>
                <a:gd name="connsiteY2-70" fmla="*/ 255995 h 260629"/>
                <a:gd name="connsiteX3-71" fmla="*/ 0 w 191204"/>
                <a:gd name="connsiteY3-72" fmla="*/ 260629 h 260629"/>
                <a:gd name="connsiteX0-73" fmla="*/ 0 w 191204"/>
                <a:gd name="connsiteY0-74" fmla="*/ 228200 h 228200"/>
                <a:gd name="connsiteX1-75" fmla="*/ 2860 w 191204"/>
                <a:gd name="connsiteY1-76" fmla="*/ 0 h 228200"/>
                <a:gd name="connsiteX2-77" fmla="*/ 191204 w 191204"/>
                <a:gd name="connsiteY2-78" fmla="*/ 223566 h 228200"/>
                <a:gd name="connsiteX3-79" fmla="*/ 0 w 191204"/>
                <a:gd name="connsiteY3-80" fmla="*/ 228200 h 228200"/>
                <a:gd name="connsiteX0-81" fmla="*/ 0 w 191204"/>
                <a:gd name="connsiteY0-82" fmla="*/ 228200 h 228200"/>
                <a:gd name="connsiteX1-83" fmla="*/ 1070 w 191204"/>
                <a:gd name="connsiteY1-84" fmla="*/ 0 h 228200"/>
                <a:gd name="connsiteX2-85" fmla="*/ 191204 w 191204"/>
                <a:gd name="connsiteY2-86" fmla="*/ 223566 h 228200"/>
                <a:gd name="connsiteX3-87" fmla="*/ 0 w 191204"/>
                <a:gd name="connsiteY3-88" fmla="*/ 228200 h 228200"/>
              </a:gdLst>
              <a:ahLst/>
              <a:cxnLst>
                <a:cxn ang="0">
                  <a:pos x="connsiteX0-1" y="connsiteY0-2"/>
                </a:cxn>
                <a:cxn ang="0">
                  <a:pos x="connsiteX1-3" y="connsiteY1-4"/>
                </a:cxn>
                <a:cxn ang="0">
                  <a:pos x="connsiteX2-5" y="connsiteY2-6"/>
                </a:cxn>
                <a:cxn ang="0">
                  <a:pos x="connsiteX3-7" y="connsiteY3-8"/>
                </a:cxn>
              </a:cxnLst>
              <a:rect l="l" t="t" r="r" b="b"/>
              <a:pathLst>
                <a:path w="191204" h="228200">
                  <a:moveTo>
                    <a:pt x="0" y="228200"/>
                  </a:moveTo>
                  <a:cubicBezTo>
                    <a:pt x="1399" y="151647"/>
                    <a:pt x="-329" y="76553"/>
                    <a:pt x="1070" y="0"/>
                  </a:cubicBezTo>
                  <a:lnTo>
                    <a:pt x="191204" y="223566"/>
                  </a:lnTo>
                  <a:lnTo>
                    <a:pt x="0" y="228200"/>
                  </a:lnTo>
                  <a:close/>
                </a:path>
              </a:pathLst>
            </a:custGeom>
            <a:solidFill>
              <a:srgbClr val="161D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任意多边形: 形状 7"/>
            <p:cNvSpPr/>
            <p:nvPr/>
          </p:nvSpPr>
          <p:spPr>
            <a:xfrm>
              <a:off x="1398966" y="2027695"/>
              <a:ext cx="2741612" cy="526746"/>
            </a:xfrm>
            <a:custGeom>
              <a:avLst/>
              <a:gdLst>
                <a:gd name="connsiteX0" fmla="*/ 0 w 2020199"/>
                <a:gd name="connsiteY0" fmla="*/ 0 h 518583"/>
                <a:gd name="connsiteX1" fmla="*/ 2020199 w 2020199"/>
                <a:gd name="connsiteY1" fmla="*/ 0 h 518583"/>
                <a:gd name="connsiteX2" fmla="*/ 1890553 w 2020199"/>
                <a:gd name="connsiteY2" fmla="*/ 518583 h 518583"/>
                <a:gd name="connsiteX3" fmla="*/ 0 w 2020199"/>
                <a:gd name="connsiteY3" fmla="*/ 518583 h 518583"/>
              </a:gdLst>
              <a:ahLst/>
              <a:cxnLst>
                <a:cxn ang="0">
                  <a:pos x="connsiteX0" y="connsiteY0"/>
                </a:cxn>
                <a:cxn ang="0">
                  <a:pos x="connsiteX1" y="connsiteY1"/>
                </a:cxn>
                <a:cxn ang="0">
                  <a:pos x="connsiteX2" y="connsiteY2"/>
                </a:cxn>
                <a:cxn ang="0">
                  <a:pos x="connsiteX3" y="connsiteY3"/>
                </a:cxn>
              </a:cxnLst>
              <a:rect l="l" t="t" r="r" b="b"/>
              <a:pathLst>
                <a:path w="2020199" h="518583">
                  <a:moveTo>
                    <a:pt x="0" y="0"/>
                  </a:moveTo>
                  <a:lnTo>
                    <a:pt x="2020199" y="0"/>
                  </a:lnTo>
                  <a:lnTo>
                    <a:pt x="1890553" y="518583"/>
                  </a:lnTo>
                  <a:lnTo>
                    <a:pt x="0" y="518583"/>
                  </a:lnTo>
                  <a:close/>
                </a:path>
              </a:pathLst>
            </a:custGeom>
            <a:solidFill>
              <a:srgbClr val="23329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cs typeface="+mn-ea"/>
                <a:sym typeface="+mn-lt"/>
              </a:endParaRPr>
            </a:p>
          </p:txBody>
        </p:sp>
      </p:grpSp>
      <p:sp>
        <p:nvSpPr>
          <p:cNvPr id="14" name="矩形 13"/>
          <p:cNvSpPr/>
          <p:nvPr/>
        </p:nvSpPr>
        <p:spPr>
          <a:xfrm>
            <a:off x="438294" y="727354"/>
            <a:ext cx="4742815" cy="645160"/>
          </a:xfrm>
          <a:prstGeom prst="rect">
            <a:avLst/>
          </a:prstGeom>
        </p:spPr>
        <p:txBody>
          <a:bodyPr wrap="none">
            <a:spAutoFit/>
          </a:bodyPr>
          <a:p>
            <a:pPr algn="l">
              <a:lnSpc>
                <a:spcPct val="150000"/>
              </a:lnSpc>
              <a:buClr>
                <a:srgbClr val="127FB8"/>
              </a:buClr>
              <a:buSzTx/>
              <a:buFontTx/>
              <a:defRPr/>
            </a:pPr>
            <a:r>
              <a:rPr lang="zh-CN" altLang="en-US" sz="2400" b="1" dirty="0">
                <a:solidFill>
                  <a:srgbClr val="FFFFFF"/>
                </a:solidFill>
                <a:latin typeface="+mn-ea"/>
                <a:cs typeface="+mn-ea"/>
                <a:sym typeface="+mn-ea"/>
              </a:rPr>
              <a:t>提交订单时，仅把商品</a:t>
            </a:r>
            <a:r>
              <a:rPr lang="en-US" altLang="zh-CN" sz="2400" b="1" dirty="0">
                <a:solidFill>
                  <a:srgbClr val="FFFFFF"/>
                </a:solidFill>
                <a:latin typeface="+mn-ea"/>
                <a:cs typeface="+mn-ea"/>
                <a:sym typeface="+mn-ea"/>
              </a:rPr>
              <a:t>id</a:t>
            </a:r>
            <a:r>
              <a:rPr lang="zh-CN" altLang="en-US" sz="2400" b="1" dirty="0">
                <a:solidFill>
                  <a:srgbClr val="FFFFFF"/>
                </a:solidFill>
                <a:latin typeface="+mn-ea"/>
                <a:cs typeface="+mn-ea"/>
                <a:sym typeface="+mn-ea"/>
              </a:rPr>
              <a:t>拿到</a:t>
            </a:r>
            <a:r>
              <a:rPr lang="zh-CN" altLang="en-US" sz="2400" b="1" dirty="0">
                <a:solidFill>
                  <a:srgbClr val="FFFFFF"/>
                </a:solidFill>
                <a:latin typeface="+mn-ea"/>
                <a:cs typeface="+mn-ea"/>
                <a:sym typeface="+mn-ea"/>
              </a:rPr>
              <a:t>即可</a:t>
            </a:r>
            <a:endParaRPr lang="zh-CN" altLang="en-US" sz="2400" b="1" dirty="0">
              <a:solidFill>
                <a:srgbClr val="FFFFFF"/>
              </a:solidFill>
              <a:latin typeface="+mn-ea"/>
              <a:cs typeface="+mn-ea"/>
              <a:sym typeface="+mn-ea"/>
            </a:endParaRPr>
          </a:p>
        </p:txBody>
      </p:sp>
      <p:pic>
        <p:nvPicPr>
          <p:cNvPr id="17" name="图片 6"/>
          <p:cNvPicPr>
            <a:picLocks noChangeAspect="1"/>
          </p:cNvPicPr>
          <p:nvPr>
            <p:custDataLst>
              <p:tags r:id="rId1"/>
            </p:custDataLst>
          </p:nvPr>
        </p:nvPicPr>
        <p:blipFill>
          <a:blip r:embed="rId2"/>
          <a:stretch>
            <a:fillRect/>
          </a:stretch>
        </p:blipFill>
        <p:spPr>
          <a:xfrm>
            <a:off x="755015" y="1428115"/>
            <a:ext cx="5501640" cy="3406140"/>
          </a:xfrm>
          <a:prstGeom prst="rect">
            <a:avLst/>
          </a:prstGeom>
        </p:spPr>
      </p:pic>
      <p:sp>
        <p:nvSpPr>
          <p:cNvPr id="18" name="文本框 17"/>
          <p:cNvSpPr txBox="1"/>
          <p:nvPr/>
        </p:nvSpPr>
        <p:spPr>
          <a:xfrm>
            <a:off x="6371590" y="1648460"/>
            <a:ext cx="2060575" cy="2491740"/>
          </a:xfrm>
          <a:prstGeom prst="rect">
            <a:avLst/>
          </a:prstGeom>
          <a:noFill/>
        </p:spPr>
        <p:txBody>
          <a:bodyPr wrap="square" lIns="90170" tIns="46990" rIns="90170" bIns="46990" rtlCol="0" anchor="t" anchorCtr="0">
            <a:spAutoFit/>
          </a:bodyPr>
          <a:p>
            <a:pPr algn="l" defTabSz="1219200">
              <a:lnSpc>
                <a:spcPct val="130000"/>
              </a:lnSpc>
              <a:buClrTx/>
              <a:buSzTx/>
              <a:buFontTx/>
            </a:pPr>
            <a:r>
              <a:rPr lang="zh-CN" altLang="en-US" sz="2400" dirty="0">
                <a:solidFill>
                  <a:sysClr val="windowText" lastClr="000000"/>
                </a:solidFill>
                <a:cs typeface="+mn-ea"/>
                <a:sym typeface="+mn-ea"/>
              </a:rPr>
              <a:t>商品：id，名称，价格，分类，详情，描述，库存，图片地址，类型</a:t>
            </a:r>
            <a:endParaRPr lang="zh-CN" altLang="en-US" sz="2400" b="1" spc="150" dirty="0">
              <a:solidFill>
                <a:schemeClr val="tx1"/>
              </a:solidFill>
              <a:uFillTx/>
              <a:latin typeface="+mn-ea"/>
              <a:cs typeface="+mn-ea"/>
              <a:sym typeface="+mn-ea"/>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8" grpId="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2182495" cy="520700"/>
          </a:xfrm>
          <a:prstGeom prst="rect">
            <a:avLst/>
          </a:prstGeom>
          <a:noFill/>
          <a:ln>
            <a:solidFill>
              <a:srgbClr val="FFFFFF">
                <a:alpha val="45882"/>
              </a:srgbClr>
            </a:solidFill>
          </a:ln>
        </p:spPr>
        <p:txBody>
          <a:bodyPr wrap="square" lIns="91438" tIns="45719" rIns="91438" bIns="45719" rtlCol="0">
            <a:spAutoFit/>
          </a:bodyPr>
          <a:lstStyle/>
          <a:p>
            <a:pPr algn="l"/>
            <a:r>
              <a:rPr lang="zh-CN" altLang="en-US" sz="2800" b="1" dirty="0">
                <a:solidFill>
                  <a:schemeClr val="bg1"/>
                </a:solidFill>
                <a:cs typeface="+mn-ea"/>
                <a:sym typeface="+mn-lt"/>
              </a:rPr>
              <a:t>数据库</a:t>
            </a:r>
            <a:r>
              <a:rPr lang="zh-CN" altLang="en-US" sz="2800" b="1" dirty="0">
                <a:solidFill>
                  <a:schemeClr val="bg1"/>
                </a:solidFill>
                <a:cs typeface="+mn-ea"/>
                <a:sym typeface="+mn-lt"/>
              </a:rPr>
              <a:t>设计</a:t>
            </a:r>
            <a:endParaRPr lang="zh-CN" altLang="en-US" sz="2800" b="1" dirty="0">
              <a:solidFill>
                <a:schemeClr val="bg1"/>
              </a:solidFill>
              <a:cs typeface="+mn-ea"/>
              <a:sym typeface="+mn-lt"/>
            </a:endParaRPr>
          </a:p>
        </p:txBody>
      </p:sp>
      <p:sp>
        <p:nvSpPr>
          <p:cNvPr id="35843" name="矩形 4"/>
          <p:cNvSpPr>
            <a:spLocks noChangeArrowheads="1"/>
          </p:cNvSpPr>
          <p:nvPr/>
        </p:nvSpPr>
        <p:spPr bwMode="auto">
          <a:xfrm>
            <a:off x="107593" y="915046"/>
            <a:ext cx="738822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marL="457200" indent="-457200" eaLnBrk="1" hangingPunct="1">
              <a:lnSpc>
                <a:spcPct val="150000"/>
              </a:lnSpc>
              <a:buClr>
                <a:schemeClr val="accent1"/>
              </a:buClr>
              <a:buFont typeface="Wingdings" panose="05000000000000000000" pitchFamily="2" charset="2"/>
              <a:buChar char="Ø"/>
              <a:defRPr/>
            </a:pPr>
            <a:endParaRPr lang="en-US" altLang="zh-CN" sz="2000" dirty="0">
              <a:cs typeface="+mn-ea"/>
              <a:sym typeface="+mn-lt"/>
            </a:endParaRPr>
          </a:p>
          <a:p>
            <a:pPr marL="457200" indent="-457200" eaLnBrk="1" hangingPunct="1">
              <a:lnSpc>
                <a:spcPct val="150000"/>
              </a:lnSpc>
              <a:buClr>
                <a:schemeClr val="accent1"/>
              </a:buClr>
              <a:defRPr/>
            </a:pPr>
            <a:endParaRPr lang="zh-CN" altLang="zh-CN" sz="2000" dirty="0">
              <a:cs typeface="+mn-ea"/>
              <a:sym typeface="+mn-lt"/>
            </a:endParaRPr>
          </a:p>
        </p:txBody>
      </p:sp>
      <p:sp>
        <p:nvSpPr>
          <p:cNvPr id="11" name="文本框 10"/>
          <p:cNvSpPr txBox="1"/>
          <p:nvPr/>
        </p:nvSpPr>
        <p:spPr>
          <a:xfrm>
            <a:off x="7091680" y="1086485"/>
            <a:ext cx="2502535" cy="812800"/>
          </a:xfrm>
          <a:prstGeom prst="rect">
            <a:avLst/>
          </a:prstGeom>
          <a:noFill/>
        </p:spPr>
        <p:txBody>
          <a:bodyPr wrap="square" lIns="90170" tIns="46990" rIns="90170" bIns="46990" rtlCol="0" anchor="t" anchorCtr="0">
            <a:spAutoFit/>
          </a:bodyPr>
          <a:p>
            <a:pPr algn="l" defTabSz="1219200">
              <a:lnSpc>
                <a:spcPct val="130000"/>
              </a:lnSpc>
              <a:buClrTx/>
              <a:buSzTx/>
              <a:buFontTx/>
            </a:pPr>
            <a:r>
              <a:rPr lang="zh-CN" altLang="en-US" sz="1200" b="1" spc="150" dirty="0">
                <a:uFillTx/>
                <a:latin typeface="+mn-ea"/>
                <a:cs typeface="+mn-ea"/>
                <a:sym typeface="+mn-ea"/>
              </a:rPr>
              <a:t>商品（</a:t>
            </a:r>
            <a:r>
              <a:rPr lang="en-US" altLang="zh-CN" sz="1200" b="1" spc="150" dirty="0">
                <a:solidFill>
                  <a:srgbClr val="FF0000"/>
                </a:solidFill>
                <a:uFillTx/>
                <a:latin typeface="+mn-ea"/>
                <a:cs typeface="+mn-ea"/>
                <a:sym typeface="+mn-ea"/>
              </a:rPr>
              <a:t>id</a:t>
            </a:r>
            <a:r>
              <a:rPr lang="zh-CN" altLang="en-US" sz="1200" b="1" spc="150" dirty="0">
                <a:uFillTx/>
                <a:latin typeface="+mn-ea"/>
                <a:cs typeface="+mn-ea"/>
                <a:sym typeface="+mn-ea"/>
              </a:rPr>
              <a:t>，名称，</a:t>
            </a:r>
            <a:r>
              <a:rPr lang="zh-CN" altLang="en-US" sz="1200" b="1" spc="150" dirty="0">
                <a:solidFill>
                  <a:srgbClr val="002060"/>
                </a:solidFill>
                <a:uFillTx/>
                <a:latin typeface="+mn-ea"/>
                <a:cs typeface="+mn-ea"/>
                <a:sym typeface="+mn-ea"/>
              </a:rPr>
              <a:t>价格</a:t>
            </a:r>
            <a:r>
              <a:rPr lang="zh-CN" altLang="en-US" sz="1200" b="1" spc="150" dirty="0">
                <a:uFillTx/>
                <a:latin typeface="+mn-ea"/>
                <a:cs typeface="+mn-ea"/>
                <a:sym typeface="+mn-ea"/>
              </a:rPr>
              <a:t>，分类，详情，描述，库存，图片地址，类型）</a:t>
            </a:r>
            <a:endParaRPr lang="zh-CN" altLang="en-US" sz="1200" b="1" spc="150" dirty="0">
              <a:solidFill>
                <a:srgbClr val="595959"/>
              </a:solidFill>
              <a:uFillTx/>
              <a:latin typeface="+mn-ea"/>
              <a:cs typeface="+mn-ea"/>
              <a:sym typeface="+mn-ea"/>
            </a:endParaRPr>
          </a:p>
        </p:txBody>
      </p:sp>
      <p:pic>
        <p:nvPicPr>
          <p:cNvPr id="2" name="图片 11"/>
          <p:cNvPicPr>
            <a:picLocks noChangeAspect="1"/>
          </p:cNvPicPr>
          <p:nvPr>
            <p:custDataLst>
              <p:tags r:id="rId1"/>
            </p:custDataLst>
          </p:nvPr>
        </p:nvPicPr>
        <p:blipFill>
          <a:blip r:embed="rId2"/>
          <a:stretch>
            <a:fillRect/>
          </a:stretch>
        </p:blipFill>
        <p:spPr>
          <a:xfrm>
            <a:off x="107315" y="1086485"/>
            <a:ext cx="6090920" cy="3284220"/>
          </a:xfrm>
          <a:prstGeom prst="rect">
            <a:avLst/>
          </a:prstGeom>
        </p:spPr>
      </p:pic>
      <p:sp>
        <p:nvSpPr>
          <p:cNvPr id="16" name="右箭头 15"/>
          <p:cNvSpPr/>
          <p:nvPr>
            <p:custDataLst>
              <p:tags r:id="rId3"/>
            </p:custDataLst>
          </p:nvPr>
        </p:nvSpPr>
        <p:spPr>
          <a:xfrm>
            <a:off x="6011545" y="1131570"/>
            <a:ext cx="1049020" cy="48323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文本框 11"/>
          <p:cNvSpPr txBox="1"/>
          <p:nvPr>
            <p:custDataLst>
              <p:tags r:id="rId4"/>
            </p:custDataLst>
          </p:nvPr>
        </p:nvSpPr>
        <p:spPr>
          <a:xfrm>
            <a:off x="6299835" y="2571750"/>
            <a:ext cx="2774950" cy="1421130"/>
          </a:xfrm>
          <a:prstGeom prst="rect">
            <a:avLst/>
          </a:prstGeom>
          <a:noFill/>
        </p:spPr>
        <p:txBody>
          <a:bodyPr wrap="square" lIns="90170" tIns="46990" rIns="90170" bIns="46990" rtlCol="0" anchor="t" anchorCtr="0">
            <a:spAutoFit/>
          </a:bodyPr>
          <a:p>
            <a:pPr algn="l" fontAlgn="auto">
              <a:lnSpc>
                <a:spcPct val="130000"/>
              </a:lnSpc>
              <a:spcAft>
                <a:spcPts val="1000"/>
              </a:spcAft>
              <a:buClrTx/>
              <a:buSzTx/>
              <a:buFontTx/>
            </a:pPr>
            <a:r>
              <a:rPr lang="zh-CN" altLang="en-US" sz="1200" b="1" spc="150" dirty="0">
                <a:uFillTx/>
                <a:latin typeface="+mn-ea"/>
                <a:cs typeface="+mn-ea"/>
                <a:sym typeface="+mn-ea"/>
              </a:rPr>
              <a:t>订单（</a:t>
            </a:r>
            <a:r>
              <a:rPr lang="en-US" altLang="zh-CN" sz="1200" b="1" spc="150" dirty="0">
                <a:uFillTx/>
                <a:latin typeface="+mn-ea"/>
                <a:cs typeface="+mn-ea"/>
                <a:sym typeface="+mn-ea"/>
              </a:rPr>
              <a:t>id</a:t>
            </a:r>
            <a:r>
              <a:rPr lang="zh-CN" altLang="en-US" sz="1200" b="1" spc="150" dirty="0">
                <a:uFillTx/>
                <a:latin typeface="+mn-ea"/>
                <a:cs typeface="+mn-ea"/>
                <a:sym typeface="+mn-ea"/>
              </a:rPr>
              <a:t>，</a:t>
            </a:r>
            <a:r>
              <a:rPr lang="zh-CN" altLang="en-US" sz="1200" b="1" spc="150" dirty="0">
                <a:solidFill>
                  <a:srgbClr val="FF0000"/>
                </a:solidFill>
                <a:uFillTx/>
                <a:latin typeface="+mn-ea"/>
                <a:cs typeface="+mn-ea"/>
                <a:sym typeface="+mn-ea"/>
              </a:rPr>
              <a:t>用户</a:t>
            </a:r>
            <a:r>
              <a:rPr lang="en-US" altLang="zh-CN" sz="1200" b="1" spc="150" dirty="0">
                <a:solidFill>
                  <a:srgbClr val="FF0000"/>
                </a:solidFill>
                <a:uFillTx/>
                <a:latin typeface="+mn-ea"/>
                <a:cs typeface="+mn-ea"/>
                <a:sym typeface="+mn-ea"/>
              </a:rPr>
              <a:t>id</a:t>
            </a:r>
            <a:r>
              <a:rPr lang="zh-CN" altLang="en-US" sz="1200" b="1" spc="150" dirty="0">
                <a:uFillTx/>
                <a:latin typeface="+mn-ea"/>
                <a:cs typeface="+mn-ea"/>
                <a:sym typeface="+mn-ea"/>
              </a:rPr>
              <a:t>，订单日期，</a:t>
            </a:r>
            <a:r>
              <a:rPr lang="zh-CN" altLang="en-US" sz="1200" b="1" spc="150" dirty="0">
                <a:solidFill>
                  <a:srgbClr val="FF0000"/>
                </a:solidFill>
                <a:uFillTx/>
                <a:latin typeface="+mn-ea"/>
                <a:cs typeface="+mn-ea"/>
                <a:sym typeface="+mn-ea"/>
              </a:rPr>
              <a:t>用户地址</a:t>
            </a:r>
            <a:r>
              <a:rPr lang="zh-CN" altLang="en-US" sz="1200" b="1" spc="150" dirty="0">
                <a:uFillTx/>
                <a:latin typeface="+mn-ea"/>
                <a:cs typeface="+mn-ea"/>
                <a:sym typeface="+mn-ea"/>
              </a:rPr>
              <a:t>，</a:t>
            </a:r>
            <a:r>
              <a:rPr lang="zh-CN" altLang="en-US" sz="1200" b="1" spc="150" dirty="0">
                <a:solidFill>
                  <a:srgbClr val="FF0000"/>
                </a:solidFill>
                <a:uFillTx/>
                <a:latin typeface="+mn-ea"/>
                <a:cs typeface="+mn-ea"/>
                <a:sym typeface="+mn-ea"/>
              </a:rPr>
              <a:t>用户电话</a:t>
            </a:r>
            <a:r>
              <a:rPr lang="zh-CN" altLang="en-US" sz="1200" b="1" spc="150" dirty="0">
                <a:uFillTx/>
                <a:latin typeface="+mn-ea"/>
                <a:cs typeface="+mn-ea"/>
                <a:sym typeface="+mn-ea"/>
              </a:rPr>
              <a:t>，支付方式，支付状态，商品数量，商品总额）</a:t>
            </a:r>
            <a:endParaRPr lang="zh-CN" altLang="en-US" sz="1200" b="1" spc="150" dirty="0">
              <a:uFillTx/>
              <a:latin typeface="+mn-ea"/>
              <a:cs typeface="+mn-ea"/>
            </a:endParaRPr>
          </a:p>
          <a:p>
            <a:pPr algn="l" fontAlgn="auto">
              <a:lnSpc>
                <a:spcPct val="130000"/>
              </a:lnSpc>
              <a:spcAft>
                <a:spcPts val="1000"/>
              </a:spcAft>
              <a:buClrTx/>
              <a:buSzTx/>
              <a:buFontTx/>
            </a:pPr>
            <a:r>
              <a:rPr lang="zh-CN" altLang="en-US" sz="1200" b="1" spc="150" dirty="0">
                <a:uFillTx/>
                <a:latin typeface="+mn-ea"/>
                <a:cs typeface="+mn-ea"/>
                <a:sym typeface="+mn-ea"/>
              </a:rPr>
              <a:t>订单项（</a:t>
            </a:r>
            <a:r>
              <a:rPr lang="en-US" altLang="zh-CN" sz="1200" b="1" spc="150" dirty="0">
                <a:uFillTx/>
                <a:latin typeface="+mn-ea"/>
                <a:cs typeface="+mn-ea"/>
                <a:sym typeface="+mn-ea"/>
              </a:rPr>
              <a:t>id</a:t>
            </a:r>
            <a:r>
              <a:rPr lang="zh-CN" altLang="en-US" sz="1200" b="1" spc="150" dirty="0">
                <a:uFillTx/>
                <a:latin typeface="+mn-ea"/>
                <a:cs typeface="+mn-ea"/>
                <a:sym typeface="+mn-ea"/>
              </a:rPr>
              <a:t>，</a:t>
            </a:r>
            <a:r>
              <a:rPr lang="zh-CN" altLang="en-US" sz="1200" b="1" spc="150" dirty="0">
                <a:solidFill>
                  <a:srgbClr val="FF0000"/>
                </a:solidFill>
                <a:uFillTx/>
                <a:latin typeface="+mn-ea"/>
                <a:cs typeface="+mn-ea"/>
                <a:sym typeface="+mn-ea"/>
              </a:rPr>
              <a:t>商品</a:t>
            </a:r>
            <a:r>
              <a:rPr lang="en-US" altLang="zh-CN" sz="1200" b="1" spc="150" dirty="0">
                <a:solidFill>
                  <a:srgbClr val="FF0000"/>
                </a:solidFill>
                <a:uFillTx/>
                <a:latin typeface="+mn-ea"/>
                <a:cs typeface="+mn-ea"/>
                <a:sym typeface="+mn-ea"/>
              </a:rPr>
              <a:t>id</a:t>
            </a:r>
            <a:r>
              <a:rPr lang="zh-CN" altLang="en-US" sz="1200" b="1" spc="150" dirty="0">
                <a:uFillTx/>
                <a:latin typeface="+mn-ea"/>
                <a:cs typeface="+mn-ea"/>
                <a:sym typeface="+mn-ea"/>
              </a:rPr>
              <a:t>，订单</a:t>
            </a:r>
            <a:r>
              <a:rPr lang="en-US" altLang="zh-CN" sz="1200" b="1" spc="150" dirty="0">
                <a:uFillTx/>
                <a:latin typeface="+mn-ea"/>
                <a:cs typeface="+mn-ea"/>
                <a:sym typeface="+mn-ea"/>
              </a:rPr>
              <a:t>id</a:t>
            </a:r>
            <a:r>
              <a:rPr lang="zh-CN" altLang="en-US" sz="1200" b="1" spc="150" dirty="0">
                <a:uFillTx/>
                <a:latin typeface="+mn-ea"/>
                <a:cs typeface="+mn-ea"/>
                <a:sym typeface="+mn-ea"/>
              </a:rPr>
              <a:t>，价格，数量）</a:t>
            </a:r>
            <a:endParaRPr lang="zh-CN" altLang="en-US" sz="1200" b="1" spc="150" dirty="0">
              <a:uFillTx/>
              <a:latin typeface="+mn-ea"/>
              <a:cs typeface="+mn-ea"/>
              <a:sym typeface="+mn-ea"/>
            </a:endParaRPr>
          </a:p>
        </p:txBody>
      </p:sp>
      <p:sp>
        <p:nvSpPr>
          <p:cNvPr id="13" name="下箭头 12"/>
          <p:cNvSpPr/>
          <p:nvPr>
            <p:custDataLst>
              <p:tags r:id="rId5"/>
            </p:custDataLst>
          </p:nvPr>
        </p:nvSpPr>
        <p:spPr>
          <a:xfrm>
            <a:off x="7451725" y="1851660"/>
            <a:ext cx="393065" cy="78041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6" grpId="0" bldLvl="0" animBg="1"/>
      <p:bldP spid="16" grpId="1" animBg="1"/>
      <p:bldP spid="13" grpId="0" bldLvl="0" animBg="1"/>
      <p:bldP spid="13" grpId="1" animBg="1"/>
      <p:bldP spid="12" grpId="0"/>
      <p:bldP spid="12" grpId="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2182495" cy="520700"/>
          </a:xfrm>
          <a:prstGeom prst="rect">
            <a:avLst/>
          </a:prstGeom>
          <a:noFill/>
          <a:ln>
            <a:solidFill>
              <a:srgbClr val="FFFFFF">
                <a:alpha val="45882"/>
              </a:srgbClr>
            </a:solidFill>
          </a:ln>
        </p:spPr>
        <p:txBody>
          <a:bodyPr wrap="square" lIns="91438" tIns="45719" rIns="91438" bIns="45719" rtlCol="0">
            <a:spAutoFit/>
          </a:bodyPr>
          <a:lstStyle/>
          <a:p>
            <a:r>
              <a:rPr lang="zh-CN" altLang="en-US" sz="2800" b="1" dirty="0">
                <a:solidFill>
                  <a:schemeClr val="bg1"/>
                </a:solidFill>
                <a:cs typeface="+mn-ea"/>
                <a:sym typeface="+mn-lt"/>
              </a:rPr>
              <a:t>数据库设计</a:t>
            </a:r>
            <a:endParaRPr lang="zh-CN" altLang="en-US" sz="2800" b="1" dirty="0">
              <a:solidFill>
                <a:schemeClr val="bg1"/>
              </a:solidFill>
              <a:cs typeface="+mn-ea"/>
              <a:sym typeface="+mn-lt"/>
            </a:endParaRPr>
          </a:p>
        </p:txBody>
      </p:sp>
      <p:sp>
        <p:nvSpPr>
          <p:cNvPr id="2" name="文本框 1"/>
          <p:cNvSpPr txBox="1"/>
          <p:nvPr/>
        </p:nvSpPr>
        <p:spPr>
          <a:xfrm>
            <a:off x="229235" y="771525"/>
            <a:ext cx="8706485" cy="1198880"/>
          </a:xfrm>
          <a:prstGeom prst="rect">
            <a:avLst/>
          </a:prstGeom>
          <a:noFill/>
        </p:spPr>
        <p:txBody>
          <a:bodyPr wrap="square" rtlCol="0" anchor="t">
            <a:spAutoFit/>
          </a:bodyPr>
          <a:p>
            <a:r>
              <a:rPr lang="zh-CN" altLang="en-US" sz="2400" b="1" dirty="0">
                <a:solidFill>
                  <a:srgbClr val="FF0000"/>
                </a:solidFill>
                <a:latin typeface="+mn-ea"/>
                <a:cs typeface="+mn-ea"/>
                <a:sym typeface="+mn-ea"/>
              </a:rPr>
              <a:t>学生设计的数据库没有按照上述规则设计，出现大量冗余</a:t>
            </a:r>
            <a:r>
              <a:rPr lang="zh-CN" altLang="en-US" sz="2400" b="1" dirty="0">
                <a:solidFill>
                  <a:srgbClr val="FF0000"/>
                </a:solidFill>
                <a:latin typeface="+mn-ea"/>
                <a:cs typeface="+mn-ea"/>
                <a:sym typeface="+mn-ea"/>
              </a:rPr>
              <a:t>数据</a:t>
            </a:r>
            <a:endParaRPr lang="zh-CN" altLang="en-US" sz="2400" b="1" dirty="0">
              <a:solidFill>
                <a:srgbClr val="FF0000"/>
              </a:solidFill>
              <a:latin typeface="+mn-ea"/>
              <a:cs typeface="+mn-ea"/>
              <a:sym typeface="+mn-ea"/>
            </a:endParaRPr>
          </a:p>
          <a:p>
            <a:r>
              <a:rPr lang="zh-CN" altLang="en-US" sz="2400" b="1" dirty="0">
                <a:solidFill>
                  <a:schemeClr val="tx1"/>
                </a:solidFill>
                <a:latin typeface="+mn-ea"/>
                <a:cs typeface="+mn-ea"/>
                <a:sym typeface="+mn-ea"/>
              </a:rPr>
              <a:t>例如：</a:t>
            </a:r>
            <a:r>
              <a:rPr lang="zh-CN" altLang="en-US" sz="2400" b="1" dirty="0">
                <a:solidFill>
                  <a:schemeClr val="tx1"/>
                </a:solidFill>
                <a:latin typeface="+mn-ea"/>
                <a:cs typeface="+mn-ea"/>
                <a:sym typeface="+mn-ea"/>
                <a:hlinkClick r:id="rId1" action="ppaction://hlinkfile"/>
              </a:rPr>
              <a:t>基于SpringBoot的牙医门诊预约系统的设计与实现</a:t>
            </a:r>
            <a:endParaRPr lang="zh-CN" altLang="en-US" sz="2400" b="1" dirty="0">
              <a:solidFill>
                <a:schemeClr val="tx1"/>
              </a:solidFill>
              <a:latin typeface="+mn-ea"/>
              <a:cs typeface="+mn-ea"/>
              <a:sym typeface="+mn-ea"/>
            </a:endParaRPr>
          </a:p>
          <a:p>
            <a:endParaRPr lang="zh-CN" altLang="en-US" sz="2400" b="1" dirty="0">
              <a:solidFill>
                <a:schemeClr val="tx1"/>
              </a:solidFill>
              <a:latin typeface="+mn-ea"/>
              <a:cs typeface="+mn-ea"/>
              <a:sym typeface="+mn-ea"/>
            </a:endParaRPr>
          </a:p>
        </p:txBody>
      </p:sp>
    </p:spTree>
  </p:cSld>
  <p:clrMapOvr>
    <a:masterClrMapping/>
  </p:clrMapOvr>
  <p:transition spd="slow">
    <p:wip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5788660" cy="520700"/>
          </a:xfrm>
          <a:prstGeom prst="rect">
            <a:avLst/>
          </a:prstGeom>
          <a:noFill/>
          <a:ln>
            <a:solidFill>
              <a:srgbClr val="FFFFFF">
                <a:alpha val="45882"/>
              </a:srgbClr>
            </a:solidFill>
          </a:ln>
        </p:spPr>
        <p:txBody>
          <a:bodyPr wrap="square" lIns="91438" tIns="45719" rIns="91438" bIns="45719" rtlCol="0">
            <a:spAutoFit/>
          </a:bodyPr>
          <a:lstStyle/>
          <a:p>
            <a:r>
              <a:rPr lang="zh-CN" altLang="en-US" sz="2800" b="1" dirty="0">
                <a:solidFill>
                  <a:schemeClr val="bg1"/>
                </a:solidFill>
                <a:cs typeface="+mn-ea"/>
                <a:sym typeface="+mn-lt"/>
              </a:rPr>
              <a:t>数据库设计</a:t>
            </a:r>
            <a:r>
              <a:rPr lang="en-US" altLang="zh-CN" sz="2800" b="1" dirty="0">
                <a:solidFill>
                  <a:schemeClr val="bg1"/>
                </a:solidFill>
                <a:cs typeface="+mn-ea"/>
                <a:sym typeface="+mn-lt"/>
              </a:rPr>
              <a:t>-</a:t>
            </a:r>
            <a:r>
              <a:rPr lang="zh-CN" altLang="en-US" sz="2800" b="1" dirty="0">
                <a:solidFill>
                  <a:schemeClr val="bg1"/>
                </a:solidFill>
                <a:cs typeface="+mn-ea"/>
                <a:sym typeface="+mn-lt"/>
              </a:rPr>
              <a:t>逻辑结构</a:t>
            </a:r>
            <a:r>
              <a:rPr lang="en-US" altLang="zh-CN" sz="2800" b="1" dirty="0">
                <a:solidFill>
                  <a:schemeClr val="bg1"/>
                </a:solidFill>
                <a:cs typeface="+mn-ea"/>
                <a:sym typeface="+mn-lt"/>
              </a:rPr>
              <a:t>设计</a:t>
            </a:r>
            <a:endParaRPr lang="en-US" altLang="zh-CN" sz="2800" b="1" dirty="0">
              <a:solidFill>
                <a:schemeClr val="bg1"/>
              </a:solidFill>
              <a:cs typeface="+mn-ea"/>
              <a:sym typeface="+mn-lt"/>
            </a:endParaRPr>
          </a:p>
        </p:txBody>
      </p:sp>
      <p:sp>
        <p:nvSpPr>
          <p:cNvPr id="3" name="文本框 2"/>
          <p:cNvSpPr txBox="1"/>
          <p:nvPr/>
        </p:nvSpPr>
        <p:spPr>
          <a:xfrm>
            <a:off x="251460" y="915035"/>
            <a:ext cx="8335010" cy="645160"/>
          </a:xfrm>
          <a:prstGeom prst="rect">
            <a:avLst/>
          </a:prstGeom>
          <a:noFill/>
          <a:ln w="9525">
            <a:noFill/>
          </a:ln>
        </p:spPr>
        <p:txBody>
          <a:bodyPr wrap="square">
            <a:spAutoFit/>
          </a:bodyPr>
          <a:p>
            <a:pPr indent="304800"/>
            <a:r>
              <a:rPr lang="zh-CN" altLang="en-US" b="0">
                <a:solidFill>
                  <a:srgbClr val="FF0000"/>
                </a:solidFill>
                <a:ea typeface="宋体" panose="02010600030101010101" pitchFamily="2" charset="-122"/>
              </a:rPr>
              <a:t>触发器设计</a:t>
            </a:r>
            <a:endParaRPr lang="zh-CN" altLang="en-US" b="0">
              <a:solidFill>
                <a:srgbClr val="FF0000"/>
              </a:solidFill>
              <a:ea typeface="宋体" panose="02010600030101010101" pitchFamily="2" charset="-122"/>
            </a:endParaRPr>
          </a:p>
          <a:p>
            <a:pPr indent="304800"/>
            <a:r>
              <a:rPr lang="zh-CN" altLang="en-US" b="0">
                <a:solidFill>
                  <a:srgbClr val="FF0000"/>
                </a:solidFill>
                <a:ea typeface="宋体" panose="02010600030101010101" pitchFamily="2" charset="-122"/>
              </a:rPr>
              <a:t>建立视图</a:t>
            </a:r>
            <a:endParaRPr lang="zh-CN" altLang="en-US" b="0">
              <a:solidFill>
                <a:srgbClr val="FF0000"/>
              </a:solidFill>
              <a:ea typeface="宋体" panose="02010600030101010101" pitchFamily="2" charset="-122"/>
            </a:endParaRPr>
          </a:p>
        </p:txBody>
      </p:sp>
    </p:spTree>
  </p:cSld>
  <p:clrMapOvr>
    <a:masterClrMapping/>
  </p:clrMapOvr>
  <p:transition spd="slow">
    <p:wip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5788660" cy="520700"/>
          </a:xfrm>
          <a:prstGeom prst="rect">
            <a:avLst/>
          </a:prstGeom>
          <a:noFill/>
          <a:ln>
            <a:solidFill>
              <a:srgbClr val="FFFFFF">
                <a:alpha val="45882"/>
              </a:srgbClr>
            </a:solidFill>
          </a:ln>
        </p:spPr>
        <p:txBody>
          <a:bodyPr wrap="square" lIns="91438" tIns="45719" rIns="91438" bIns="45719" rtlCol="0">
            <a:spAutoFit/>
          </a:bodyPr>
          <a:lstStyle/>
          <a:p>
            <a:r>
              <a:rPr lang="zh-CN" altLang="en-US" sz="2800" b="1" dirty="0">
                <a:solidFill>
                  <a:schemeClr val="bg1"/>
                </a:solidFill>
                <a:cs typeface="+mn-ea"/>
                <a:sym typeface="+mn-lt"/>
              </a:rPr>
              <a:t>数据库设计</a:t>
            </a:r>
            <a:r>
              <a:rPr lang="en-US" altLang="zh-CN" sz="2800" b="1" dirty="0">
                <a:solidFill>
                  <a:schemeClr val="bg1"/>
                </a:solidFill>
                <a:cs typeface="+mn-ea"/>
                <a:sym typeface="+mn-lt"/>
              </a:rPr>
              <a:t>-</a:t>
            </a:r>
            <a:r>
              <a:rPr lang="zh-CN" altLang="en-US" sz="2800" b="1" dirty="0">
                <a:solidFill>
                  <a:schemeClr val="bg1"/>
                </a:solidFill>
                <a:cs typeface="+mn-ea"/>
                <a:sym typeface="+mn-lt"/>
              </a:rPr>
              <a:t>逻辑结构</a:t>
            </a:r>
            <a:r>
              <a:rPr lang="en-US" altLang="zh-CN" sz="2800" b="1" dirty="0">
                <a:solidFill>
                  <a:schemeClr val="bg1"/>
                </a:solidFill>
                <a:cs typeface="+mn-ea"/>
                <a:sym typeface="+mn-lt"/>
              </a:rPr>
              <a:t>设计</a:t>
            </a:r>
            <a:endParaRPr lang="en-US" altLang="zh-CN" sz="2800" b="1" dirty="0">
              <a:solidFill>
                <a:schemeClr val="bg1"/>
              </a:solidFill>
              <a:cs typeface="+mn-ea"/>
              <a:sym typeface="+mn-lt"/>
            </a:endParaRPr>
          </a:p>
        </p:txBody>
      </p:sp>
      <p:sp>
        <p:nvSpPr>
          <p:cNvPr id="3" name="文本框 2"/>
          <p:cNvSpPr txBox="1"/>
          <p:nvPr/>
        </p:nvSpPr>
        <p:spPr>
          <a:xfrm>
            <a:off x="251460" y="915035"/>
            <a:ext cx="8335010" cy="2584450"/>
          </a:xfrm>
          <a:prstGeom prst="rect">
            <a:avLst/>
          </a:prstGeom>
          <a:noFill/>
          <a:ln w="9525">
            <a:noFill/>
          </a:ln>
        </p:spPr>
        <p:txBody>
          <a:bodyPr wrap="square">
            <a:spAutoFit/>
          </a:bodyPr>
          <a:p>
            <a:pPr indent="304800"/>
            <a:r>
              <a:rPr lang="zh-CN" altLang="en-US" b="0">
                <a:solidFill>
                  <a:srgbClr val="FF0000"/>
                </a:solidFill>
                <a:ea typeface="宋体" panose="02010600030101010101" pitchFamily="2" charset="-122"/>
              </a:rPr>
              <a:t>触发器设计</a:t>
            </a:r>
            <a:endParaRPr lang="zh-CN" altLang="en-US" b="0">
              <a:solidFill>
                <a:srgbClr val="FF0000"/>
              </a:solidFill>
              <a:ea typeface="宋体" panose="02010600030101010101" pitchFamily="2" charset="-122"/>
            </a:endParaRPr>
          </a:p>
          <a:p>
            <a:pPr indent="304800"/>
            <a:r>
              <a:rPr lang="zh-CN" altLang="en-US" b="0">
                <a:ea typeface="宋体" panose="02010600030101010101" pitchFamily="2" charset="-122"/>
              </a:rPr>
              <a:t>部分表之间数据关联如下：</a:t>
            </a:r>
            <a:endParaRPr lang="zh-CN" altLang="en-US" b="0">
              <a:ea typeface="宋体" panose="02010600030101010101" pitchFamily="2" charset="-122"/>
            </a:endParaRPr>
          </a:p>
          <a:p>
            <a:pPr indent="304800"/>
            <a:r>
              <a:rPr lang="zh-CN" altLang="en-US" b="0">
                <a:ea typeface="宋体" panose="02010600030101010101" pitchFamily="2" charset="-122"/>
              </a:rPr>
              <a:t>(1)点赞表(thumb)数据依赖于评论表(answer)</a:t>
            </a:r>
            <a:endParaRPr lang="zh-CN" altLang="en-US" b="0">
              <a:ea typeface="宋体" panose="02010600030101010101" pitchFamily="2" charset="-122"/>
            </a:endParaRPr>
          </a:p>
          <a:p>
            <a:pPr indent="304800"/>
            <a:r>
              <a:rPr lang="zh-CN" altLang="en-US" b="0">
                <a:ea typeface="宋体" panose="02010600030101010101" pitchFamily="2" charset="-122"/>
              </a:rPr>
              <a:t>(2)评论表(answer)数据依赖于话题表(topic)</a:t>
            </a:r>
            <a:endParaRPr lang="zh-CN" altLang="en-US" b="0">
              <a:ea typeface="宋体" panose="02010600030101010101" pitchFamily="2" charset="-122"/>
            </a:endParaRPr>
          </a:p>
          <a:p>
            <a:pPr indent="304800"/>
            <a:r>
              <a:rPr lang="zh-CN" altLang="en-US" b="0">
                <a:ea typeface="宋体" panose="02010600030101010101" pitchFamily="2" charset="-122"/>
              </a:rPr>
              <a:t>(3)评论表(answer)字段thumb_up_count和thumb_down_count值随点赞表(thumb)的变化而变化。</a:t>
            </a:r>
            <a:endParaRPr lang="zh-CN" altLang="en-US" b="0">
              <a:ea typeface="宋体" panose="02010600030101010101" pitchFamily="2" charset="-122"/>
            </a:endParaRPr>
          </a:p>
          <a:p>
            <a:pPr indent="304800"/>
            <a:r>
              <a:rPr lang="zh-CN" altLang="en-US" b="0">
                <a:ea typeface="宋体" panose="02010600030101010101" pitchFamily="2" charset="-122"/>
              </a:rPr>
              <a:t>(4)每当话题表删除时，需要删除评论表，点赞表，收藏表这三表级联相关的值。</a:t>
            </a:r>
            <a:endParaRPr lang="zh-CN" altLang="en-US" b="0">
              <a:ea typeface="宋体" panose="02010600030101010101" pitchFamily="2" charset="-122"/>
            </a:endParaRPr>
          </a:p>
          <a:p>
            <a:pPr indent="304800"/>
            <a:r>
              <a:rPr lang="zh-CN" altLang="en-US" b="0">
                <a:ea typeface="宋体" panose="02010600030101010101" pitchFamily="2" charset="-122"/>
              </a:rPr>
              <a:t>将这部分业务逻辑交由触发器处理，可以简化以上复杂的数据关联操作，减少服务器与数据库的交互查询次数以提升服务器性能。触发器具体实现如下：</a:t>
            </a:r>
            <a:endParaRPr lang="zh-CN" altLang="en-US" b="0">
              <a:ea typeface="宋体" panose="02010600030101010101" pitchFamily="2" charset="-122"/>
            </a:endParaRPr>
          </a:p>
        </p:txBody>
      </p:sp>
    </p:spTree>
  </p:cSld>
  <p:clrMapOvr>
    <a:masterClrMapping/>
  </p:clrMapOvr>
  <p:transition spd="slow">
    <p:wip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5788660" cy="520700"/>
          </a:xfrm>
          <a:prstGeom prst="rect">
            <a:avLst/>
          </a:prstGeom>
          <a:noFill/>
          <a:ln>
            <a:solidFill>
              <a:srgbClr val="FFFFFF">
                <a:alpha val="45882"/>
              </a:srgbClr>
            </a:solidFill>
          </a:ln>
        </p:spPr>
        <p:txBody>
          <a:bodyPr wrap="square" lIns="91438" tIns="45719" rIns="91438" bIns="45719" rtlCol="0">
            <a:spAutoFit/>
          </a:bodyPr>
          <a:lstStyle/>
          <a:p>
            <a:r>
              <a:rPr lang="zh-CN" altLang="en-US" sz="2800" b="1" dirty="0">
                <a:solidFill>
                  <a:schemeClr val="bg1"/>
                </a:solidFill>
                <a:cs typeface="+mn-ea"/>
                <a:sym typeface="+mn-lt"/>
              </a:rPr>
              <a:t>数据库设计</a:t>
            </a:r>
            <a:r>
              <a:rPr lang="en-US" altLang="zh-CN" sz="2800" b="1" dirty="0">
                <a:solidFill>
                  <a:schemeClr val="bg1"/>
                </a:solidFill>
                <a:cs typeface="+mn-ea"/>
                <a:sym typeface="+mn-lt"/>
              </a:rPr>
              <a:t>-</a:t>
            </a:r>
            <a:r>
              <a:rPr lang="zh-CN" altLang="en-US" sz="2800" b="1" dirty="0">
                <a:solidFill>
                  <a:schemeClr val="bg1"/>
                </a:solidFill>
                <a:cs typeface="+mn-ea"/>
                <a:sym typeface="+mn-lt"/>
              </a:rPr>
              <a:t>逻辑结构</a:t>
            </a:r>
            <a:r>
              <a:rPr lang="en-US" altLang="zh-CN" sz="2800" b="1" dirty="0">
                <a:solidFill>
                  <a:schemeClr val="bg1"/>
                </a:solidFill>
                <a:cs typeface="+mn-ea"/>
                <a:sym typeface="+mn-lt"/>
              </a:rPr>
              <a:t>设计</a:t>
            </a:r>
            <a:endParaRPr lang="en-US" altLang="zh-CN" sz="2800" b="1" dirty="0">
              <a:solidFill>
                <a:schemeClr val="bg1"/>
              </a:solidFill>
              <a:cs typeface="+mn-ea"/>
              <a:sym typeface="+mn-lt"/>
            </a:endParaRPr>
          </a:p>
        </p:txBody>
      </p:sp>
      <p:pic>
        <p:nvPicPr>
          <p:cNvPr id="2" name="图片 1"/>
          <p:cNvPicPr>
            <a:picLocks noChangeAspect="1"/>
          </p:cNvPicPr>
          <p:nvPr/>
        </p:nvPicPr>
        <p:blipFill>
          <a:blip r:embed="rId1"/>
          <a:stretch>
            <a:fillRect/>
          </a:stretch>
        </p:blipFill>
        <p:spPr>
          <a:xfrm>
            <a:off x="4284345" y="627380"/>
            <a:ext cx="4324350" cy="4324350"/>
          </a:xfrm>
          <a:prstGeom prst="rect">
            <a:avLst/>
          </a:prstGeom>
        </p:spPr>
      </p:pic>
    </p:spTree>
  </p:cSld>
  <p:clrMapOvr>
    <a:masterClrMapping/>
  </p:clrMapOvr>
  <p:transition spd="slow">
    <p:wip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8564756"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1" name="矩形 30"/>
          <p:cNvSpPr/>
          <p:nvPr/>
        </p:nvSpPr>
        <p:spPr>
          <a:xfrm>
            <a:off x="832900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2" name="矩形 31"/>
          <p:cNvSpPr/>
          <p:nvPr/>
        </p:nvSpPr>
        <p:spPr>
          <a:xfrm>
            <a:off x="8097732"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3" name="矩形 32"/>
          <p:cNvSpPr/>
          <p:nvPr/>
        </p:nvSpPr>
        <p:spPr>
          <a:xfrm>
            <a:off x="7861978"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4" name="矩形 33"/>
          <p:cNvSpPr/>
          <p:nvPr/>
        </p:nvSpPr>
        <p:spPr>
          <a:xfrm>
            <a:off x="7626223" y="258402"/>
            <a:ext cx="183709" cy="1377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5" name="矩形 34"/>
          <p:cNvSpPr/>
          <p:nvPr/>
        </p:nvSpPr>
        <p:spPr>
          <a:xfrm>
            <a:off x="7384122" y="258402"/>
            <a:ext cx="183709" cy="137782"/>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sz="1400">
              <a:solidFill>
                <a:prstClr val="white"/>
              </a:solidFill>
              <a:cs typeface="+mn-ea"/>
              <a:sym typeface="+mn-lt"/>
            </a:endParaRPr>
          </a:p>
        </p:txBody>
      </p:sp>
      <p:sp>
        <p:nvSpPr>
          <p:cNvPr id="36" name="TextBox 35"/>
          <p:cNvSpPr txBox="1"/>
          <p:nvPr/>
        </p:nvSpPr>
        <p:spPr>
          <a:xfrm>
            <a:off x="229235" y="104140"/>
            <a:ext cx="5788660" cy="520700"/>
          </a:xfrm>
          <a:prstGeom prst="rect">
            <a:avLst/>
          </a:prstGeom>
          <a:noFill/>
          <a:ln>
            <a:solidFill>
              <a:srgbClr val="FFFFFF">
                <a:alpha val="45882"/>
              </a:srgbClr>
            </a:solidFill>
          </a:ln>
        </p:spPr>
        <p:txBody>
          <a:bodyPr wrap="square" lIns="91438" tIns="45719" rIns="91438" bIns="45719" rtlCol="0">
            <a:spAutoFit/>
          </a:bodyPr>
          <a:lstStyle/>
          <a:p>
            <a:r>
              <a:rPr lang="zh-CN" altLang="en-US" sz="2800" b="1" dirty="0">
                <a:solidFill>
                  <a:schemeClr val="bg1"/>
                </a:solidFill>
                <a:cs typeface="+mn-ea"/>
                <a:sym typeface="+mn-lt"/>
              </a:rPr>
              <a:t>数据库设计</a:t>
            </a:r>
            <a:r>
              <a:rPr lang="en-US" altLang="zh-CN" sz="2800" b="1" dirty="0">
                <a:solidFill>
                  <a:schemeClr val="bg1"/>
                </a:solidFill>
                <a:cs typeface="+mn-ea"/>
                <a:sym typeface="+mn-lt"/>
              </a:rPr>
              <a:t>-物理结构设计</a:t>
            </a:r>
            <a:endParaRPr lang="en-US" altLang="zh-CN" sz="2800" b="1" dirty="0">
              <a:solidFill>
                <a:schemeClr val="bg1"/>
              </a:solidFill>
              <a:cs typeface="+mn-ea"/>
              <a:sym typeface="+mn-lt"/>
            </a:endParaRPr>
          </a:p>
        </p:txBody>
      </p:sp>
      <p:sp>
        <p:nvSpPr>
          <p:cNvPr id="3" name="文本框 2"/>
          <p:cNvSpPr txBox="1"/>
          <p:nvPr/>
        </p:nvSpPr>
        <p:spPr>
          <a:xfrm>
            <a:off x="251460" y="915035"/>
            <a:ext cx="8335010" cy="2584450"/>
          </a:xfrm>
          <a:prstGeom prst="rect">
            <a:avLst/>
          </a:prstGeom>
          <a:noFill/>
          <a:ln w="9525">
            <a:noFill/>
          </a:ln>
        </p:spPr>
        <p:txBody>
          <a:bodyPr wrap="square">
            <a:spAutoFit/>
          </a:bodyPr>
          <a:p>
            <a:pPr indent="304800"/>
            <a:r>
              <a:rPr lang="zh-CN" b="0">
                <a:ea typeface="宋体" panose="02010600030101010101" pitchFamily="2" charset="-122"/>
              </a:rPr>
              <a:t>数据库的物理结构：数据库在物理设备上的存储结构与存取方法称为数据库的物理结构，它依赖于选定的数据库管理系统。</a:t>
            </a:r>
            <a:endParaRPr lang="zh-CN" b="0">
              <a:ea typeface="宋体" panose="02010600030101010101" pitchFamily="2" charset="-122"/>
            </a:endParaRPr>
          </a:p>
          <a:p>
            <a:pPr indent="304800"/>
            <a:r>
              <a:rPr lang="en-US" altLang="zh-CN" b="0">
                <a:ea typeface="宋体" panose="02010600030101010101" pitchFamily="2" charset="-122"/>
              </a:rPr>
              <a:t>     </a:t>
            </a:r>
            <a:r>
              <a:rPr lang="zh-CN" b="0">
                <a:ea typeface="宋体" panose="02010600030101010101" pitchFamily="2" charset="-122"/>
              </a:rPr>
              <a:t>数据库的物理设计：为一个给定的逻辑数据模型选取一个最适合应用要求的物理结构的过程，就是数据库的物理设计。</a:t>
            </a:r>
            <a:endParaRPr lang="zh-CN" b="0">
              <a:ea typeface="宋体" panose="02010600030101010101" pitchFamily="2" charset="-122"/>
            </a:endParaRPr>
          </a:p>
          <a:p>
            <a:pPr indent="304800"/>
            <a:r>
              <a:rPr lang="en-US" altLang="zh-CN" b="0">
                <a:ea typeface="宋体" panose="02010600030101010101" pitchFamily="2" charset="-122"/>
              </a:rPr>
              <a:t>    </a:t>
            </a:r>
            <a:r>
              <a:rPr lang="zh-CN" b="0">
                <a:ea typeface="宋体" panose="02010600030101010101" pitchFamily="2" charset="-122"/>
              </a:rPr>
              <a:t>数据库物理设计的步骤：</a:t>
            </a:r>
            <a:endParaRPr lang="zh-CN" b="0">
              <a:ea typeface="宋体" panose="02010600030101010101" pitchFamily="2" charset="-122"/>
            </a:endParaRPr>
          </a:p>
          <a:p>
            <a:pPr indent="304800"/>
            <a:r>
              <a:rPr lang="en-US" b="0">
                <a:latin typeface="Calibri" panose="020F0502020204030204" pitchFamily="34" charset="0"/>
                <a:ea typeface="宋体" panose="02010600030101010101" pitchFamily="2" charset="-122"/>
              </a:rPr>
              <a:t>①</a:t>
            </a:r>
            <a:r>
              <a:rPr lang="zh-CN" b="0">
                <a:ea typeface="宋体" panose="02010600030101010101" pitchFamily="2" charset="-122"/>
              </a:rPr>
              <a:t>确定数据库的物理结构，在关系数据库中主要指存取方法和存储结构</a:t>
            </a:r>
            <a:r>
              <a:rPr lang="en-US" b="0">
                <a:latin typeface="Calibri" panose="020F0502020204030204" pitchFamily="34" charset="0"/>
                <a:ea typeface="宋体" panose="02010600030101010101" pitchFamily="2" charset="-122"/>
              </a:rPr>
              <a:t>;</a:t>
            </a:r>
            <a:endParaRPr lang="en-US" b="0">
              <a:latin typeface="Calibri" panose="020F0502020204030204" pitchFamily="34" charset="0"/>
              <a:ea typeface="宋体" panose="02010600030101010101" pitchFamily="2" charset="-122"/>
            </a:endParaRPr>
          </a:p>
          <a:p>
            <a:pPr indent="304800"/>
            <a:r>
              <a:rPr lang="en-US" b="0">
                <a:latin typeface="Calibri" panose="020F0502020204030204" pitchFamily="34" charset="0"/>
                <a:ea typeface="宋体" panose="02010600030101010101" pitchFamily="2" charset="-122"/>
              </a:rPr>
              <a:t>②</a:t>
            </a:r>
            <a:r>
              <a:rPr lang="zh-CN" b="0">
                <a:ea typeface="宋体" panose="02010600030101010101" pitchFamily="2" charset="-122"/>
              </a:rPr>
              <a:t>对物理结构进行评价，评价的重点是时间和空间效率；若评价结果满足原设计要求，则可进入到物理实施阶段。否则，就需要重新设计或修改物理结构，有时甚至要返回逻辑设计阶段修改数据模型。</a:t>
            </a:r>
            <a:endParaRPr lang="zh-CN" altLang="en-US" b="0">
              <a:ea typeface="宋体" panose="02010600030101010101" pitchFamily="2" charset="-122"/>
            </a:endParaRPr>
          </a:p>
        </p:txBody>
      </p:sp>
    </p:spTree>
  </p:cSld>
  <p:clrMapOvr>
    <a:masterClrMapping/>
  </p:clrMapOvr>
  <p:transition spd="slow">
    <p:wip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sp>
        <p:nvSpPr>
          <p:cNvPr id="41" name="TextBox 40"/>
          <p:cNvSpPr txBox="1"/>
          <p:nvPr/>
        </p:nvSpPr>
        <p:spPr>
          <a:xfrm>
            <a:off x="3636305" y="788769"/>
            <a:ext cx="5328184" cy="1921679"/>
          </a:xfrm>
          <a:prstGeom prst="rect">
            <a:avLst/>
          </a:prstGeom>
        </p:spPr>
        <p:txBody>
          <a:bodyPr wrap="square" lIns="68579" tIns="34289" rIns="68579" bIns="34289" anchor="ctr">
            <a:spAutoFit/>
          </a:bodyPr>
          <a:lstStyle>
            <a:defPPr>
              <a:defRPr lang="zh-CN"/>
            </a:defPPr>
            <a:lvl1pPr>
              <a:lnSpc>
                <a:spcPct val="150000"/>
              </a:lnSpc>
              <a:defRPr sz="4000" b="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sz="8000" b="1" dirty="0">
                <a:solidFill>
                  <a:prstClr val="white"/>
                </a:solidFill>
                <a:latin typeface="+mn-lt"/>
                <a:ea typeface="+mn-ea"/>
                <a:cs typeface="+mn-ea"/>
                <a:sym typeface="+mn-lt"/>
              </a:rPr>
              <a:t>THANKS</a:t>
            </a:r>
            <a:endParaRPr lang="zh-CN" altLang="en-US" sz="8000" b="1" dirty="0">
              <a:solidFill>
                <a:prstClr val="white"/>
              </a:solidFill>
              <a:latin typeface="+mn-lt"/>
              <a:ea typeface="+mn-ea"/>
              <a:cs typeface="+mn-ea"/>
              <a:sym typeface="+mn-lt"/>
            </a:endParaRPr>
          </a:p>
        </p:txBody>
      </p:sp>
      <p:sp>
        <p:nvSpPr>
          <p:cNvPr id="20" name="Freeform 5"/>
          <p:cNvSpPr>
            <a:spLocks noEditPoints="1"/>
          </p:cNvSpPr>
          <p:nvPr/>
        </p:nvSpPr>
        <p:spPr bwMode="auto">
          <a:xfrm>
            <a:off x="395537" y="953993"/>
            <a:ext cx="2736304" cy="1591228"/>
          </a:xfrm>
          <a:custGeom>
            <a:avLst/>
            <a:gdLst>
              <a:gd name="T0" fmla="*/ 135 w 139"/>
              <a:gd name="T1" fmla="*/ 61 h 81"/>
              <a:gd name="T2" fmla="*/ 131 w 139"/>
              <a:gd name="T3" fmla="*/ 56 h 81"/>
              <a:gd name="T4" fmla="*/ 131 w 139"/>
              <a:gd name="T5" fmla="*/ 27 h 81"/>
              <a:gd name="T6" fmla="*/ 139 w 139"/>
              <a:gd name="T7" fmla="*/ 24 h 81"/>
              <a:gd name="T8" fmla="*/ 70 w 139"/>
              <a:gd name="T9" fmla="*/ 0 h 81"/>
              <a:gd name="T10" fmla="*/ 0 w 139"/>
              <a:gd name="T11" fmla="*/ 24 h 81"/>
              <a:gd name="T12" fmla="*/ 70 w 139"/>
              <a:gd name="T13" fmla="*/ 48 h 81"/>
              <a:gd name="T14" fmla="*/ 127 w 139"/>
              <a:gd name="T15" fmla="*/ 28 h 81"/>
              <a:gd name="T16" fmla="*/ 127 w 139"/>
              <a:gd name="T17" fmla="*/ 56 h 81"/>
              <a:gd name="T18" fmla="*/ 123 w 139"/>
              <a:gd name="T19" fmla="*/ 61 h 81"/>
              <a:gd name="T20" fmla="*/ 126 w 139"/>
              <a:gd name="T21" fmla="*/ 64 h 81"/>
              <a:gd name="T22" fmla="*/ 123 w 139"/>
              <a:gd name="T23" fmla="*/ 81 h 81"/>
              <a:gd name="T24" fmla="*/ 135 w 139"/>
              <a:gd name="T25" fmla="*/ 81 h 81"/>
              <a:gd name="T26" fmla="*/ 132 w 139"/>
              <a:gd name="T27" fmla="*/ 64 h 81"/>
              <a:gd name="T28" fmla="*/ 135 w 139"/>
              <a:gd name="T29" fmla="*/ 61 h 81"/>
              <a:gd name="T30" fmla="*/ 28 w 139"/>
              <a:gd name="T31" fmla="*/ 42 h 81"/>
              <a:gd name="T32" fmla="*/ 28 w 139"/>
              <a:gd name="T33" fmla="*/ 69 h 81"/>
              <a:gd name="T34" fmla="*/ 70 w 139"/>
              <a:gd name="T35" fmla="*/ 81 h 81"/>
              <a:gd name="T36" fmla="*/ 111 w 139"/>
              <a:gd name="T37" fmla="*/ 69 h 81"/>
              <a:gd name="T38" fmla="*/ 111 w 139"/>
              <a:gd name="T39" fmla="*/ 42 h 81"/>
              <a:gd name="T40" fmla="*/ 70 w 139"/>
              <a:gd name="T41" fmla="*/ 56 h 81"/>
              <a:gd name="T42" fmla="*/ 28 w 139"/>
              <a:gd name="T43" fmla="*/ 42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9" h="81">
                <a:moveTo>
                  <a:pt x="135" y="61"/>
                </a:moveTo>
                <a:cubicBezTo>
                  <a:pt x="135" y="58"/>
                  <a:pt x="134" y="56"/>
                  <a:pt x="131" y="56"/>
                </a:cubicBezTo>
                <a:cubicBezTo>
                  <a:pt x="131" y="27"/>
                  <a:pt x="131" y="27"/>
                  <a:pt x="131" y="27"/>
                </a:cubicBezTo>
                <a:cubicBezTo>
                  <a:pt x="139" y="24"/>
                  <a:pt x="139" y="24"/>
                  <a:pt x="139" y="24"/>
                </a:cubicBezTo>
                <a:cubicBezTo>
                  <a:pt x="70" y="0"/>
                  <a:pt x="70" y="0"/>
                  <a:pt x="70" y="0"/>
                </a:cubicBezTo>
                <a:cubicBezTo>
                  <a:pt x="0" y="24"/>
                  <a:pt x="0" y="24"/>
                  <a:pt x="0" y="24"/>
                </a:cubicBezTo>
                <a:cubicBezTo>
                  <a:pt x="70" y="48"/>
                  <a:pt x="70" y="48"/>
                  <a:pt x="70" y="48"/>
                </a:cubicBezTo>
                <a:cubicBezTo>
                  <a:pt x="127" y="28"/>
                  <a:pt x="127" y="28"/>
                  <a:pt x="127" y="28"/>
                </a:cubicBezTo>
                <a:cubicBezTo>
                  <a:pt x="127" y="56"/>
                  <a:pt x="127" y="56"/>
                  <a:pt x="127" y="56"/>
                </a:cubicBezTo>
                <a:cubicBezTo>
                  <a:pt x="125" y="56"/>
                  <a:pt x="123" y="58"/>
                  <a:pt x="123" y="61"/>
                </a:cubicBezTo>
                <a:cubicBezTo>
                  <a:pt x="123" y="63"/>
                  <a:pt x="125" y="64"/>
                  <a:pt x="126" y="64"/>
                </a:cubicBezTo>
                <a:cubicBezTo>
                  <a:pt x="123" y="81"/>
                  <a:pt x="123" y="81"/>
                  <a:pt x="123" y="81"/>
                </a:cubicBezTo>
                <a:cubicBezTo>
                  <a:pt x="135" y="81"/>
                  <a:pt x="135" y="81"/>
                  <a:pt x="135" y="81"/>
                </a:cubicBezTo>
                <a:cubicBezTo>
                  <a:pt x="132" y="64"/>
                  <a:pt x="132" y="64"/>
                  <a:pt x="132" y="64"/>
                </a:cubicBezTo>
                <a:cubicBezTo>
                  <a:pt x="134" y="64"/>
                  <a:pt x="135" y="63"/>
                  <a:pt x="135" y="61"/>
                </a:cubicBezTo>
                <a:close/>
                <a:moveTo>
                  <a:pt x="28" y="42"/>
                </a:moveTo>
                <a:cubicBezTo>
                  <a:pt x="28" y="69"/>
                  <a:pt x="28" y="69"/>
                  <a:pt x="28" y="69"/>
                </a:cubicBezTo>
                <a:cubicBezTo>
                  <a:pt x="28" y="76"/>
                  <a:pt x="47" y="81"/>
                  <a:pt x="70" y="81"/>
                </a:cubicBezTo>
                <a:cubicBezTo>
                  <a:pt x="92" y="81"/>
                  <a:pt x="111" y="76"/>
                  <a:pt x="111" y="69"/>
                </a:cubicBezTo>
                <a:cubicBezTo>
                  <a:pt x="111" y="42"/>
                  <a:pt x="111" y="42"/>
                  <a:pt x="111" y="42"/>
                </a:cubicBezTo>
                <a:cubicBezTo>
                  <a:pt x="70" y="56"/>
                  <a:pt x="70" y="56"/>
                  <a:pt x="70" y="56"/>
                </a:cubicBezTo>
                <a:lnTo>
                  <a:pt x="28" y="42"/>
                </a:lnTo>
                <a:close/>
              </a:path>
            </a:pathLst>
          </a:custGeom>
          <a:solidFill>
            <a:schemeClr val="bg1"/>
          </a:solidFill>
          <a:ln>
            <a:noFill/>
          </a:ln>
        </p:spPr>
        <p:txBody>
          <a:bodyPr vert="horz" wrap="square" lIns="91438" tIns="45719" rIns="91438" bIns="45719" numCol="1" anchor="t" anchorCtr="0" compatLnSpc="1"/>
          <a:lstStyle/>
          <a:p>
            <a:endParaRPr lang="en-US">
              <a:solidFill>
                <a:prstClr val="black"/>
              </a:solidFill>
              <a:cs typeface="+mn-ea"/>
              <a:sym typeface="+mn-lt"/>
            </a:endParaRPr>
          </a:p>
        </p:txBody>
      </p:sp>
      <p:sp>
        <p:nvSpPr>
          <p:cNvPr id="19" name="矩形 18"/>
          <p:cNvSpPr/>
          <p:nvPr/>
        </p:nvSpPr>
        <p:spPr>
          <a:xfrm>
            <a:off x="179512" y="3219822"/>
            <a:ext cx="8748464" cy="1013460"/>
          </a:xfrm>
          <a:prstGeom prst="rect">
            <a:avLst/>
          </a:prstGeom>
        </p:spPr>
        <p:txBody>
          <a:bodyPr wrap="square" lIns="91438" tIns="45719" rIns="91438" bIns="45719">
            <a:spAutoFit/>
          </a:bodyPr>
          <a:lstStyle/>
          <a:p>
            <a:pPr algn="ctr">
              <a:lnSpc>
                <a:spcPct val="150000"/>
              </a:lnSpc>
            </a:pPr>
            <a:r>
              <a:rPr lang="zh-CN" altLang="en-US" sz="4000" dirty="0">
                <a:solidFill>
                  <a:schemeClr val="bg1"/>
                </a:solidFill>
                <a:cs typeface="+mn-ea"/>
                <a:sym typeface="+mn-lt"/>
              </a:rPr>
              <a:t>不足</a:t>
            </a:r>
            <a:r>
              <a:rPr lang="zh-CN" altLang="en-US" sz="4000" dirty="0">
                <a:solidFill>
                  <a:schemeClr val="bg1"/>
                </a:solidFill>
                <a:cs typeface="+mn-ea"/>
                <a:sym typeface="+mn-lt"/>
              </a:rPr>
              <a:t>之处恳请各位老师批评指正！</a:t>
            </a:r>
            <a:endParaRPr lang="zh-CN" altLang="en-US" sz="4000" dirty="0">
              <a:solidFill>
                <a:schemeClr val="bg1"/>
              </a:solidFill>
              <a:cs typeface="+mn-ea"/>
              <a:sym typeface="+mn-lt"/>
            </a:endParaRPr>
          </a:p>
        </p:txBody>
      </p:sp>
    </p:spTree>
  </p:cSld>
  <p:clrMapOvr>
    <a:masterClrMapping/>
  </p:clrMapOvr>
  <p:transition spd="slow" advClick="0" advTm="0">
    <p:randomBar dir="vert"/>
  </p:transition>
  <p:timing>
    <p:tnLst>
      <p:par>
        <p:cTn id="1" dur="indefinite" restart="never" nodeType="tmRoot"/>
      </p:par>
    </p:tnLst>
  </p:timing>
</p:sld>
</file>

<file path=ppt/tags/tag1.xml><?xml version="1.0" encoding="utf-8"?>
<p:tagLst xmlns:p="http://schemas.openxmlformats.org/presentationml/2006/main">
  <p:tag name="KSO_WM_DIAGRAM_VIRTUALLY_FRAME" val="{&quot;height&quot;:246.15,&quot;left&quot;:260.6,&quot;top&quot;:100.45,&quot;width&quot;:413.85}"/>
</p:tagLst>
</file>

<file path=ppt/tags/tag2.xml><?xml version="1.0" encoding="utf-8"?>
<p:tagLst xmlns:p="http://schemas.openxmlformats.org/presentationml/2006/main">
  <p:tag name="KSO_WM_DIAGRAM_VIRTUALLY_FRAME" val="{&quot;height&quot;:246.15,&quot;left&quot;:260.6,&quot;top&quot;:100.45,&quot;width&quot;:413.85}"/>
</p:tagLst>
</file>

<file path=ppt/tags/tag3.xml><?xml version="1.0" encoding="utf-8"?>
<p:tagLst xmlns:p="http://schemas.openxmlformats.org/presentationml/2006/main">
  <p:tag name="KSO_WM_DIAGRAM_VIRTUALLY_FRAME" val="{&quot;height&quot;:246.15,&quot;left&quot;:260.6,&quot;top&quot;:100.45,&quot;width&quot;:413.85}"/>
</p:tagLst>
</file>

<file path=ppt/tags/tag4.xml><?xml version="1.0" encoding="utf-8"?>
<p:tagLst xmlns:p="http://schemas.openxmlformats.org/presentationml/2006/main">
  <p:tag name="KSO_WM_DIAGRAM_VIRTUALLY_FRAME" val="{&quot;height&quot;:246.15,&quot;left&quot;:260.6,&quot;top&quot;:100.45,&quot;width&quot;:413.85}"/>
</p:tagLst>
</file>

<file path=ppt/tags/tag5.xml><?xml version="1.0" encoding="utf-8"?>
<p:tagLst xmlns:p="http://schemas.openxmlformats.org/presentationml/2006/main">
  <p:tag name="KSO_WM_DIAGRAM_VIRTUALLY_FRAME" val="{&quot;height&quot;:246.15,&quot;left&quot;:260.6,&quot;top&quot;:100.45,&quot;width&quot;:413.85}"/>
</p:tagLst>
</file>

<file path=ppt/tags/tag6.xml><?xml version="1.0" encoding="utf-8"?>
<p:tagLst xmlns:p="http://schemas.openxmlformats.org/presentationml/2006/main">
  <p:tag name="KSO_WM_DIAGRAM_VIRTUALLY_FRAME" val="{&quot;height&quot;:246.15,&quot;left&quot;:260.6,&quot;top&quot;:100.45,&quot;width&quot;:413.85}"/>
</p:tagLst>
</file>

<file path=ppt/tags/tag7.xml><?xml version="1.0" encoding="utf-8"?>
<p:tagLst xmlns:p="http://schemas.openxmlformats.org/presentationml/2006/main">
  <p:tag name="KSO_WM_DIAGRAM_VIRTUALLY_FRAME" val="{&quot;height&quot;:246.15,&quot;left&quot;:260.6,&quot;top&quot;:100.45,&quot;width&quot;:413.85}"/>
</p:tagLst>
</file>

<file path=ppt/tags/tag8.xml><?xml version="1.0" encoding="utf-8"?>
<p:tagLst xmlns:p="http://schemas.openxmlformats.org/presentationml/2006/main">
  <p:tag name="KSO_WM_DIAGRAM_VIRTUALLY_FRAME" val="{&quot;height&quot;:246.15,&quot;left&quot;:260.6,&quot;top&quot;:100.45,&quot;width&quot;:413.85}"/>
</p:tagLst>
</file>

<file path=ppt/tags/tag9.xml><?xml version="1.0" encoding="utf-8"?>
<p:tagLst xmlns:p="http://schemas.openxmlformats.org/presentationml/2006/main">
  <p:tag name="KSO_WM_DIAGRAM_VIRTUALLY_FRAME" val="{&quot;height&quot;:246.15,&quot;left&quot;:260.6,&quot;top&quot;:100.45,&quot;width&quot;:413.85}"/>
</p:tagLst>
</file>

<file path=ppt/tags/tag10.xml><?xml version="1.0" encoding="utf-8"?>
<p:tagLst xmlns:p="http://schemas.openxmlformats.org/presentationml/2006/main">
  <p:tag name="KSO_WM_DIAGRAM_VIRTUALLY_FRAME" val="{&quot;height&quot;:246.15,&quot;left&quot;:260.6,&quot;top&quot;:100.45,&quot;width&quot;:413.85}"/>
</p:tagLst>
</file>

<file path=ppt/tags/tag11.xml><?xml version="1.0" encoding="utf-8"?>
<p:tagLst xmlns:p="http://schemas.openxmlformats.org/presentationml/2006/main">
  <p:tag name="KSO_WM_DIAGRAM_VIRTUALLY_FRAME" val="{&quot;height&quot;:246.15,&quot;left&quot;:260.6,&quot;top&quot;:100.45,&quot;width&quot;:413.85}"/>
</p:tagLst>
</file>

<file path=ppt/tags/tag12.xml><?xml version="1.0" encoding="utf-8"?>
<p:tagLst xmlns:p="http://schemas.openxmlformats.org/presentationml/2006/main">
  <p:tag name="KSO_WM_DIAGRAM_VIRTUALLY_FRAME" val="{&quot;height&quot;:246.15,&quot;left&quot;:260.6,&quot;top&quot;:100.45,&quot;width&quot;:413.85}"/>
</p:tagLst>
</file>

<file path=ppt/tags/tag13.xml><?xml version="1.0" encoding="utf-8"?>
<p:tagLst xmlns:p="http://schemas.openxmlformats.org/presentationml/2006/main">
  <p:tag name="TABLE_ENDDRAG_ORIGIN_RECT" val="609*194"/>
  <p:tag name="TABLE_ENDDRAG_RECT" val="65*173*609*194"/>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ISPRING_RESOURCE_PATHS_HASH_PRESENTER" val="dd9d2b831a866285bbed261366593b5abc2f77"/>
  <p:tag name="ISPRING_PRESENTATION_TITLE" val="falsh"/>
  <p:tag name="COMMONDATA" val="eyJoZGlkIjoiYjE0ZjhhZjJlZDI4YTk3OWVjYWMyZjVmZmEzNjUzMzkifQ=="/>
  <p:tag name="commondata" val="eyJoZGlkIjoiMTAxODAxMTE3NTI5YTkyMTEyYmEyNjNiMjM5NzJlNW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7FDE"/>
        </a:solidFill>
        <a:ln>
          <a:noFill/>
        </a:ln>
      </a:spPr>
      <a:bodyPr rtlCol="0" anchor="ctr"/>
      <a:lstStyle>
        <a:defPPr algn="ctr">
          <a:defRPr>
            <a:solidFill>
              <a:prstClr val="white"/>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0_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Browallia New"/>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5549</Words>
  <Application>WPS 演示</Application>
  <PresentationFormat>全屏显示(16:9)</PresentationFormat>
  <Paragraphs>419</Paragraphs>
  <Slides>49</Slides>
  <Notes>26</Notes>
  <HiddenSlides>0</HiddenSlides>
  <MMClips>0</MMClips>
  <ScaleCrop>false</ScaleCrop>
  <HeadingPairs>
    <vt:vector size="8" baseType="variant">
      <vt:variant>
        <vt:lpstr>已用的字体</vt:lpstr>
      </vt:variant>
      <vt:variant>
        <vt:i4>13</vt:i4>
      </vt:variant>
      <vt:variant>
        <vt:lpstr>主题</vt:lpstr>
      </vt:variant>
      <vt:variant>
        <vt:i4>2</vt:i4>
      </vt:variant>
      <vt:variant>
        <vt:lpstr>嵌入 OLE 服务器</vt:lpstr>
      </vt:variant>
      <vt:variant>
        <vt:i4>1</vt:i4>
      </vt:variant>
      <vt:variant>
        <vt:lpstr>幻灯片标题</vt:lpstr>
      </vt:variant>
      <vt:variant>
        <vt:i4>49</vt:i4>
      </vt:variant>
    </vt:vector>
  </HeadingPairs>
  <TitlesOfParts>
    <vt:vector size="65" baseType="lpstr">
      <vt:lpstr>Arial</vt:lpstr>
      <vt:lpstr>宋体</vt:lpstr>
      <vt:lpstr>Wingdings</vt:lpstr>
      <vt:lpstr>微软雅黑</vt:lpstr>
      <vt:lpstr>方正兰亭粗黑_GBK</vt:lpstr>
      <vt:lpstr>Arial Unicode MS</vt:lpstr>
      <vt:lpstr>Browallia New</vt:lpstr>
      <vt:lpstr>Calibri</vt:lpstr>
      <vt:lpstr>Arial Unicode MS</vt:lpstr>
      <vt:lpstr>+中文正文</vt:lpstr>
      <vt:lpstr>语文格子</vt:lpstr>
      <vt:lpstr>黑体</vt:lpstr>
      <vt:lpstr>Microsoft Sans Serif</vt:lpstr>
      <vt:lpstr>Office 主题​​</vt:lpstr>
      <vt:lpstr>50_Office 主题</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falsh</dc:title>
  <dc:creator>my</dc:creator>
  <cp:lastModifiedBy>力王</cp:lastModifiedBy>
  <cp:revision>169</cp:revision>
  <dcterms:created xsi:type="dcterms:W3CDTF">2015-06-02T10:31:00Z</dcterms:created>
  <dcterms:modified xsi:type="dcterms:W3CDTF">2026-05-07T01:34:46Z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3A0A5DD9E3A944A19F8E1BBC2D54434D</vt:lpwstr>
  </property>
  <property fmtid="{D5CDD505-2E9C-101B-9397-08002B2CF9AE}" pid="3" name="KSOProductBuildVer">
    <vt:lpwstr>2052-12.1.0.25225</vt:lpwstr>
  </property>
</Properties>
</file>